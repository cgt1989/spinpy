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7a1f8ea-65dc-15de-8a7b-459a16700fa1}">
          <p14:sldIdLst>
            <p14:sldId id="256"/>
          </p14:sldIdLst>
        </p14:section>
        <p14:section name="Experimento y método" id="{499b2d92-e6a1-56a2-d05e-f5903b899861}">
          <p14:sldIdLst>
            <p14:sldId id="257"/>
            <p14:sldId id="258"/>
            <p14:sldId id="259"/>
          </p14:sldIdLst>
        </p14:section>
        <p14:section name="Chequeo con el cubo macizo" id="{b7f32af3-7238-a01a-5e7f-5801f03d909c}">
          <p14:sldIdLst>
            <p14:sldId id="260"/>
            <p14:sldId id="261"/>
          </p14:sldIdLst>
        </p14:section>
        <p14:section name="Resultados" id="{e62a197e-5b54-db1f-1938-5d3ace4413b6}">
          <p14:sldIdLst>
            <p14:sldId id="262"/>
            <p14:sldId id="263"/>
            <p14:sldId id="264"/>
            <p14:sldId id="265"/>
            <p14:sldId id="266"/>
            <p14:sldId id="267"/>
          </p14:sldIdLst>
        </p14:section>
        <p14:section name="Cierre" id="{143eff25-00e4-b66d-2395-50d9109e334b}">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A33"/>
                </a:solidFill>
                <a:latin typeface="+mn-lt"/>
              </a:defRPr>
            </a:pPr>
            <a:r>
              <a:rPr sz="1600" b="0" i="0" u="none" strike="noStrike">
                <a:solidFill>
                  <a:srgbClr val="1B2A33"/>
                </a:solidFill>
                <a:latin typeface="+mn-lt"/>
              </a:rPr>
              <a:t>Módulo aparente E_app [MPa]</a:t>
            </a:r>
          </a:p>
        </c:rich>
      </c:tx>
      <c:layout/>
      <c:overlay val="0"/>
    </c:title>
    <c:autoTitleDeleted val="0"/>
    <c:plotArea>
      <c:layout/>
      <c:barChart>
        <c:barDir val="col"/>
        <c:grouping val="clustered"/>
        <c:varyColors val="0"/>
        <c:ser>
          <c:idx val="0"/>
          <c:order val="0"/>
          <c:tx>
            <c:strRef>
              <c:f>Sheet1!$B$1</c:f>
              <c:strCache>
                <c:ptCount val="1"/>
                <c:pt idx="0">
                  <c:v>VOI</c:v>
                </c:pt>
              </c:strCache>
            </c:strRef>
          </c:tx>
          <c:spPr>
            <a:solidFill>
              <a:srgbClr val="2B2F36"/>
            </a:solidFill>
            <a:effectLst/>
          </c:spPr>
          <c:invertIfNegative val="0"/>
          <c:dLbls>
            <c:numFmt formatCode="0" sourceLinked="0"/>
            <c:txPr>
              <a:bodyPr/>
              <a:lstStyle/>
              <a:p>
                <a:pPr>
                  <a:defRPr b="0" i="0" strike="noStrike" sz="10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C1</c:v>
                  </c:pt>
                  <c:pt idx="1">
                    <c:v>C2</c:v>
                  </c:pt>
                  <c:pt idx="2">
                    <c:v>C3</c:v>
                  </c:pt>
                  <c:pt idx="3">
                    <c:v>C4</c:v>
                  </c:pt>
                  <c:pt idx="4">
                    <c:v>C5</c:v>
                  </c:pt>
                </c:lvl>
              </c:multiLvlStrCache>
            </c:multiLvlStrRef>
          </c:cat>
          <c:val>
            <c:numRef>
              <c:f>Sheet1!$B$2:$B$6</c:f>
              <c:numCache>
                <c:formatCode>General</c:formatCode>
                <c:ptCount val="5"/>
                <c:pt idx="0">
                  <c:v>3240.4</c:v>
                </c:pt>
                <c:pt idx="1">
                  <c:v>3219.6</c:v>
                </c:pt>
                <c:pt idx="2">
                  <c:v>2433.5</c:v>
                </c:pt>
                <c:pt idx="3">
                  <c:v>3017.6</c:v>
                </c:pt>
                <c:pt idx="4">
                  <c:v>3514.8</c:v>
                </c:pt>
              </c:numCache>
            </c:numRef>
          </c:val>
        </c:ser>
        <c:ser>
          <c:idx val="1"/>
          <c:order val="1"/>
          <c:tx>
            <c:strRef>
              <c:f>Sheet1!$C$1</c:f>
              <c:strCache>
                <c:ptCount val="1"/>
                <c:pt idx="0">
                  <c:v>Spinodoide</c:v>
                </c:pt>
              </c:strCache>
            </c:strRef>
          </c:tx>
          <c:spPr>
            <a:solidFill>
              <a:srgbClr val="C8553D"/>
            </a:solidFill>
            <a:effectLst/>
          </c:spPr>
          <c:invertIfNegative val="0"/>
          <c:dLbls>
            <c:numFmt formatCode="0" sourceLinked="0"/>
            <c:txPr>
              <a:bodyPr/>
              <a:lstStyle/>
              <a:p>
                <a:pPr>
                  <a:defRPr b="0" i="0" strike="noStrike" sz="10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C1</c:v>
                  </c:pt>
                  <c:pt idx="1">
                    <c:v>C2</c:v>
                  </c:pt>
                  <c:pt idx="2">
                    <c:v>C3</c:v>
                  </c:pt>
                  <c:pt idx="3">
                    <c:v>C4</c:v>
                  </c:pt>
                  <c:pt idx="4">
                    <c:v>C5</c:v>
                  </c:pt>
                </c:lvl>
              </c:multiLvlStrCache>
            </c:multiLvlStrRef>
          </c:cat>
          <c:val>
            <c:numRef>
              <c:f>Sheet1!$C$2:$C$6</c:f>
              <c:numCache>
                <c:formatCode>General</c:formatCode>
                <c:ptCount val="5"/>
                <c:pt idx="0">
                  <c:v>1152.5</c:v>
                </c:pt>
                <c:pt idx="1">
                  <c:v>1361.4</c:v>
                </c:pt>
                <c:pt idx="2">
                  <c:v>439.2</c:v>
                </c:pt>
                <c:pt idx="3">
                  <c:v>857.6</c:v>
                </c:pt>
                <c:pt idx="4">
                  <c:v>1480.5</c:v>
                </c:pt>
              </c:numCache>
            </c:numRef>
          </c:val>
        </c:ser>
        <c:ser>
          <c:idx val="2"/>
          <c:order val="2"/>
          <c:tx>
            <c:strRef>
              <c:f>Sheet1!$D$1</c:f>
              <c:strCache>
                <c:ptCount val="1"/>
                <c:pt idx="0">
                  <c:v>Dual-lattice</c:v>
                </c:pt>
              </c:strCache>
            </c:strRef>
          </c:tx>
          <c:spPr>
            <a:solidFill>
              <a:srgbClr val="2E7D7A"/>
            </a:solidFill>
            <a:effectLst/>
          </c:spPr>
          <c:invertIfNegative val="0"/>
          <c:dLbls>
            <c:numFmt formatCode="0" sourceLinked="0"/>
            <c:txPr>
              <a:bodyPr/>
              <a:lstStyle/>
              <a:p>
                <a:pPr>
                  <a:defRPr b="0" i="0" strike="noStrike" sz="10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C1</c:v>
                  </c:pt>
                  <c:pt idx="1">
                    <c:v>C2</c:v>
                  </c:pt>
                  <c:pt idx="2">
                    <c:v>C3</c:v>
                  </c:pt>
                  <c:pt idx="3">
                    <c:v>C4</c:v>
                  </c:pt>
                  <c:pt idx="4">
                    <c:v>C5</c:v>
                  </c:pt>
                </c:lvl>
              </c:multiLvlStrCache>
            </c:multiLvlStrRef>
          </c:cat>
          <c:val>
            <c:numRef>
              <c:f>Sheet1!$D$2:$D$6</c:f>
              <c:numCache>
                <c:formatCode>General</c:formatCode>
                <c:ptCount val="5"/>
                <c:pt idx="0">
                  <c:v>2435.4</c:v>
                </c:pt>
                <c:pt idx="1">
                  <c:v>2571</c:v>
                </c:pt>
                <c:pt idx="2">
                  <c:v>1669.6</c:v>
                </c:pt>
                <c:pt idx="3">
                  <c:v>2392.6</c:v>
                </c:pt>
                <c:pt idx="4">
                  <c:v>2643.7</c:v>
                </c:pt>
              </c:numCache>
            </c:numRef>
          </c:val>
        </c:ser>
        <c:dLbls>
          <c:numFmt formatCode="0" sourceLinked="0"/>
          <c:txPr>
            <a:bodyPr/>
            <a:lstStyle/>
            <a:p>
              <a:pPr>
                <a:defRPr b="0" i="0" strike="noStrike" sz="10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2A33"/>
                </a:solidFill>
                <a:latin typeface="+mn-lt"/>
              </a:defRPr>
            </a:pPr>
            <a:r>
              <a:rPr sz="1600" b="0" i="0" u="none" strike="noStrike">
                <a:solidFill>
                  <a:srgbClr val="1B2A33"/>
                </a:solidFill>
                <a:latin typeface="+mn-lt"/>
              </a:rPr>
              <a:t>Von Mises, percentil 99 [MPa]</a:t>
            </a:r>
          </a:p>
        </c:rich>
      </c:tx>
      <c:layout/>
      <c:overlay val="0"/>
    </c:title>
    <c:autoTitleDeleted val="0"/>
    <c:plotArea>
      <c:layout/>
      <c:barChart>
        <c:barDir val="col"/>
        <c:grouping val="clustered"/>
        <c:varyColors val="0"/>
        <c:ser>
          <c:idx val="0"/>
          <c:order val="0"/>
          <c:tx>
            <c:strRef>
              <c:f>Sheet1!$B$1</c:f>
              <c:strCache>
                <c:ptCount val="1"/>
                <c:pt idx="0">
                  <c:v>VOI</c:v>
                </c:pt>
              </c:strCache>
            </c:strRef>
          </c:tx>
          <c:spPr>
            <a:solidFill>
              <a:srgbClr val="2B2F36"/>
            </a:solidFill>
            <a:effectLst/>
          </c:spPr>
          <c:invertIfNegative val="0"/>
          <c:dLbls>
            <c:numFmt formatCode="0" sourceLinked="0"/>
            <c:txPr>
              <a:bodyPr/>
              <a:lstStyle/>
              <a:p>
                <a:pPr>
                  <a:defRPr b="0" i="0" strike="noStrike" sz="10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C1</c:v>
                  </c:pt>
                  <c:pt idx="1">
                    <c:v>C2</c:v>
                  </c:pt>
                  <c:pt idx="2">
                    <c:v>C3</c:v>
                  </c:pt>
                  <c:pt idx="3">
                    <c:v>C4</c:v>
                  </c:pt>
                  <c:pt idx="4">
                    <c:v>C5</c:v>
                  </c:pt>
                </c:lvl>
              </c:multiLvlStrCache>
            </c:multiLvlStrRef>
          </c:cat>
          <c:val>
            <c:numRef>
              <c:f>Sheet1!$B$2:$B$6</c:f>
              <c:numCache>
                <c:formatCode>General</c:formatCode>
                <c:ptCount val="5"/>
                <c:pt idx="0">
                  <c:v>88.1</c:v>
                </c:pt>
                <c:pt idx="1">
                  <c:v>91.2</c:v>
                </c:pt>
                <c:pt idx="2">
                  <c:v>114</c:v>
                </c:pt>
                <c:pt idx="3">
                  <c:v>94.6</c:v>
                </c:pt>
                <c:pt idx="4">
                  <c:v>82.5</c:v>
                </c:pt>
              </c:numCache>
            </c:numRef>
          </c:val>
        </c:ser>
        <c:ser>
          <c:idx val="1"/>
          <c:order val="1"/>
          <c:tx>
            <c:strRef>
              <c:f>Sheet1!$C$1</c:f>
              <c:strCache>
                <c:ptCount val="1"/>
                <c:pt idx="0">
                  <c:v>Spinodoide</c:v>
                </c:pt>
              </c:strCache>
            </c:strRef>
          </c:tx>
          <c:spPr>
            <a:solidFill>
              <a:srgbClr val="C8553D"/>
            </a:solidFill>
            <a:effectLst/>
          </c:spPr>
          <c:invertIfNegative val="0"/>
          <c:dLbls>
            <c:numFmt formatCode="0" sourceLinked="0"/>
            <c:txPr>
              <a:bodyPr/>
              <a:lstStyle/>
              <a:p>
                <a:pPr>
                  <a:defRPr b="0" i="0" strike="noStrike" sz="10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C1</c:v>
                  </c:pt>
                  <c:pt idx="1">
                    <c:v>C2</c:v>
                  </c:pt>
                  <c:pt idx="2">
                    <c:v>C3</c:v>
                  </c:pt>
                  <c:pt idx="3">
                    <c:v>C4</c:v>
                  </c:pt>
                  <c:pt idx="4">
                    <c:v>C5</c:v>
                  </c:pt>
                </c:lvl>
              </c:multiLvlStrCache>
            </c:multiLvlStrRef>
          </c:cat>
          <c:val>
            <c:numRef>
              <c:f>Sheet1!$C$2:$C$6</c:f>
              <c:numCache>
                <c:formatCode>General</c:formatCode>
                <c:ptCount val="5"/>
                <c:pt idx="0">
                  <c:v>186.5</c:v>
                </c:pt>
                <c:pt idx="1">
                  <c:v>162.6</c:v>
                </c:pt>
                <c:pt idx="2">
                  <c:v>357.5</c:v>
                </c:pt>
                <c:pt idx="3">
                  <c:v>231.9</c:v>
                </c:pt>
                <c:pt idx="4">
                  <c:v>179</c:v>
                </c:pt>
              </c:numCache>
            </c:numRef>
          </c:val>
        </c:ser>
        <c:ser>
          <c:idx val="2"/>
          <c:order val="2"/>
          <c:tx>
            <c:strRef>
              <c:f>Sheet1!$D$1</c:f>
              <c:strCache>
                <c:ptCount val="1"/>
                <c:pt idx="0">
                  <c:v>Dual-lattice</c:v>
                </c:pt>
              </c:strCache>
            </c:strRef>
          </c:tx>
          <c:spPr>
            <a:solidFill>
              <a:srgbClr val="2E7D7A"/>
            </a:solidFill>
            <a:effectLst/>
          </c:spPr>
          <c:invertIfNegative val="0"/>
          <c:dLbls>
            <c:numFmt formatCode="0" sourceLinked="0"/>
            <c:txPr>
              <a:bodyPr/>
              <a:lstStyle/>
              <a:p>
                <a:pPr>
                  <a:defRPr b="0" i="0" strike="noStrike" sz="1000" u="none">
                    <a:solidFill>
                      <a:srgbClr val="1B2A33"/>
                    </a:solidFill>
                    <a:latin typeface="+mn-lt"/>
                  </a:defRPr>
                </a:pPr>
              </a:p>
            </c:txPr>
            <c:showLegendKey val="0"/>
            <c:showVal val="1"/>
            <c:showCatName val="0"/>
            <c:showSerName val="0"/>
            <c:showPercent val="0"/>
            <c:showBubbleSize val="0"/>
            <c:showLeaderLines val="0"/>
          </c:dLbls>
          <c:cat>
            <c:multiLvlStrRef>
              <c:f>Sheet1!$A$2:$A$6</c:f>
              <c:multiLvlStrCache>
                <c:ptCount val="5"/>
                <c:lvl>
                  <c:pt idx="0">
                    <c:v>C1</c:v>
                  </c:pt>
                  <c:pt idx="1">
                    <c:v>C2</c:v>
                  </c:pt>
                  <c:pt idx="2">
                    <c:v>C3</c:v>
                  </c:pt>
                  <c:pt idx="3">
                    <c:v>C4</c:v>
                  </c:pt>
                  <c:pt idx="4">
                    <c:v>C5</c:v>
                  </c:pt>
                </c:lvl>
              </c:multiLvlStrCache>
            </c:multiLvlStrRef>
          </c:cat>
          <c:val>
            <c:numRef>
              <c:f>Sheet1!$D$2:$D$6</c:f>
              <c:numCache>
                <c:formatCode>General</c:formatCode>
                <c:ptCount val="5"/>
                <c:pt idx="0">
                  <c:v>122.1</c:v>
                </c:pt>
                <c:pt idx="1">
                  <c:v>109.1</c:v>
                </c:pt>
                <c:pt idx="2">
                  <c:v>151.1</c:v>
                </c:pt>
                <c:pt idx="3">
                  <c:v>117.3</c:v>
                </c:pt>
                <c:pt idx="4">
                  <c:v>105.5</c:v>
                </c:pt>
              </c:numCache>
            </c:numRef>
          </c:val>
        </c:ser>
        <c:dLbls>
          <c:numFmt formatCode="0" sourceLinked="0"/>
          <c:txPr>
            <a:bodyPr/>
            <a:lstStyle/>
            <a:p>
              <a:pPr>
                <a:defRPr b="0" i="0" strike="noStrike" sz="10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6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breve del protocolo de ensayo de Tapia et al. (2026) aplicado a cinco VOIs porcinos y a sus candidatos espinodal y dual-lattice. Se muestran la deformación total y la tensión de von Mises. Antes de los resultados se verifica la formulación con un cubo macizo.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VOIs son del conjunto público de Koria, Mengoni y Brockett (2020). Cada candidato se ajusta a su VOI con la función objetivo morfométrica de spinpy. La malla es de hexaedros a 40 elementos por lado, la resolución por omisión de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campo de von Mises y el de deformación total no se reescalan entre sí: la deformación total acumula lo que se movió la probeta, y su máximo se ubica en la capa superior en la mayoría de los casos; von Mises localiza los nudos trabeculares. La rigidez aparente no usa el máximo de |u|, sino el desplazamiento medio de la cima ponderado por área. En un estado uniaxial von Mises vale exactamente la tensión axial.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Revisión de la formulación en el código: en el protocolo de Tapia la base queda con los tres ejes fijos. La cara superior no es un plato rígido: recibe una presión uniforme sobre las caras óseas (fuerza igual por cara de elemento) y sus ejes x e y quedan libres, igual que las caras laterales. El VOI de 188 elementos por lado se lleva a 40 por vecino más próximo y los candidatos sintéticos de 96 a 40. El apoyo deslizante fija solo uz en la base más los anclajes mínimos contra el movimiento de sólido rígido.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Cubo macizo de 3,008 mm con 100 N, E de 18 GPa, malla de 40 elementos por lado y NGSolve con solver directo. Con apoyo deslizante la solución es uniaxial y exacta. Con base empotrada no hay solución cerrada simple: se reportan la rigidización, el máximo de von Mises y la reducción de la expansión lateral. El máximo de von Mises de la base crece al refinar la malla (1,27 σ a 16 elementos por lado, 1,76 σ a 40), por eso no se cita.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chequeo recorre cada análisis mecánico de la app con un cubo macizo, que tiene solución exacta: compresión lineal, plato rígido, módulo corregido del núcleo, no lineal de Saint Venant-Kirchhoff frente a su solución cerrada, criterio de Pistoia, homogeneización periódica, compresión en los tres ejes y convergencia con la malla. Los motores usados fueron la app, NGSolve y scikit-fem, en hexaedros y TET10. Guion: sanidad_cubo.py.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ajustes usan el modo completo, la resolución de comparación por omisión (96 elementos por lado, luego llevada a 40 para el ensayo), semilla 20260720, sin término mecánico ni réplicas. Los de C2 y C4 reproducen los de la campaña anterior. El error es la función objetivo morfométrica de spinpy.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Deformación total |u| en milímetros, mapa 3D de cada una de las 15 estructuras con la misma escala por VOI. La rigidez aparente se toma del desplazamiento medio del techo ponderado por área. Las cifras salen de NGSolve con solver directo; la app coincide a 3,4 × 10⁻¹² en E_app.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Tensión de von Mises en MPa. El máximo de un campo de von Mises no converge con la malla (con el cubo macizo crece al refinar), por eso las tablas citan el percentil 99. Las zonas amarillas son nudos y puntales finos del spinodoide.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base empotrada, 100 N y E de 18 GPa. E_app se calcula con el desplazamiento medio del techo ponderado por área. El p99 de von Mises es sobre los elementos del sólido. C2 y C4 reproducen los valores de la campaña anterior de la comparativa de motores.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NGSolve con solver directo, misma carga y misma condición de apoyo, remuestreando cada estructura a distintas mallas. Las razones entre estructuras dependen de la resolución; la que se cita a 40 elementos por lado es una primera aproximación, no un valor convergido. El p99 de von Mises del spinodoide sube con la malla porque los puntales finos quedan mejor resueltos.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Sensibilidad a 40 elementos por lado. Tres esquemas de carga en la cima: presión uniforme sobre las caras óseas (usada en todo el documento), plato rígido (uz uniforme en la cima) y plato rígido con el módulo del núcleo corregido. Las razones respecto del VOI varían, lo que muestra que la magnitud de las diferencias entre estructuras no es independiente del protocolo.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son comparaciones relativas entre estructuras bajo una misma condición de carga, no predicciones de resistencia de un espécimen. El caso C3 spinodoide es el más blando y es el que más se aparta de la linealidad.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Próximos pasos: obtener los datos mecánicos del conjunto de Koria et al. si están publicados, o ensayar piezas propias, y repetir el contraste con spinpy-validar-exp con criterios declarados antes de mirar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de NGSolve con solver directo a 40³. El von Mises máximo se da a título informativo: no converge con la malla y no debe citarse.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3A4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600" b="1" dirty="0">
                <a:solidFill>
                  <a:srgbClr val="1F3A44"/>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5B6573"/>
                </a:solidFill>
                <a:latin typeface="Calibri" pitchFamily="34" charset="0"/>
                <a:ea typeface="Calibri" pitchFamily="34" charset="-122"/>
                <a:cs typeface="Calibri" pitchFamily="34" charset="-120"/>
              </a:rPr>
              <a:t>spinpy V2.2.0 · protocolo de Tapia con C1 a C5</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1F3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68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828800"/>
            <a:ext cx="1069848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Protocolo de Tapia con C1 a C5</a:t>
            </a:r>
            <a:endParaRPr lang="en-US" sz="4800" dirty="0"/>
          </a:p>
        </p:txBody>
      </p:sp>
      <p:sp>
        <p:nvSpPr>
          <p:cNvPr id="3" name="Text 1"/>
          <p:cNvSpPr txBox="1"/>
          <p:nvPr/>
        </p:nvSpPr>
        <p:spPr>
          <a:xfrm>
            <a:off x="731520" y="3063240"/>
            <a:ext cx="9601200" cy="1005840"/>
          </a:xfrm>
          <a:prstGeom prst="rect">
            <a:avLst/>
          </a:prstGeom>
          <a:noFill/>
          <a:ln/>
        </p:spPr>
        <p:txBody>
          <a:bodyPr wrap="square" lIns="0" tIns="0" rIns="0" bIns="0" rtlCol="0" anchor="t"/>
          <a:lstStyle/>
          <a:p>
            <a:pPr indent="0" marL="0">
              <a:buNone/>
            </a:pPr>
            <a:r>
              <a:rPr lang="en-US" sz="2400" dirty="0">
                <a:solidFill>
                  <a:srgbClr val="CFE3E1"/>
                </a:solidFill>
                <a:latin typeface="Calibri" pitchFamily="34" charset="0"/>
                <a:ea typeface="Calibri" pitchFamily="34" charset="-122"/>
                <a:cs typeface="Calibri" pitchFamily="34" charset="-120"/>
              </a:rPr>
              <a:t>Deformación total y tensión de von Mises en cinco VOIs porcinos, sus spinodoides y sus dual-lattice</a:t>
            </a:r>
            <a:endParaRPr lang="en-US" sz="2400" dirty="0"/>
          </a:p>
        </p:txBody>
      </p:sp>
      <p:sp>
        <p:nvSpPr>
          <p:cNvPr id="4" name="Text 2"/>
          <p:cNvSpPr txBox="1"/>
          <p:nvPr/>
        </p:nvSpPr>
        <p:spPr>
          <a:xfrm>
            <a:off x="731520" y="5943600"/>
            <a:ext cx="10698480" cy="365760"/>
          </a:xfrm>
          <a:prstGeom prst="rect">
            <a:avLst/>
          </a:prstGeom>
          <a:noFill/>
          <a:ln/>
        </p:spPr>
        <p:txBody>
          <a:bodyPr wrap="square" lIns="0" tIns="0" rIns="0" bIns="0" rtlCol="0" anchor="t"/>
          <a:lstStyle/>
          <a:p>
            <a:pPr indent="0" marL="0">
              <a:buNone/>
            </a:pPr>
            <a:r>
              <a:rPr lang="en-US" sz="1400" dirty="0">
                <a:solidFill>
                  <a:srgbClr val="8FB8B5"/>
                </a:solidFill>
                <a:latin typeface="Calibri" pitchFamily="34" charset="0"/>
                <a:ea typeface="Calibri" pitchFamily="34" charset="-122"/>
                <a:cs typeface="Calibri" pitchFamily="34" charset="-120"/>
              </a:rPr>
              <a:t>spinpy V2.2.0  ·  VOIs: Koria, Mengoni y Brockett (2020), CC BY 4.0, doi:10.5518/787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El experimento</a:t>
            </a:r>
            <a:endParaRPr lang="en-US" sz="3600" dirty="0"/>
          </a:p>
        </p:txBody>
      </p:sp>
      <p:sp>
        <p:nvSpPr>
          <p:cNvPr id="3" name="tarjeta 0"/>
          <p:cNvSpPr/>
          <p:nvPr/>
        </p:nvSpPr>
        <p:spPr>
          <a:xfrm>
            <a:off x="548640" y="1417320"/>
            <a:ext cx="3474720" cy="1737360"/>
          </a:xfrm>
          <a:prstGeom prst="roundRect">
            <a:avLst>
              <a:gd name="adj" fmla="val 5263"/>
            </a:avLst>
          </a:prstGeom>
          <a:solidFill>
            <a:srgbClr val="EEF2F3"/>
          </a:solidFill>
          <a:ln w="12700">
            <a:solidFill>
              <a:srgbClr val="EEF2F3"/>
            </a:solidFill>
            <a:prstDash val="solid"/>
          </a:ln>
        </p:spPr>
      </p:sp>
      <p:sp>
        <p:nvSpPr>
          <p:cNvPr id="4" name="Text 2"/>
          <p:cNvSpPr txBox="1"/>
          <p:nvPr/>
        </p:nvSpPr>
        <p:spPr>
          <a:xfrm>
            <a:off x="822960" y="1554480"/>
            <a:ext cx="2926080" cy="868680"/>
          </a:xfrm>
          <a:prstGeom prst="rect">
            <a:avLst/>
          </a:prstGeom>
          <a:noFill/>
          <a:ln/>
        </p:spPr>
        <p:txBody>
          <a:bodyPr wrap="square" lIns="0" tIns="0" rIns="0" bIns="0" rtlCol="0" anchor="ctr"/>
          <a:lstStyle/>
          <a:p>
            <a:pPr indent="0" marL="0">
              <a:buNone/>
            </a:pPr>
            <a:r>
              <a:rPr lang="en-US" sz="4800" b="1" dirty="0">
                <a:solidFill>
                  <a:srgbClr val="2E7D7A"/>
                </a:solidFill>
                <a:latin typeface="Cambria" pitchFamily="34" charset="0"/>
                <a:ea typeface="Cambria" pitchFamily="34" charset="-122"/>
                <a:cs typeface="Cambria" pitchFamily="34" charset="-120"/>
              </a:rPr>
              <a:t>5</a:t>
            </a:r>
            <a:endParaRPr lang="en-US" sz="4800" dirty="0"/>
          </a:p>
        </p:txBody>
      </p:sp>
      <p:sp>
        <p:nvSpPr>
          <p:cNvPr id="5" name="Text 3"/>
          <p:cNvSpPr txBox="1"/>
          <p:nvPr/>
        </p:nvSpPr>
        <p:spPr>
          <a:xfrm>
            <a:off x="822960" y="2423160"/>
            <a:ext cx="3017520" cy="640080"/>
          </a:xfrm>
          <a:prstGeom prst="rect">
            <a:avLst/>
          </a:prstGeom>
          <a:noFill/>
          <a:ln/>
        </p:spPr>
        <p:txBody>
          <a:bodyPr wrap="square" lIns="0" tIns="0" rIns="0" bIns="0" rtlCol="0" anchor="t"/>
          <a:lstStyle/>
          <a:p>
            <a:pPr indent="0" marL="0">
              <a:buNone/>
            </a:pPr>
            <a:r>
              <a:rPr lang="en-US" sz="1600" dirty="0">
                <a:solidFill>
                  <a:srgbClr val="1B2A33"/>
                </a:solidFill>
                <a:latin typeface="Calibri" pitchFamily="34" charset="0"/>
                <a:ea typeface="Calibri" pitchFamily="34" charset="-122"/>
                <a:cs typeface="Calibri" pitchFamily="34" charset="-120"/>
              </a:rPr>
              <a:t>VOIs porcinos</a:t>
            </a:r>
            <a:endParaRPr lang="en-US" sz="1600" dirty="0"/>
          </a:p>
          <a:p>
            <a:pPr indent="0" marL="0">
              <a:buNone/>
            </a:pPr>
            <a:r>
              <a:rPr lang="en-US" sz="1600" dirty="0">
                <a:solidFill>
                  <a:srgbClr val="1B2A33"/>
                </a:solidFill>
                <a:latin typeface="Calibri" pitchFamily="34" charset="0"/>
                <a:ea typeface="Calibri" pitchFamily="34" charset="-122"/>
                <a:cs typeface="Calibri" pitchFamily="34" charset="-120"/>
              </a:rPr>
              <a:t>C1 a C5</a:t>
            </a:r>
            <a:endParaRPr lang="en-US" sz="1600" dirty="0"/>
          </a:p>
        </p:txBody>
      </p:sp>
      <p:sp>
        <p:nvSpPr>
          <p:cNvPr id="6" name="tarjeta 1"/>
          <p:cNvSpPr/>
          <p:nvPr/>
        </p:nvSpPr>
        <p:spPr>
          <a:xfrm>
            <a:off x="4297680" y="1417320"/>
            <a:ext cx="3474720" cy="1737360"/>
          </a:xfrm>
          <a:prstGeom prst="roundRect">
            <a:avLst>
              <a:gd name="adj" fmla="val 5263"/>
            </a:avLst>
          </a:prstGeom>
          <a:solidFill>
            <a:srgbClr val="EEF2F3"/>
          </a:solidFill>
          <a:ln w="12700">
            <a:solidFill>
              <a:srgbClr val="EEF2F3"/>
            </a:solidFill>
            <a:prstDash val="solid"/>
          </a:ln>
        </p:spPr>
      </p:sp>
      <p:sp>
        <p:nvSpPr>
          <p:cNvPr id="7" name="Text 5"/>
          <p:cNvSpPr txBox="1"/>
          <p:nvPr/>
        </p:nvSpPr>
        <p:spPr>
          <a:xfrm>
            <a:off x="4572000" y="1554480"/>
            <a:ext cx="2926080" cy="868680"/>
          </a:xfrm>
          <a:prstGeom prst="rect">
            <a:avLst/>
          </a:prstGeom>
          <a:noFill/>
          <a:ln/>
        </p:spPr>
        <p:txBody>
          <a:bodyPr wrap="square" lIns="0" tIns="0" rIns="0" bIns="0" rtlCol="0" anchor="ctr"/>
          <a:lstStyle/>
          <a:p>
            <a:pPr indent="0" marL="0">
              <a:buNone/>
            </a:pPr>
            <a:r>
              <a:rPr lang="en-US" sz="4800" b="1" dirty="0">
                <a:solidFill>
                  <a:srgbClr val="2E7D7A"/>
                </a:solidFill>
                <a:latin typeface="Cambria" pitchFamily="34" charset="0"/>
                <a:ea typeface="Cambria" pitchFamily="34" charset="-122"/>
                <a:cs typeface="Cambria" pitchFamily="34" charset="-120"/>
              </a:rPr>
              <a:t>15</a:t>
            </a:r>
            <a:endParaRPr lang="en-US" sz="4800" dirty="0"/>
          </a:p>
        </p:txBody>
      </p:sp>
      <p:sp>
        <p:nvSpPr>
          <p:cNvPr id="8" name="Text 6"/>
          <p:cNvSpPr txBox="1"/>
          <p:nvPr/>
        </p:nvSpPr>
        <p:spPr>
          <a:xfrm>
            <a:off x="4572000" y="2423160"/>
            <a:ext cx="3017520" cy="640080"/>
          </a:xfrm>
          <a:prstGeom prst="rect">
            <a:avLst/>
          </a:prstGeom>
          <a:noFill/>
          <a:ln/>
        </p:spPr>
        <p:txBody>
          <a:bodyPr wrap="square" lIns="0" tIns="0" rIns="0" bIns="0" rtlCol="0" anchor="t"/>
          <a:lstStyle/>
          <a:p>
            <a:pPr indent="0" marL="0">
              <a:buNone/>
            </a:pPr>
            <a:r>
              <a:rPr lang="en-US" sz="1600" dirty="0">
                <a:solidFill>
                  <a:srgbClr val="1B2A33"/>
                </a:solidFill>
                <a:latin typeface="Calibri" pitchFamily="34" charset="0"/>
                <a:ea typeface="Calibri" pitchFamily="34" charset="-122"/>
                <a:cs typeface="Calibri" pitchFamily="34" charset="-120"/>
              </a:rPr>
              <a:t>estructuras:</a:t>
            </a:r>
            <a:endParaRPr lang="en-US" sz="1600" dirty="0"/>
          </a:p>
          <a:p>
            <a:pPr indent="0" marL="0">
              <a:buNone/>
            </a:pPr>
            <a:r>
              <a:rPr lang="en-US" sz="1600" dirty="0">
                <a:solidFill>
                  <a:srgbClr val="1B2A33"/>
                </a:solidFill>
                <a:latin typeface="Calibri" pitchFamily="34" charset="0"/>
                <a:ea typeface="Calibri" pitchFamily="34" charset="-122"/>
                <a:cs typeface="Calibri" pitchFamily="34" charset="-120"/>
              </a:rPr>
              <a:t>VOI, spinodoide, dual-lattice</a:t>
            </a:r>
            <a:endParaRPr lang="en-US" sz="1600" dirty="0"/>
          </a:p>
        </p:txBody>
      </p:sp>
      <p:sp>
        <p:nvSpPr>
          <p:cNvPr id="9" name="tarjeta 2"/>
          <p:cNvSpPr/>
          <p:nvPr/>
        </p:nvSpPr>
        <p:spPr>
          <a:xfrm>
            <a:off x="8046720" y="1417320"/>
            <a:ext cx="3474720" cy="1737360"/>
          </a:xfrm>
          <a:prstGeom prst="roundRect">
            <a:avLst>
              <a:gd name="adj" fmla="val 5263"/>
            </a:avLst>
          </a:prstGeom>
          <a:solidFill>
            <a:srgbClr val="EEF2F3"/>
          </a:solidFill>
          <a:ln w="12700">
            <a:solidFill>
              <a:srgbClr val="EEF2F3"/>
            </a:solidFill>
            <a:prstDash val="solid"/>
          </a:ln>
        </p:spPr>
      </p:sp>
      <p:sp>
        <p:nvSpPr>
          <p:cNvPr id="10" name="Text 8"/>
          <p:cNvSpPr txBox="1"/>
          <p:nvPr/>
        </p:nvSpPr>
        <p:spPr>
          <a:xfrm>
            <a:off x="8321040" y="1554480"/>
            <a:ext cx="2926080" cy="868680"/>
          </a:xfrm>
          <a:prstGeom prst="rect">
            <a:avLst/>
          </a:prstGeom>
          <a:noFill/>
          <a:ln/>
        </p:spPr>
        <p:txBody>
          <a:bodyPr wrap="square" lIns="0" tIns="0" rIns="0" bIns="0" rtlCol="0" anchor="ctr"/>
          <a:lstStyle/>
          <a:p>
            <a:pPr indent="0" marL="0">
              <a:buNone/>
            </a:pPr>
            <a:r>
              <a:rPr lang="en-US" sz="4800" b="1" dirty="0">
                <a:solidFill>
                  <a:srgbClr val="C8553D"/>
                </a:solidFill>
                <a:latin typeface="Cambria" pitchFamily="34" charset="0"/>
                <a:ea typeface="Cambria" pitchFamily="34" charset="-122"/>
                <a:cs typeface="Cambria" pitchFamily="34" charset="-120"/>
              </a:rPr>
              <a:t>100 N</a:t>
            </a:r>
            <a:endParaRPr lang="en-US" sz="4800" dirty="0"/>
          </a:p>
        </p:txBody>
      </p:sp>
      <p:sp>
        <p:nvSpPr>
          <p:cNvPr id="11" name="Text 9"/>
          <p:cNvSpPr txBox="1"/>
          <p:nvPr/>
        </p:nvSpPr>
        <p:spPr>
          <a:xfrm>
            <a:off x="8321040" y="2423160"/>
            <a:ext cx="3017520" cy="640080"/>
          </a:xfrm>
          <a:prstGeom prst="rect">
            <a:avLst/>
          </a:prstGeom>
          <a:noFill/>
          <a:ln/>
        </p:spPr>
        <p:txBody>
          <a:bodyPr wrap="square" lIns="0" tIns="0" rIns="0" bIns="0" rtlCol="0" anchor="t"/>
          <a:lstStyle/>
          <a:p>
            <a:pPr indent="0" marL="0">
              <a:buNone/>
            </a:pPr>
            <a:r>
              <a:rPr lang="en-US" sz="1600" dirty="0">
                <a:solidFill>
                  <a:srgbClr val="1B2A33"/>
                </a:solidFill>
                <a:latin typeface="Calibri" pitchFamily="34" charset="0"/>
                <a:ea typeface="Calibri" pitchFamily="34" charset="-122"/>
                <a:cs typeface="Calibri" pitchFamily="34" charset="-120"/>
              </a:rPr>
              <a:t>compresión axial</a:t>
            </a:r>
            <a:endParaRPr lang="en-US" sz="1600" dirty="0"/>
          </a:p>
          <a:p>
            <a:pPr indent="0" marL="0">
              <a:buNone/>
            </a:pPr>
            <a:r>
              <a:rPr lang="en-US" sz="1600" dirty="0">
                <a:solidFill>
                  <a:srgbClr val="1B2A33"/>
                </a:solidFill>
                <a:latin typeface="Calibri" pitchFamily="34" charset="0"/>
                <a:ea typeface="Calibri" pitchFamily="34" charset="-122"/>
                <a:cs typeface="Calibri" pitchFamily="34" charset="-120"/>
              </a:rPr>
              <a:t>sobre 3,0 mm de lado</a:t>
            </a:r>
            <a:endParaRPr lang="en-US" sz="1600" dirty="0"/>
          </a:p>
        </p:txBody>
      </p:sp>
      <p:sp>
        <p:nvSpPr>
          <p:cNvPr id="12" name="num 0"/>
          <p:cNvSpPr/>
          <p:nvPr/>
        </p:nvSpPr>
        <p:spPr>
          <a:xfrm>
            <a:off x="548640" y="3749040"/>
            <a:ext cx="457200" cy="457200"/>
          </a:xfrm>
          <a:prstGeom prst="ellipse">
            <a:avLst/>
          </a:prstGeom>
          <a:solidFill>
            <a:srgbClr val="1F3A44"/>
          </a:solidFill>
          <a:ln w="12700">
            <a:solidFill>
              <a:srgbClr val="1F3A44"/>
            </a:solidFill>
            <a:prstDash val="solid"/>
          </a:ln>
        </p:spPr>
      </p:sp>
      <p:sp>
        <p:nvSpPr>
          <p:cNvPr id="13" name="Text 11"/>
          <p:cNvSpPr txBox="1"/>
          <p:nvPr/>
        </p:nvSpPr>
        <p:spPr>
          <a:xfrm>
            <a:off x="548640" y="3749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txBox="1"/>
          <p:nvPr/>
        </p:nvSpPr>
        <p:spPr>
          <a:xfrm>
            <a:off x="548640" y="4343400"/>
            <a:ext cx="2057400" cy="822960"/>
          </a:xfrm>
          <a:prstGeom prst="rect">
            <a:avLst/>
          </a:prstGeom>
          <a:noFill/>
          <a:ln/>
        </p:spPr>
        <p:txBody>
          <a:bodyPr wrap="square" lIns="0" tIns="0" rIns="0" bIns="0" rtlCol="0" anchor="t"/>
          <a:lstStyle/>
          <a:p>
            <a:pPr indent="0" marL="0">
              <a:buNone/>
            </a:pPr>
            <a:r>
              <a:rPr lang="en-US" sz="1500" dirty="0">
                <a:solidFill>
                  <a:srgbClr val="1B2A33"/>
                </a:solidFill>
                <a:latin typeface="Calibri" pitchFamily="34" charset="0"/>
                <a:ea typeface="Calibri" pitchFamily="34" charset="-122"/>
                <a:cs typeface="Calibri" pitchFamily="34" charset="-120"/>
              </a:rPr>
              <a:t>VOI de micro-CT</a:t>
            </a:r>
            <a:endParaRPr lang="en-US" sz="1500" dirty="0"/>
          </a:p>
          <a:p>
            <a:pPr indent="0" marL="0">
              <a:buNone/>
            </a:pPr>
            <a:r>
              <a:rPr lang="en-US" sz="1500" dirty="0">
                <a:solidFill>
                  <a:srgbClr val="1B2A33"/>
                </a:solidFill>
                <a:latin typeface="Calibri" pitchFamily="34" charset="0"/>
                <a:ea typeface="Calibri" pitchFamily="34" charset="-122"/>
                <a:cs typeface="Calibri" pitchFamily="34" charset="-120"/>
              </a:rPr>
              <a:t>16 µm, cubo de 3,0 mm</a:t>
            </a:r>
            <a:endParaRPr lang="en-US" sz="1500" dirty="0"/>
          </a:p>
        </p:txBody>
      </p:sp>
      <p:sp>
        <p:nvSpPr>
          <p:cNvPr id="15" name="flecha 0"/>
          <p:cNvSpPr/>
          <p:nvPr/>
        </p:nvSpPr>
        <p:spPr>
          <a:xfrm>
            <a:off x="1097280" y="3977640"/>
            <a:ext cx="1371600" cy="0"/>
          </a:xfrm>
          <a:prstGeom prst="line">
            <a:avLst/>
          </a:prstGeom>
          <a:noFill/>
          <a:ln w="19050">
            <a:solidFill>
              <a:srgbClr val="5B6573"/>
            </a:solidFill>
            <a:prstDash val="solid"/>
            <a:tailEnd type="triangle"/>
          </a:ln>
        </p:spPr>
      </p:sp>
      <p:sp>
        <p:nvSpPr>
          <p:cNvPr id="16" name="num 1"/>
          <p:cNvSpPr/>
          <p:nvPr/>
        </p:nvSpPr>
        <p:spPr>
          <a:xfrm>
            <a:off x="2834640" y="3749040"/>
            <a:ext cx="457200" cy="457200"/>
          </a:xfrm>
          <a:prstGeom prst="ellipse">
            <a:avLst/>
          </a:prstGeom>
          <a:solidFill>
            <a:srgbClr val="1F3A44"/>
          </a:solidFill>
          <a:ln w="12700">
            <a:solidFill>
              <a:srgbClr val="1F3A44"/>
            </a:solidFill>
            <a:prstDash val="solid"/>
          </a:ln>
        </p:spPr>
      </p:sp>
      <p:sp>
        <p:nvSpPr>
          <p:cNvPr id="17" name="Text 15"/>
          <p:cNvSpPr txBox="1"/>
          <p:nvPr/>
        </p:nvSpPr>
        <p:spPr>
          <a:xfrm>
            <a:off x="2834640" y="3749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8" name="Text 16"/>
          <p:cNvSpPr txBox="1"/>
          <p:nvPr/>
        </p:nvSpPr>
        <p:spPr>
          <a:xfrm>
            <a:off x="2834640" y="4343400"/>
            <a:ext cx="2057400" cy="822960"/>
          </a:xfrm>
          <a:prstGeom prst="rect">
            <a:avLst/>
          </a:prstGeom>
          <a:noFill/>
          <a:ln/>
        </p:spPr>
        <p:txBody>
          <a:bodyPr wrap="square" lIns="0" tIns="0" rIns="0" bIns="0" rtlCol="0" anchor="t"/>
          <a:lstStyle/>
          <a:p>
            <a:pPr indent="0" marL="0">
              <a:buNone/>
            </a:pPr>
            <a:r>
              <a:rPr lang="en-US" sz="1500" dirty="0">
                <a:solidFill>
                  <a:srgbClr val="1B2A33"/>
                </a:solidFill>
                <a:latin typeface="Calibri" pitchFamily="34" charset="0"/>
                <a:ea typeface="Calibri" pitchFamily="34" charset="-122"/>
                <a:cs typeface="Calibri" pitchFamily="34" charset="-120"/>
              </a:rPr>
              <a:t>Ajuste del spinodoide</a:t>
            </a:r>
            <a:endParaRPr lang="en-US" sz="1500" dirty="0"/>
          </a:p>
          <a:p>
            <a:pPr indent="0" marL="0">
              <a:buNone/>
            </a:pPr>
            <a:r>
              <a:rPr lang="en-US" sz="1500" dirty="0">
                <a:solidFill>
                  <a:srgbClr val="1B2A33"/>
                </a:solidFill>
                <a:latin typeface="Calibri" pitchFamily="34" charset="0"/>
                <a:ea typeface="Calibri" pitchFamily="34" charset="-122"/>
                <a:cs typeface="Calibri" pitchFamily="34" charset="-120"/>
              </a:rPr>
              <a:t>y del dual-lattice</a:t>
            </a:r>
            <a:endParaRPr lang="en-US" sz="1500" dirty="0"/>
          </a:p>
        </p:txBody>
      </p:sp>
      <p:sp>
        <p:nvSpPr>
          <p:cNvPr id="19" name="flecha 1"/>
          <p:cNvSpPr/>
          <p:nvPr/>
        </p:nvSpPr>
        <p:spPr>
          <a:xfrm>
            <a:off x="3383280" y="3977640"/>
            <a:ext cx="1371600" cy="0"/>
          </a:xfrm>
          <a:prstGeom prst="line">
            <a:avLst/>
          </a:prstGeom>
          <a:noFill/>
          <a:ln w="19050">
            <a:solidFill>
              <a:srgbClr val="5B6573"/>
            </a:solidFill>
            <a:prstDash val="solid"/>
            <a:tailEnd type="triangle"/>
          </a:ln>
        </p:spPr>
      </p:sp>
      <p:sp>
        <p:nvSpPr>
          <p:cNvPr id="20" name="num 2"/>
          <p:cNvSpPr/>
          <p:nvPr/>
        </p:nvSpPr>
        <p:spPr>
          <a:xfrm>
            <a:off x="5120640" y="3749040"/>
            <a:ext cx="457200" cy="457200"/>
          </a:xfrm>
          <a:prstGeom prst="ellipse">
            <a:avLst/>
          </a:prstGeom>
          <a:solidFill>
            <a:srgbClr val="1F3A44"/>
          </a:solidFill>
          <a:ln w="12700">
            <a:solidFill>
              <a:srgbClr val="1F3A44"/>
            </a:solidFill>
            <a:prstDash val="solid"/>
          </a:ln>
        </p:spPr>
      </p:sp>
      <p:sp>
        <p:nvSpPr>
          <p:cNvPr id="21" name="Text 19"/>
          <p:cNvSpPr txBox="1"/>
          <p:nvPr/>
        </p:nvSpPr>
        <p:spPr>
          <a:xfrm>
            <a:off x="5120640" y="3749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Text 20"/>
          <p:cNvSpPr txBox="1"/>
          <p:nvPr/>
        </p:nvSpPr>
        <p:spPr>
          <a:xfrm>
            <a:off x="5120640" y="4343400"/>
            <a:ext cx="2057400" cy="822960"/>
          </a:xfrm>
          <a:prstGeom prst="rect">
            <a:avLst/>
          </a:prstGeom>
          <a:noFill/>
          <a:ln/>
        </p:spPr>
        <p:txBody>
          <a:bodyPr wrap="square" lIns="0" tIns="0" rIns="0" bIns="0" rtlCol="0" anchor="t"/>
          <a:lstStyle/>
          <a:p>
            <a:pPr indent="0" marL="0">
              <a:buNone/>
            </a:pPr>
            <a:r>
              <a:rPr lang="en-US" sz="1500" dirty="0">
                <a:solidFill>
                  <a:srgbClr val="1B2A33"/>
                </a:solidFill>
                <a:latin typeface="Calibri" pitchFamily="34" charset="0"/>
                <a:ea typeface="Calibri" pitchFamily="34" charset="-122"/>
                <a:cs typeface="Calibri" pitchFamily="34" charset="-120"/>
              </a:rPr>
              <a:t>Malla de ladrillos</a:t>
            </a:r>
            <a:endParaRPr lang="en-US" sz="1500" dirty="0"/>
          </a:p>
          <a:p>
            <a:pPr indent="0" marL="0">
              <a:buNone/>
            </a:pPr>
            <a:r>
              <a:rPr lang="en-US" sz="1500" dirty="0">
                <a:solidFill>
                  <a:srgbClr val="1B2A33"/>
                </a:solidFill>
                <a:latin typeface="Calibri" pitchFamily="34" charset="0"/>
                <a:ea typeface="Calibri" pitchFamily="34" charset="-122"/>
                <a:cs typeface="Calibri" pitchFamily="34" charset="-120"/>
              </a:rPr>
              <a:t>40³ elementos</a:t>
            </a:r>
            <a:endParaRPr lang="en-US" sz="1500" dirty="0"/>
          </a:p>
        </p:txBody>
      </p:sp>
      <p:sp>
        <p:nvSpPr>
          <p:cNvPr id="23" name="flecha 2"/>
          <p:cNvSpPr/>
          <p:nvPr/>
        </p:nvSpPr>
        <p:spPr>
          <a:xfrm>
            <a:off x="5669280" y="3977640"/>
            <a:ext cx="1371600" cy="0"/>
          </a:xfrm>
          <a:prstGeom prst="line">
            <a:avLst/>
          </a:prstGeom>
          <a:noFill/>
          <a:ln w="19050">
            <a:solidFill>
              <a:srgbClr val="5B6573"/>
            </a:solidFill>
            <a:prstDash val="solid"/>
            <a:tailEnd type="triangle"/>
          </a:ln>
        </p:spPr>
      </p:sp>
      <p:sp>
        <p:nvSpPr>
          <p:cNvPr id="24" name="num 3"/>
          <p:cNvSpPr/>
          <p:nvPr/>
        </p:nvSpPr>
        <p:spPr>
          <a:xfrm>
            <a:off x="7406640" y="3749040"/>
            <a:ext cx="457200" cy="457200"/>
          </a:xfrm>
          <a:prstGeom prst="ellipse">
            <a:avLst/>
          </a:prstGeom>
          <a:solidFill>
            <a:srgbClr val="1F3A44"/>
          </a:solidFill>
          <a:ln w="12700">
            <a:solidFill>
              <a:srgbClr val="1F3A44"/>
            </a:solidFill>
            <a:prstDash val="solid"/>
          </a:ln>
        </p:spPr>
      </p:sp>
      <p:sp>
        <p:nvSpPr>
          <p:cNvPr id="25" name="Text 23"/>
          <p:cNvSpPr txBox="1"/>
          <p:nvPr/>
        </p:nvSpPr>
        <p:spPr>
          <a:xfrm>
            <a:off x="7406640" y="3749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txBox="1"/>
          <p:nvPr/>
        </p:nvSpPr>
        <p:spPr>
          <a:xfrm>
            <a:off x="7406640" y="4343400"/>
            <a:ext cx="2057400" cy="822960"/>
          </a:xfrm>
          <a:prstGeom prst="rect">
            <a:avLst/>
          </a:prstGeom>
          <a:noFill/>
          <a:ln/>
        </p:spPr>
        <p:txBody>
          <a:bodyPr wrap="square" lIns="0" tIns="0" rIns="0" bIns="0" rtlCol="0" anchor="t"/>
          <a:lstStyle/>
          <a:p>
            <a:pPr indent="0" marL="0">
              <a:buNone/>
            </a:pPr>
            <a:r>
              <a:rPr lang="en-US" sz="1500" dirty="0">
                <a:solidFill>
                  <a:srgbClr val="1B2A33"/>
                </a:solidFill>
                <a:latin typeface="Calibri" pitchFamily="34" charset="0"/>
                <a:ea typeface="Calibri" pitchFamily="34" charset="-122"/>
                <a:cs typeface="Calibri" pitchFamily="34" charset="-120"/>
              </a:rPr>
              <a:t>Compresión axial</a:t>
            </a:r>
            <a:endParaRPr lang="en-US" sz="1500" dirty="0"/>
          </a:p>
          <a:p>
            <a:pPr indent="0" marL="0">
              <a:buNone/>
            </a:pPr>
            <a:r>
              <a:rPr lang="en-US" sz="1500" dirty="0">
                <a:solidFill>
                  <a:srgbClr val="1B2A33"/>
                </a:solidFill>
                <a:latin typeface="Calibri" pitchFamily="34" charset="0"/>
                <a:ea typeface="Calibri" pitchFamily="34" charset="-122"/>
                <a:cs typeface="Calibri" pitchFamily="34" charset="-120"/>
              </a:rPr>
              <a:t>base adherida, 100 N</a:t>
            </a:r>
            <a:endParaRPr lang="en-US" sz="1500" dirty="0"/>
          </a:p>
        </p:txBody>
      </p:sp>
      <p:sp>
        <p:nvSpPr>
          <p:cNvPr id="27" name="flecha 3"/>
          <p:cNvSpPr/>
          <p:nvPr/>
        </p:nvSpPr>
        <p:spPr>
          <a:xfrm>
            <a:off x="7955280" y="3977640"/>
            <a:ext cx="1371600" cy="0"/>
          </a:xfrm>
          <a:prstGeom prst="line">
            <a:avLst/>
          </a:prstGeom>
          <a:noFill/>
          <a:ln w="19050">
            <a:solidFill>
              <a:srgbClr val="5B6573"/>
            </a:solidFill>
            <a:prstDash val="solid"/>
            <a:tailEnd type="triangle"/>
          </a:ln>
        </p:spPr>
      </p:sp>
      <p:sp>
        <p:nvSpPr>
          <p:cNvPr id="28" name="num 4"/>
          <p:cNvSpPr/>
          <p:nvPr/>
        </p:nvSpPr>
        <p:spPr>
          <a:xfrm>
            <a:off x="9692640" y="3749040"/>
            <a:ext cx="457200" cy="457200"/>
          </a:xfrm>
          <a:prstGeom prst="ellipse">
            <a:avLst/>
          </a:prstGeom>
          <a:solidFill>
            <a:srgbClr val="1F3A44"/>
          </a:solidFill>
          <a:ln w="12700">
            <a:solidFill>
              <a:srgbClr val="1F3A44"/>
            </a:solidFill>
            <a:prstDash val="solid"/>
          </a:ln>
        </p:spPr>
      </p:sp>
      <p:sp>
        <p:nvSpPr>
          <p:cNvPr id="29" name="Text 27"/>
          <p:cNvSpPr txBox="1"/>
          <p:nvPr/>
        </p:nvSpPr>
        <p:spPr>
          <a:xfrm>
            <a:off x="9692640" y="3749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8"/>
          <p:cNvSpPr txBox="1"/>
          <p:nvPr/>
        </p:nvSpPr>
        <p:spPr>
          <a:xfrm>
            <a:off x="9692640" y="4343400"/>
            <a:ext cx="2057400" cy="822960"/>
          </a:xfrm>
          <a:prstGeom prst="rect">
            <a:avLst/>
          </a:prstGeom>
          <a:noFill/>
          <a:ln/>
        </p:spPr>
        <p:txBody>
          <a:bodyPr wrap="square" lIns="0" tIns="0" rIns="0" bIns="0" rtlCol="0" anchor="t"/>
          <a:lstStyle/>
          <a:p>
            <a:pPr indent="0" marL="0">
              <a:buNone/>
            </a:pPr>
            <a:r>
              <a:rPr lang="en-US" sz="1500" dirty="0">
                <a:solidFill>
                  <a:srgbClr val="1B2A33"/>
                </a:solidFill>
                <a:latin typeface="Calibri" pitchFamily="34" charset="0"/>
                <a:ea typeface="Calibri" pitchFamily="34" charset="-122"/>
                <a:cs typeface="Calibri" pitchFamily="34" charset="-120"/>
              </a:rPr>
              <a:t>Campos |u|</a:t>
            </a:r>
            <a:endParaRPr lang="en-US" sz="1500" dirty="0"/>
          </a:p>
          <a:p>
            <a:pPr indent="0" marL="0">
              <a:buNone/>
            </a:pPr>
            <a:r>
              <a:rPr lang="en-US" sz="1500" dirty="0">
                <a:solidFill>
                  <a:srgbClr val="1B2A33"/>
                </a:solidFill>
                <a:latin typeface="Calibri" pitchFamily="34" charset="0"/>
                <a:ea typeface="Calibri" pitchFamily="34" charset="-122"/>
                <a:cs typeface="Calibri" pitchFamily="34" charset="-120"/>
              </a:rPr>
              <a:t>y von Mises</a:t>
            </a:r>
            <a:endParaRPr lang="en-US" sz="1500" dirty="0"/>
          </a:p>
        </p:txBody>
      </p:sp>
      <p:sp>
        <p:nvSpPr>
          <p:cNvPr id="31" name="Text 29"/>
          <p:cNvSpPr txBox="1"/>
          <p:nvPr/>
        </p:nvSpPr>
        <p:spPr>
          <a:xfrm>
            <a:off x="548640" y="5577840"/>
            <a:ext cx="11064240" cy="64008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Se replica el protocolo de ensayo de Tapia et al. (2026), no el estudio: los valores absolutos no son comparables con los publicados. E = 18 GPa, ν = 0,30, elasticidad lineal.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El objetivo: la ecuación</a:t>
            </a:r>
            <a:endParaRPr lang="en-US" sz="3600" dirty="0"/>
          </a:p>
        </p:txBody>
      </p:sp>
      <p:sp>
        <p:nvSpPr>
          <p:cNvPr id="3" name="Text 1"/>
          <p:cNvSpPr txBox="1"/>
          <p:nvPr/>
        </p:nvSpPr>
        <p:spPr>
          <a:xfrm>
            <a:off x="548640" y="1325880"/>
            <a:ext cx="5852160" cy="457200"/>
          </a:xfrm>
          <a:prstGeom prst="rect">
            <a:avLst/>
          </a:prstGeom>
          <a:noFill/>
          <a:ln/>
        </p:spPr>
        <p:txBody>
          <a:bodyPr wrap="square" lIns="0" tIns="0" rIns="0" bIns="0" rtlCol="0" anchor="t"/>
          <a:lstStyle/>
          <a:p>
            <a:pPr indent="0" marL="0">
              <a:buNone/>
            </a:pPr>
            <a:r>
              <a:rPr lang="en-US" sz="2000" b="1" dirty="0">
                <a:solidFill>
                  <a:srgbClr val="2E7D7A"/>
                </a:solidFill>
                <a:latin typeface="Calibri" pitchFamily="34" charset="0"/>
                <a:ea typeface="Calibri" pitchFamily="34" charset="-122"/>
                <a:cs typeface="Calibri" pitchFamily="34" charset="-120"/>
              </a:rPr>
              <a:t>Resolver el equilibrio elástico del sólido</a:t>
            </a:r>
            <a:endParaRPr lang="en-US" sz="2000" dirty="0"/>
          </a:p>
        </p:txBody>
      </p:sp>
      <p:sp>
        <p:nvSpPr>
          <p:cNvPr id="4" name="ecuacion 0"/>
          <p:cNvSpPr/>
          <p:nvPr/>
        </p:nvSpPr>
        <p:spPr>
          <a:xfrm>
            <a:off x="548640" y="1920240"/>
            <a:ext cx="5943600" cy="896112"/>
          </a:xfrm>
          <a:prstGeom prst="roundRect">
            <a:avLst>
              <a:gd name="adj" fmla="val 8163"/>
            </a:avLst>
          </a:prstGeom>
          <a:solidFill>
            <a:srgbClr val="EEF2F3"/>
          </a:solidFill>
          <a:ln w="12700">
            <a:solidFill>
              <a:srgbClr val="EEF2F3"/>
            </a:solidFill>
            <a:prstDash val="solid"/>
          </a:ln>
        </p:spPr>
      </p:sp>
      <p:sp>
        <p:nvSpPr>
          <p:cNvPr id="5" name="Text 3"/>
          <p:cNvSpPr txBox="1"/>
          <p:nvPr/>
        </p:nvSpPr>
        <p:spPr>
          <a:xfrm>
            <a:off x="777240" y="1993392"/>
            <a:ext cx="5577840" cy="411480"/>
          </a:xfrm>
          <a:prstGeom prst="rect">
            <a:avLst/>
          </a:prstGeom>
          <a:noFill/>
          <a:ln/>
        </p:spPr>
        <p:txBody>
          <a:bodyPr wrap="square" lIns="0" tIns="0" rIns="0" bIns="0" rtlCol="0" anchor="t"/>
          <a:lstStyle/>
          <a:p>
            <a:pPr indent="0" marL="0">
              <a:buNone/>
            </a:pPr>
            <a:r>
              <a:rPr lang="en-US" sz="2200" dirty="0">
                <a:solidFill>
                  <a:srgbClr val="1B2A33"/>
                </a:solidFill>
                <a:latin typeface="Cambria" pitchFamily="34" charset="0"/>
                <a:ea typeface="Cambria" pitchFamily="34" charset="-122"/>
                <a:cs typeface="Cambria" pitchFamily="34" charset="-120"/>
              </a:rPr>
              <a:t>∇ · σ = 0</a:t>
            </a:r>
            <a:endParaRPr lang="en-US" sz="2200" dirty="0"/>
          </a:p>
        </p:txBody>
      </p:sp>
      <p:sp>
        <p:nvSpPr>
          <p:cNvPr id="6" name="Text 4"/>
          <p:cNvSpPr txBox="1"/>
          <p:nvPr/>
        </p:nvSpPr>
        <p:spPr>
          <a:xfrm>
            <a:off x="777240" y="2423160"/>
            <a:ext cx="5577840" cy="32004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equilibrio en el sólido, sin fuerzas de volumen</a:t>
            </a:r>
            <a:endParaRPr lang="en-US" sz="1400" dirty="0"/>
          </a:p>
        </p:txBody>
      </p:sp>
      <p:sp>
        <p:nvSpPr>
          <p:cNvPr id="7" name="ecuacion 1"/>
          <p:cNvSpPr/>
          <p:nvPr/>
        </p:nvSpPr>
        <p:spPr>
          <a:xfrm>
            <a:off x="548640" y="2944368"/>
            <a:ext cx="5943600" cy="896112"/>
          </a:xfrm>
          <a:prstGeom prst="roundRect">
            <a:avLst>
              <a:gd name="adj" fmla="val 8163"/>
            </a:avLst>
          </a:prstGeom>
          <a:solidFill>
            <a:srgbClr val="EEF2F3"/>
          </a:solidFill>
          <a:ln w="12700">
            <a:solidFill>
              <a:srgbClr val="EEF2F3"/>
            </a:solidFill>
            <a:prstDash val="solid"/>
          </a:ln>
        </p:spPr>
      </p:sp>
      <p:sp>
        <p:nvSpPr>
          <p:cNvPr id="8" name="Text 6"/>
          <p:cNvSpPr txBox="1"/>
          <p:nvPr/>
        </p:nvSpPr>
        <p:spPr>
          <a:xfrm>
            <a:off x="777240" y="3017520"/>
            <a:ext cx="5577840" cy="411480"/>
          </a:xfrm>
          <a:prstGeom prst="rect">
            <a:avLst/>
          </a:prstGeom>
          <a:noFill/>
          <a:ln/>
        </p:spPr>
        <p:txBody>
          <a:bodyPr wrap="square" lIns="0" tIns="0" rIns="0" bIns="0" rtlCol="0" anchor="t"/>
          <a:lstStyle/>
          <a:p>
            <a:pPr indent="0" marL="0">
              <a:buNone/>
            </a:pPr>
            <a:r>
              <a:rPr lang="en-US" sz="2200" dirty="0">
                <a:solidFill>
                  <a:srgbClr val="1B2A33"/>
                </a:solidFill>
                <a:latin typeface="Cambria" pitchFamily="34" charset="0"/>
                <a:ea typeface="Cambria" pitchFamily="34" charset="-122"/>
                <a:cs typeface="Cambria" pitchFamily="34" charset="-120"/>
              </a:rPr>
              <a:t>σ = C : ε,   ε = ½ (∇u + ∇u</a:t>
            </a:r>
            <a:pPr indent="0" marL="0">
              <a:buNone/>
            </a:pPr>
            <a:r>
              <a:rPr lang="en-US" sz="2200" baseline="30000" dirty="0">
                <a:solidFill>
                  <a:srgbClr val="1B2A33"/>
                </a:solidFill>
                <a:latin typeface="Cambria" pitchFamily="34" charset="0"/>
                <a:ea typeface="Cambria" pitchFamily="34" charset="-122"/>
                <a:cs typeface="Cambria" pitchFamily="34" charset="-120"/>
              </a:rPr>
              <a:t>T</a:t>
            </a:r>
            <a:pPr indent="0" marL="0">
              <a:buNone/>
            </a:pPr>
            <a:r>
              <a:rPr lang="en-US" sz="2200" dirty="0">
                <a:solidFill>
                  <a:srgbClr val="1B2A33"/>
                </a:solidFill>
                <a:latin typeface="Cambria" pitchFamily="34" charset="0"/>
                <a:ea typeface="Cambria" pitchFamily="34" charset="-122"/>
                <a:cs typeface="Cambria" pitchFamily="34" charset="-120"/>
              </a:rPr>
              <a:t>)</a:t>
            </a:r>
            <a:endParaRPr lang="en-US" sz="2200" dirty="0"/>
          </a:p>
        </p:txBody>
      </p:sp>
      <p:sp>
        <p:nvSpPr>
          <p:cNvPr id="9" name="Text 7"/>
          <p:cNvSpPr txBox="1"/>
          <p:nvPr/>
        </p:nvSpPr>
        <p:spPr>
          <a:xfrm>
            <a:off x="777240" y="3447288"/>
            <a:ext cx="5577840" cy="32004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ley de Hooke isótropa, pequeñas deformaciones</a:t>
            </a:r>
            <a:endParaRPr lang="en-US" sz="1400" dirty="0"/>
          </a:p>
        </p:txBody>
      </p:sp>
      <p:sp>
        <p:nvSpPr>
          <p:cNvPr id="10" name="ecuacion 2"/>
          <p:cNvSpPr/>
          <p:nvPr/>
        </p:nvSpPr>
        <p:spPr>
          <a:xfrm>
            <a:off x="548640" y="3968496"/>
            <a:ext cx="5943600" cy="896112"/>
          </a:xfrm>
          <a:prstGeom prst="roundRect">
            <a:avLst>
              <a:gd name="adj" fmla="val 8163"/>
            </a:avLst>
          </a:prstGeom>
          <a:solidFill>
            <a:srgbClr val="EEF2F3"/>
          </a:solidFill>
          <a:ln w="12700">
            <a:solidFill>
              <a:srgbClr val="EEF2F3"/>
            </a:solidFill>
            <a:prstDash val="solid"/>
          </a:ln>
        </p:spPr>
      </p:sp>
      <p:sp>
        <p:nvSpPr>
          <p:cNvPr id="11" name="Text 9"/>
          <p:cNvSpPr txBox="1"/>
          <p:nvPr/>
        </p:nvSpPr>
        <p:spPr>
          <a:xfrm>
            <a:off x="777240" y="4041648"/>
            <a:ext cx="5577840" cy="411480"/>
          </a:xfrm>
          <a:prstGeom prst="rect">
            <a:avLst/>
          </a:prstGeom>
          <a:noFill/>
          <a:ln/>
        </p:spPr>
        <p:txBody>
          <a:bodyPr wrap="square" lIns="0" tIns="0" rIns="0" bIns="0" rtlCol="0" anchor="t"/>
          <a:lstStyle/>
          <a:p>
            <a:pPr indent="0" marL="0">
              <a:buNone/>
            </a:pPr>
            <a:r>
              <a:rPr lang="en-US" sz="2200" dirty="0">
                <a:solidFill>
                  <a:srgbClr val="1B2A33"/>
                </a:solidFill>
                <a:latin typeface="Cambria" pitchFamily="34" charset="0"/>
                <a:ea typeface="Cambria" pitchFamily="34" charset="-122"/>
                <a:cs typeface="Cambria" pitchFamily="34" charset="-120"/>
              </a:rPr>
              <a:t>E = 18 GPa,   ν = 0,30</a:t>
            </a:r>
            <a:endParaRPr lang="en-US" sz="2200" dirty="0"/>
          </a:p>
        </p:txBody>
      </p:sp>
      <p:sp>
        <p:nvSpPr>
          <p:cNvPr id="12" name="Text 10"/>
          <p:cNvSpPr txBox="1"/>
          <p:nvPr/>
        </p:nvSpPr>
        <p:spPr>
          <a:xfrm>
            <a:off x="777240" y="4471416"/>
            <a:ext cx="5577840" cy="32004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tejido homogéneo e isótropo</a:t>
            </a:r>
            <a:endParaRPr lang="en-US" sz="1400" dirty="0"/>
          </a:p>
        </p:txBody>
      </p:sp>
      <p:sp>
        <p:nvSpPr>
          <p:cNvPr id="13" name="ecuacion 3"/>
          <p:cNvSpPr/>
          <p:nvPr/>
        </p:nvSpPr>
        <p:spPr>
          <a:xfrm>
            <a:off x="548640" y="4992624"/>
            <a:ext cx="5943600" cy="896112"/>
          </a:xfrm>
          <a:prstGeom prst="roundRect">
            <a:avLst>
              <a:gd name="adj" fmla="val 8163"/>
            </a:avLst>
          </a:prstGeom>
          <a:solidFill>
            <a:srgbClr val="EEF2F3"/>
          </a:solidFill>
          <a:ln w="12700">
            <a:solidFill>
              <a:srgbClr val="EEF2F3"/>
            </a:solidFill>
            <a:prstDash val="solid"/>
          </a:ln>
        </p:spPr>
      </p:sp>
      <p:sp>
        <p:nvSpPr>
          <p:cNvPr id="14" name="Text 12"/>
          <p:cNvSpPr txBox="1"/>
          <p:nvPr/>
        </p:nvSpPr>
        <p:spPr>
          <a:xfrm>
            <a:off x="777240" y="5065776"/>
            <a:ext cx="5577840" cy="411480"/>
          </a:xfrm>
          <a:prstGeom prst="rect">
            <a:avLst/>
          </a:prstGeom>
          <a:noFill/>
          <a:ln/>
        </p:spPr>
        <p:txBody>
          <a:bodyPr wrap="square" lIns="0" tIns="0" rIns="0" bIns="0" rtlCol="0" anchor="t"/>
          <a:lstStyle/>
          <a:p>
            <a:pPr indent="0" marL="0">
              <a:buNone/>
            </a:pPr>
            <a:r>
              <a:rPr lang="en-US" sz="2200" dirty="0">
                <a:solidFill>
                  <a:srgbClr val="1B2A33"/>
                </a:solidFill>
                <a:latin typeface="Cambria" pitchFamily="34" charset="0"/>
                <a:ea typeface="Cambria" pitchFamily="34" charset="-122"/>
                <a:cs typeface="Cambria" pitchFamily="34" charset="-120"/>
              </a:rPr>
              <a:t>K u = f</a:t>
            </a:r>
            <a:endParaRPr lang="en-US" sz="2200" dirty="0"/>
          </a:p>
        </p:txBody>
      </p:sp>
      <p:sp>
        <p:nvSpPr>
          <p:cNvPr id="15" name="Text 13"/>
          <p:cNvSpPr txBox="1"/>
          <p:nvPr/>
        </p:nvSpPr>
        <p:spPr>
          <a:xfrm>
            <a:off x="777240" y="5495544"/>
            <a:ext cx="5577840" cy="32004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problema discreto, hexaedros de 8 nodos, solver directo</a:t>
            </a:r>
            <a:endParaRPr lang="en-US" sz="1400" dirty="0"/>
          </a:p>
        </p:txBody>
      </p:sp>
      <p:sp>
        <p:nvSpPr>
          <p:cNvPr id="16" name="Text 14"/>
          <p:cNvSpPr txBox="1"/>
          <p:nvPr/>
        </p:nvSpPr>
        <p:spPr>
          <a:xfrm>
            <a:off x="7040880" y="1325880"/>
            <a:ext cx="4572000" cy="457200"/>
          </a:xfrm>
          <a:prstGeom prst="rect">
            <a:avLst/>
          </a:prstGeom>
          <a:noFill/>
          <a:ln/>
        </p:spPr>
        <p:txBody>
          <a:bodyPr wrap="square" lIns="0" tIns="0" rIns="0" bIns="0" rtlCol="0" anchor="t"/>
          <a:lstStyle/>
          <a:p>
            <a:pPr indent="0" marL="0">
              <a:buNone/>
            </a:pPr>
            <a:r>
              <a:rPr lang="en-US" sz="2000" b="1" dirty="0">
                <a:solidFill>
                  <a:srgbClr val="C8553D"/>
                </a:solidFill>
                <a:latin typeface="Calibri" pitchFamily="34" charset="0"/>
                <a:ea typeface="Calibri" pitchFamily="34" charset="-122"/>
                <a:cs typeface="Calibri" pitchFamily="34" charset="-120"/>
              </a:rPr>
              <a:t>Lo que se obtiene</a:t>
            </a:r>
            <a:endParaRPr lang="en-US" sz="2000" dirty="0"/>
          </a:p>
        </p:txBody>
      </p:sp>
      <p:sp>
        <p:nvSpPr>
          <p:cNvPr id="17" name="salida u"/>
          <p:cNvSpPr/>
          <p:nvPr/>
        </p:nvSpPr>
        <p:spPr>
          <a:xfrm>
            <a:off x="7040880" y="1920240"/>
            <a:ext cx="4572000" cy="1920240"/>
          </a:xfrm>
          <a:prstGeom prst="roundRect">
            <a:avLst>
              <a:gd name="adj" fmla="val 3810"/>
            </a:avLst>
          </a:prstGeom>
          <a:solidFill>
            <a:srgbClr val="FFFFFF"/>
          </a:solidFill>
          <a:ln w="19050">
            <a:solidFill>
              <a:srgbClr val="8FB8B5"/>
            </a:solidFill>
            <a:prstDash val="solid"/>
          </a:ln>
        </p:spPr>
      </p:sp>
      <p:sp>
        <p:nvSpPr>
          <p:cNvPr id="18" name="Text 16"/>
          <p:cNvSpPr txBox="1"/>
          <p:nvPr/>
        </p:nvSpPr>
        <p:spPr>
          <a:xfrm>
            <a:off x="7269480" y="2011680"/>
            <a:ext cx="4114800" cy="365760"/>
          </a:xfrm>
          <a:prstGeom prst="rect">
            <a:avLst/>
          </a:prstGeom>
          <a:noFill/>
          <a:ln/>
        </p:spPr>
        <p:txBody>
          <a:bodyPr wrap="square" lIns="0" tIns="0" rIns="0" bIns="0" rtlCol="0" anchor="t"/>
          <a:lstStyle/>
          <a:p>
            <a:pPr indent="0" marL="0">
              <a:buNone/>
            </a:pPr>
            <a:r>
              <a:rPr lang="en-US" sz="1800" b="1" dirty="0">
                <a:solidFill>
                  <a:srgbClr val="1B2A33"/>
                </a:solidFill>
                <a:latin typeface="Calibri" pitchFamily="34" charset="0"/>
                <a:ea typeface="Calibri" pitchFamily="34" charset="-122"/>
                <a:cs typeface="Calibri" pitchFamily="34" charset="-120"/>
              </a:rPr>
              <a:t>Deformación total</a:t>
            </a:r>
            <a:endParaRPr lang="en-US" sz="1800" dirty="0"/>
          </a:p>
        </p:txBody>
      </p:sp>
      <p:sp>
        <p:nvSpPr>
          <p:cNvPr id="19" name="Text 17"/>
          <p:cNvSpPr txBox="1"/>
          <p:nvPr/>
        </p:nvSpPr>
        <p:spPr>
          <a:xfrm>
            <a:off x="7269480" y="2423160"/>
            <a:ext cx="4114800" cy="457200"/>
          </a:xfrm>
          <a:prstGeom prst="rect">
            <a:avLst/>
          </a:prstGeom>
          <a:noFill/>
          <a:ln/>
        </p:spPr>
        <p:txBody>
          <a:bodyPr wrap="square" lIns="0" tIns="0" rIns="0" bIns="0" rtlCol="0" anchor="t"/>
          <a:lstStyle/>
          <a:p>
            <a:pPr indent="0" marL="0">
              <a:buNone/>
            </a:pPr>
            <a:r>
              <a:rPr lang="en-US" sz="2000" dirty="0">
                <a:solidFill>
                  <a:srgbClr val="1B2A33"/>
                </a:solidFill>
                <a:latin typeface="Cambria" pitchFamily="34" charset="0"/>
                <a:ea typeface="Cambria" pitchFamily="34" charset="-122"/>
                <a:cs typeface="Cambria" pitchFamily="34" charset="-120"/>
              </a:rPr>
              <a:t>|u| = √(ux² + uy² + uz²)</a:t>
            </a:r>
            <a:endParaRPr lang="en-US" sz="2000" dirty="0"/>
          </a:p>
        </p:txBody>
      </p:sp>
      <p:sp>
        <p:nvSpPr>
          <p:cNvPr id="20" name="Text 18"/>
          <p:cNvSpPr txBox="1"/>
          <p:nvPr/>
        </p:nvSpPr>
        <p:spPr>
          <a:xfrm>
            <a:off x="7269480" y="2971800"/>
            <a:ext cx="4114800" cy="77724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Es un desplazamiento, no una deformación unitaria. Su máximo es local; la rigidez global sale del desplazamiento medio de la cima.</a:t>
            </a:r>
            <a:endParaRPr lang="en-US" sz="1400" dirty="0"/>
          </a:p>
        </p:txBody>
      </p:sp>
      <p:sp>
        <p:nvSpPr>
          <p:cNvPr id="21" name="salida vm"/>
          <p:cNvSpPr/>
          <p:nvPr/>
        </p:nvSpPr>
        <p:spPr>
          <a:xfrm>
            <a:off x="7040880" y="4023360"/>
            <a:ext cx="4572000" cy="1920240"/>
          </a:xfrm>
          <a:prstGeom prst="roundRect">
            <a:avLst>
              <a:gd name="adj" fmla="val 3810"/>
            </a:avLst>
          </a:prstGeom>
          <a:solidFill>
            <a:srgbClr val="FFFFFF"/>
          </a:solidFill>
          <a:ln w="19050">
            <a:solidFill>
              <a:srgbClr val="E8A18F"/>
            </a:solidFill>
            <a:prstDash val="solid"/>
          </a:ln>
        </p:spPr>
      </p:sp>
      <p:sp>
        <p:nvSpPr>
          <p:cNvPr id="22" name="Text 20"/>
          <p:cNvSpPr txBox="1"/>
          <p:nvPr/>
        </p:nvSpPr>
        <p:spPr>
          <a:xfrm>
            <a:off x="7269480" y="4114800"/>
            <a:ext cx="4114800" cy="365760"/>
          </a:xfrm>
          <a:prstGeom prst="rect">
            <a:avLst/>
          </a:prstGeom>
          <a:noFill/>
          <a:ln/>
        </p:spPr>
        <p:txBody>
          <a:bodyPr wrap="square" lIns="0" tIns="0" rIns="0" bIns="0" rtlCol="0" anchor="t"/>
          <a:lstStyle/>
          <a:p>
            <a:pPr indent="0" marL="0">
              <a:buNone/>
            </a:pPr>
            <a:r>
              <a:rPr lang="en-US" sz="1800" b="1" dirty="0">
                <a:solidFill>
                  <a:srgbClr val="1B2A33"/>
                </a:solidFill>
                <a:latin typeface="Calibri" pitchFamily="34" charset="0"/>
                <a:ea typeface="Calibri" pitchFamily="34" charset="-122"/>
                <a:cs typeface="Calibri" pitchFamily="34" charset="-120"/>
              </a:rPr>
              <a:t>Tensión de von Mises</a:t>
            </a:r>
            <a:endParaRPr lang="en-US" sz="1800" dirty="0"/>
          </a:p>
        </p:txBody>
      </p:sp>
      <p:sp>
        <p:nvSpPr>
          <p:cNvPr id="23" name="Text 21"/>
          <p:cNvSpPr txBox="1"/>
          <p:nvPr/>
        </p:nvSpPr>
        <p:spPr>
          <a:xfrm>
            <a:off x="7269480" y="4526280"/>
            <a:ext cx="4297680" cy="457200"/>
          </a:xfrm>
          <a:prstGeom prst="rect">
            <a:avLst/>
          </a:prstGeom>
          <a:noFill/>
          <a:ln/>
        </p:spPr>
        <p:txBody>
          <a:bodyPr wrap="square" lIns="0" tIns="0" rIns="0" bIns="0" rtlCol="0" anchor="t"/>
          <a:lstStyle/>
          <a:p>
            <a:pPr indent="0" marL="0">
              <a:buNone/>
            </a:pPr>
            <a:r>
              <a:rPr lang="en-US" sz="1800" dirty="0">
                <a:solidFill>
                  <a:srgbClr val="1B2A33"/>
                </a:solidFill>
                <a:latin typeface="Cambria" pitchFamily="34" charset="0"/>
                <a:ea typeface="Cambria" pitchFamily="34" charset="-122"/>
                <a:cs typeface="Cambria" pitchFamily="34" charset="-120"/>
              </a:rPr>
              <a:t>σ</a:t>
            </a:r>
            <a:pPr indent="0" marL="0">
              <a:buNone/>
            </a:pPr>
            <a:r>
              <a:rPr lang="en-US" sz="1800" baseline="-40000" dirty="0">
                <a:solidFill>
                  <a:srgbClr val="1B2A33"/>
                </a:solidFill>
                <a:latin typeface="Cambria" pitchFamily="34" charset="0"/>
                <a:ea typeface="Cambria" pitchFamily="34" charset="-122"/>
                <a:cs typeface="Cambria" pitchFamily="34" charset="-120"/>
              </a:rPr>
              <a:t>vm</a:t>
            </a:r>
            <a:pPr indent="0" marL="0">
              <a:buNone/>
            </a:pPr>
            <a:r>
              <a:rPr lang="en-US" sz="1800" dirty="0">
                <a:solidFill>
                  <a:srgbClr val="1B2A33"/>
                </a:solidFill>
                <a:latin typeface="Cambria" pitchFamily="34" charset="0"/>
                <a:ea typeface="Cambria" pitchFamily="34" charset="-122"/>
                <a:cs typeface="Cambria" pitchFamily="34" charset="-120"/>
              </a:rPr>
              <a:t> = √(3/2 · s : s),   s = σ − ⅓ tr(σ) I</a:t>
            </a:r>
            <a:endParaRPr lang="en-US" sz="1800" dirty="0"/>
          </a:p>
        </p:txBody>
      </p:sp>
      <p:sp>
        <p:nvSpPr>
          <p:cNvPr id="24" name="Text 22"/>
          <p:cNvSpPr txBox="1"/>
          <p:nvPr/>
        </p:nvSpPr>
        <p:spPr>
          <a:xfrm>
            <a:off x="7269480" y="5074920"/>
            <a:ext cx="4114800" cy="77724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Solo la parte desviadora. Localiza dónde se concentra la tensión.</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Método: ejes fijos y libres</a:t>
            </a:r>
            <a:endParaRPr lang="en-US" sz="3600" dirty="0"/>
          </a:p>
        </p:txBody>
      </p:sp>
      <p:sp>
        <p:nvSpPr>
          <p:cNvPr id="3" name="cubo"/>
          <p:cNvSpPr/>
          <p:nvPr/>
        </p:nvSpPr>
        <p:spPr>
          <a:xfrm>
            <a:off x="1005840" y="2651760"/>
            <a:ext cx="2560320" cy="2377440"/>
          </a:xfrm>
          <a:prstGeom prst="rect">
            <a:avLst/>
          </a:prstGeom>
          <a:solidFill>
            <a:srgbClr val="EEF2F3"/>
          </a:solidFill>
          <a:ln w="25400">
            <a:solidFill>
              <a:srgbClr val="1F3A44"/>
            </a:solidFill>
            <a:prstDash val="solid"/>
          </a:ln>
        </p:spPr>
      </p:sp>
      <p:sp>
        <p:nvSpPr>
          <p:cNvPr id="4" name="Text 2"/>
          <p:cNvSpPr txBox="1"/>
          <p:nvPr/>
        </p:nvSpPr>
        <p:spPr>
          <a:xfrm>
            <a:off x="1005840" y="3429000"/>
            <a:ext cx="2560320" cy="822960"/>
          </a:xfrm>
          <a:prstGeom prst="rect">
            <a:avLst/>
          </a:prstGeom>
          <a:noFill/>
          <a:ln/>
        </p:spPr>
        <p:txBody>
          <a:bodyPr wrap="square" lIns="0" tIns="0" rIns="0" bIns="0" rtlCol="0" anchor="t"/>
          <a:lstStyle/>
          <a:p>
            <a:pPr algn="ctr" indent="0" marL="0">
              <a:buNone/>
            </a:pPr>
            <a:r>
              <a:rPr lang="en-US" sz="1800" b="1" dirty="0">
                <a:solidFill>
                  <a:srgbClr val="1F3A44"/>
                </a:solidFill>
                <a:latin typeface="Calibri" pitchFamily="34" charset="0"/>
                <a:ea typeface="Calibri" pitchFamily="34" charset="-122"/>
                <a:cs typeface="Calibri" pitchFamily="34" charset="-120"/>
              </a:rPr>
              <a:t>VOI</a:t>
            </a:r>
            <a:endParaRPr lang="en-US" sz="1800" dirty="0"/>
          </a:p>
          <a:p>
            <a:pPr algn="ctr" indent="0" marL="0">
              <a:buNone/>
            </a:pPr>
            <a:r>
              <a:rPr lang="en-US" sz="1800" b="1" dirty="0">
                <a:solidFill>
                  <a:srgbClr val="1F3A44"/>
                </a:solidFill>
                <a:latin typeface="Calibri" pitchFamily="34" charset="0"/>
                <a:ea typeface="Calibri" pitchFamily="34" charset="-122"/>
                <a:cs typeface="Calibri" pitchFamily="34" charset="-120"/>
              </a:rPr>
              <a:t>3,0 mm</a:t>
            </a:r>
            <a:endParaRPr lang="en-US" sz="1800" dirty="0"/>
          </a:p>
        </p:txBody>
      </p:sp>
      <p:sp>
        <p:nvSpPr>
          <p:cNvPr id="5" name="apoyo"/>
          <p:cNvSpPr/>
          <p:nvPr/>
        </p:nvSpPr>
        <p:spPr>
          <a:xfrm>
            <a:off x="731520" y="5029200"/>
            <a:ext cx="3108960" cy="274320"/>
          </a:xfrm>
          <a:prstGeom prst="rect">
            <a:avLst/>
          </a:prstGeom>
          <a:solidFill>
            <a:srgbClr val="5B6573"/>
          </a:solidFill>
          <a:ln w="12700">
            <a:solidFill>
              <a:srgbClr val="5B6573"/>
            </a:solidFill>
            <a:prstDash val="solid"/>
          </a:ln>
        </p:spPr>
      </p:sp>
      <p:sp>
        <p:nvSpPr>
          <p:cNvPr id="6" name="rayado 0"/>
          <p:cNvSpPr/>
          <p:nvPr/>
        </p:nvSpPr>
        <p:spPr>
          <a:xfrm>
            <a:off x="731520" y="5303520"/>
            <a:ext cx="-201168" cy="237744"/>
          </a:xfrm>
          <a:prstGeom prst="line">
            <a:avLst/>
          </a:prstGeom>
          <a:noFill/>
          <a:ln w="19050">
            <a:solidFill>
              <a:srgbClr val="5B6573"/>
            </a:solidFill>
            <a:prstDash val="solid"/>
          </a:ln>
        </p:spPr>
      </p:sp>
      <p:sp>
        <p:nvSpPr>
          <p:cNvPr id="7" name="rayado 1"/>
          <p:cNvSpPr/>
          <p:nvPr/>
        </p:nvSpPr>
        <p:spPr>
          <a:xfrm>
            <a:off x="1097280" y="5303520"/>
            <a:ext cx="-201168" cy="237744"/>
          </a:xfrm>
          <a:prstGeom prst="line">
            <a:avLst/>
          </a:prstGeom>
          <a:noFill/>
          <a:ln w="19050">
            <a:solidFill>
              <a:srgbClr val="5B6573"/>
            </a:solidFill>
            <a:prstDash val="solid"/>
          </a:ln>
        </p:spPr>
      </p:sp>
      <p:sp>
        <p:nvSpPr>
          <p:cNvPr id="8" name="rayado 2"/>
          <p:cNvSpPr/>
          <p:nvPr/>
        </p:nvSpPr>
        <p:spPr>
          <a:xfrm>
            <a:off x="1463040" y="5303520"/>
            <a:ext cx="-201168" cy="237744"/>
          </a:xfrm>
          <a:prstGeom prst="line">
            <a:avLst/>
          </a:prstGeom>
          <a:noFill/>
          <a:ln w="19050">
            <a:solidFill>
              <a:srgbClr val="5B6573"/>
            </a:solidFill>
            <a:prstDash val="solid"/>
          </a:ln>
        </p:spPr>
      </p:sp>
      <p:sp>
        <p:nvSpPr>
          <p:cNvPr id="9" name="rayado 3"/>
          <p:cNvSpPr/>
          <p:nvPr/>
        </p:nvSpPr>
        <p:spPr>
          <a:xfrm>
            <a:off x="1828800" y="5303520"/>
            <a:ext cx="-201168" cy="237744"/>
          </a:xfrm>
          <a:prstGeom prst="line">
            <a:avLst/>
          </a:prstGeom>
          <a:noFill/>
          <a:ln w="19050">
            <a:solidFill>
              <a:srgbClr val="5B6573"/>
            </a:solidFill>
            <a:prstDash val="solid"/>
          </a:ln>
        </p:spPr>
      </p:sp>
      <p:sp>
        <p:nvSpPr>
          <p:cNvPr id="10" name="rayado 4"/>
          <p:cNvSpPr/>
          <p:nvPr/>
        </p:nvSpPr>
        <p:spPr>
          <a:xfrm>
            <a:off x="2194560" y="5303520"/>
            <a:ext cx="-201168" cy="237744"/>
          </a:xfrm>
          <a:prstGeom prst="line">
            <a:avLst/>
          </a:prstGeom>
          <a:noFill/>
          <a:ln w="19050">
            <a:solidFill>
              <a:srgbClr val="5B6573"/>
            </a:solidFill>
            <a:prstDash val="solid"/>
          </a:ln>
        </p:spPr>
      </p:sp>
      <p:sp>
        <p:nvSpPr>
          <p:cNvPr id="11" name="rayado 5"/>
          <p:cNvSpPr/>
          <p:nvPr/>
        </p:nvSpPr>
        <p:spPr>
          <a:xfrm>
            <a:off x="2560320" y="5303520"/>
            <a:ext cx="-201168" cy="237744"/>
          </a:xfrm>
          <a:prstGeom prst="line">
            <a:avLst/>
          </a:prstGeom>
          <a:noFill/>
          <a:ln w="19050">
            <a:solidFill>
              <a:srgbClr val="5B6573"/>
            </a:solidFill>
            <a:prstDash val="solid"/>
          </a:ln>
        </p:spPr>
      </p:sp>
      <p:sp>
        <p:nvSpPr>
          <p:cNvPr id="12" name="rayado 6"/>
          <p:cNvSpPr/>
          <p:nvPr/>
        </p:nvSpPr>
        <p:spPr>
          <a:xfrm>
            <a:off x="2926080" y="5303520"/>
            <a:ext cx="-201168" cy="237744"/>
          </a:xfrm>
          <a:prstGeom prst="line">
            <a:avLst/>
          </a:prstGeom>
          <a:noFill/>
          <a:ln w="19050">
            <a:solidFill>
              <a:srgbClr val="5B6573"/>
            </a:solidFill>
            <a:prstDash val="solid"/>
          </a:ln>
        </p:spPr>
      </p:sp>
      <p:sp>
        <p:nvSpPr>
          <p:cNvPr id="13" name="rayado 7"/>
          <p:cNvSpPr/>
          <p:nvPr/>
        </p:nvSpPr>
        <p:spPr>
          <a:xfrm>
            <a:off x="3291840" y="5303520"/>
            <a:ext cx="-201168" cy="237744"/>
          </a:xfrm>
          <a:prstGeom prst="line">
            <a:avLst/>
          </a:prstGeom>
          <a:noFill/>
          <a:ln w="19050">
            <a:solidFill>
              <a:srgbClr val="5B6573"/>
            </a:solidFill>
            <a:prstDash val="solid"/>
          </a:ln>
        </p:spPr>
      </p:sp>
      <p:sp>
        <p:nvSpPr>
          <p:cNvPr id="14" name="rayado 8"/>
          <p:cNvSpPr/>
          <p:nvPr/>
        </p:nvSpPr>
        <p:spPr>
          <a:xfrm>
            <a:off x="3657600" y="5303520"/>
            <a:ext cx="-201168" cy="237744"/>
          </a:xfrm>
          <a:prstGeom prst="line">
            <a:avLst/>
          </a:prstGeom>
          <a:noFill/>
          <a:ln w="19050">
            <a:solidFill>
              <a:srgbClr val="5B6573"/>
            </a:solidFill>
            <a:prstDash val="solid"/>
          </a:ln>
        </p:spPr>
      </p:sp>
      <p:sp>
        <p:nvSpPr>
          <p:cNvPr id="15" name="Text 13"/>
          <p:cNvSpPr txBox="1"/>
          <p:nvPr/>
        </p:nvSpPr>
        <p:spPr>
          <a:xfrm>
            <a:off x="457200" y="5623560"/>
            <a:ext cx="3657600" cy="365760"/>
          </a:xfrm>
          <a:prstGeom prst="rect">
            <a:avLst/>
          </a:prstGeom>
          <a:noFill/>
          <a:ln/>
        </p:spPr>
        <p:txBody>
          <a:bodyPr wrap="square" lIns="0" tIns="0" rIns="0" bIns="0" rtlCol="0" anchor="t"/>
          <a:lstStyle/>
          <a:p>
            <a:pPr algn="ctr" indent="0" marL="0">
              <a:buNone/>
            </a:pPr>
            <a:r>
              <a:rPr lang="en-US" sz="1400" b="1" dirty="0">
                <a:solidFill>
                  <a:srgbClr val="1B2A33"/>
                </a:solidFill>
                <a:latin typeface="Calibri" pitchFamily="34" charset="0"/>
                <a:ea typeface="Calibri" pitchFamily="34" charset="-122"/>
                <a:cs typeface="Calibri" pitchFamily="34" charset="-120"/>
              </a:rPr>
              <a:t>Base: ux = uy = uz = 0</a:t>
            </a:r>
            <a:endParaRPr lang="en-US" sz="1400" dirty="0"/>
          </a:p>
        </p:txBody>
      </p:sp>
      <p:sp>
        <p:nvSpPr>
          <p:cNvPr id="16" name="carga 0"/>
          <p:cNvSpPr/>
          <p:nvPr/>
        </p:nvSpPr>
        <p:spPr>
          <a:xfrm>
            <a:off x="1280160" y="1874520"/>
            <a:ext cx="0" cy="685800"/>
          </a:xfrm>
          <a:prstGeom prst="line">
            <a:avLst/>
          </a:prstGeom>
          <a:noFill/>
          <a:ln w="31750">
            <a:solidFill>
              <a:srgbClr val="C8553D"/>
            </a:solidFill>
            <a:prstDash val="solid"/>
            <a:tailEnd type="triangle"/>
          </a:ln>
        </p:spPr>
      </p:sp>
      <p:sp>
        <p:nvSpPr>
          <p:cNvPr id="17" name="carga 1"/>
          <p:cNvSpPr/>
          <p:nvPr/>
        </p:nvSpPr>
        <p:spPr>
          <a:xfrm>
            <a:off x="1783080" y="1874520"/>
            <a:ext cx="0" cy="685800"/>
          </a:xfrm>
          <a:prstGeom prst="line">
            <a:avLst/>
          </a:prstGeom>
          <a:noFill/>
          <a:ln w="31750">
            <a:solidFill>
              <a:srgbClr val="C8553D"/>
            </a:solidFill>
            <a:prstDash val="solid"/>
            <a:tailEnd type="triangle"/>
          </a:ln>
        </p:spPr>
      </p:sp>
      <p:sp>
        <p:nvSpPr>
          <p:cNvPr id="18" name="carga 2"/>
          <p:cNvSpPr/>
          <p:nvPr/>
        </p:nvSpPr>
        <p:spPr>
          <a:xfrm>
            <a:off x="2286000" y="1874520"/>
            <a:ext cx="0" cy="685800"/>
          </a:xfrm>
          <a:prstGeom prst="line">
            <a:avLst/>
          </a:prstGeom>
          <a:noFill/>
          <a:ln w="31750">
            <a:solidFill>
              <a:srgbClr val="C8553D"/>
            </a:solidFill>
            <a:prstDash val="solid"/>
            <a:tailEnd type="triangle"/>
          </a:ln>
        </p:spPr>
      </p:sp>
      <p:sp>
        <p:nvSpPr>
          <p:cNvPr id="19" name="carga 3"/>
          <p:cNvSpPr/>
          <p:nvPr/>
        </p:nvSpPr>
        <p:spPr>
          <a:xfrm>
            <a:off x="2788920" y="1874520"/>
            <a:ext cx="0" cy="685800"/>
          </a:xfrm>
          <a:prstGeom prst="line">
            <a:avLst/>
          </a:prstGeom>
          <a:noFill/>
          <a:ln w="31750">
            <a:solidFill>
              <a:srgbClr val="C8553D"/>
            </a:solidFill>
            <a:prstDash val="solid"/>
            <a:tailEnd type="triangle"/>
          </a:ln>
        </p:spPr>
      </p:sp>
      <p:sp>
        <p:nvSpPr>
          <p:cNvPr id="20" name="carga 4"/>
          <p:cNvSpPr/>
          <p:nvPr/>
        </p:nvSpPr>
        <p:spPr>
          <a:xfrm>
            <a:off x="3291840" y="1874520"/>
            <a:ext cx="0" cy="685800"/>
          </a:xfrm>
          <a:prstGeom prst="line">
            <a:avLst/>
          </a:prstGeom>
          <a:noFill/>
          <a:ln w="31750">
            <a:solidFill>
              <a:srgbClr val="C8553D"/>
            </a:solidFill>
            <a:prstDash val="solid"/>
            <a:tailEnd type="triangle"/>
          </a:ln>
        </p:spPr>
      </p:sp>
      <p:sp>
        <p:nvSpPr>
          <p:cNvPr id="21" name="Text 19"/>
          <p:cNvSpPr txBox="1"/>
          <p:nvPr/>
        </p:nvSpPr>
        <p:spPr>
          <a:xfrm>
            <a:off x="457200" y="1417320"/>
            <a:ext cx="3657600" cy="365760"/>
          </a:xfrm>
          <a:prstGeom prst="rect">
            <a:avLst/>
          </a:prstGeom>
          <a:noFill/>
          <a:ln/>
        </p:spPr>
        <p:txBody>
          <a:bodyPr wrap="square" lIns="0" tIns="0" rIns="0" bIns="0" rtlCol="0" anchor="t"/>
          <a:lstStyle/>
          <a:p>
            <a:pPr algn="ctr" indent="0" marL="0">
              <a:buNone/>
            </a:pPr>
            <a:r>
              <a:rPr lang="en-US" sz="1400" b="1" dirty="0">
                <a:solidFill>
                  <a:srgbClr val="C8553D"/>
                </a:solidFill>
                <a:latin typeface="Calibri" pitchFamily="34" charset="0"/>
                <a:ea typeface="Calibri" pitchFamily="34" charset="-122"/>
                <a:cs typeface="Calibri" pitchFamily="34" charset="-120"/>
              </a:rPr>
              <a:t>100 N en −z sobre las caras óseas</a:t>
            </a:r>
            <a:endParaRPr lang="en-US" sz="1400" dirty="0"/>
          </a:p>
        </p:txBody>
      </p:sp>
      <p:sp>
        <p:nvSpPr>
          <p:cNvPr id="22" name="libre izq"/>
          <p:cNvSpPr/>
          <p:nvPr/>
        </p:nvSpPr>
        <p:spPr>
          <a:xfrm>
            <a:off x="228600" y="2743200"/>
            <a:ext cx="640080" cy="0"/>
          </a:xfrm>
          <a:prstGeom prst="line">
            <a:avLst/>
          </a:prstGeom>
          <a:noFill/>
          <a:ln w="25400">
            <a:solidFill>
              <a:srgbClr val="2E7D7A"/>
            </a:solidFill>
            <a:prstDash val="solid"/>
            <a:headEnd type="triangle"/>
            <a:tailEnd type="triangle"/>
          </a:ln>
        </p:spPr>
      </p:sp>
      <p:sp>
        <p:nvSpPr>
          <p:cNvPr id="23" name="libre der"/>
          <p:cNvSpPr/>
          <p:nvPr/>
        </p:nvSpPr>
        <p:spPr>
          <a:xfrm>
            <a:off x="3703320" y="2743200"/>
            <a:ext cx="640080" cy="0"/>
          </a:xfrm>
          <a:prstGeom prst="line">
            <a:avLst/>
          </a:prstGeom>
          <a:noFill/>
          <a:ln w="25400">
            <a:solidFill>
              <a:srgbClr val="2E7D7A"/>
            </a:solidFill>
            <a:prstDash val="solid"/>
            <a:headEnd type="triangle"/>
            <a:tailEnd type="triangle"/>
          </a:ln>
        </p:spPr>
      </p:sp>
      <p:sp>
        <p:nvSpPr>
          <p:cNvPr id="24" name="Text 22"/>
          <p:cNvSpPr txBox="1"/>
          <p:nvPr/>
        </p:nvSpPr>
        <p:spPr>
          <a:xfrm>
            <a:off x="3703320" y="2834640"/>
            <a:ext cx="1371600" cy="274320"/>
          </a:xfrm>
          <a:prstGeom prst="rect">
            <a:avLst/>
          </a:prstGeom>
          <a:noFill/>
          <a:ln/>
        </p:spPr>
        <p:txBody>
          <a:bodyPr wrap="square" lIns="0" tIns="0" rIns="0" bIns="0" rtlCol="0" anchor="t"/>
          <a:lstStyle/>
          <a:p>
            <a:pPr indent="0" marL="0">
              <a:buNone/>
            </a:pPr>
            <a:r>
              <a:rPr lang="en-US" sz="1200" b="1" dirty="0">
                <a:solidFill>
                  <a:srgbClr val="2E7D7A"/>
                </a:solidFill>
                <a:latin typeface="Calibri" pitchFamily="34" charset="0"/>
                <a:ea typeface="Calibri" pitchFamily="34" charset="-122"/>
                <a:cs typeface="Calibri" pitchFamily="34" charset="-120"/>
              </a:rPr>
              <a:t>x, y libres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937760" y="1463040"/>
          <a:ext cx="6675120" cy="914400"/>
        </p:xfrm>
        <a:graphic>
          <a:graphicData uri="http://schemas.openxmlformats.org/drawingml/2006/table">
            <a:tbl>
              <a:tblPr/>
              <a:tblGrid>
                <a:gridCol w="1737360"/>
                <a:gridCol w="731520"/>
                <a:gridCol w="731520"/>
                <a:gridCol w="731520"/>
                <a:gridCol w="2743200"/>
              </a:tblGrid>
              <a:tr h="50292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Superficie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ux</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uy</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uz</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Carga</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r>
              <a:tr h="502920">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Base (z = 0)</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C8553D"/>
                          </a:solidFill>
                          <a:latin typeface="Calibri" pitchFamily="34" charset="0"/>
                          <a:ea typeface="Calibri" pitchFamily="34" charset="-122"/>
                          <a:cs typeface="Calibri" pitchFamily="34" charset="-120"/>
                        </a:rPr>
                        <a:t>fijo</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C8553D"/>
                          </a:solidFill>
                          <a:latin typeface="Calibri" pitchFamily="34" charset="0"/>
                          <a:ea typeface="Calibri" pitchFamily="34" charset="-122"/>
                          <a:cs typeface="Calibri" pitchFamily="34" charset="-120"/>
                        </a:rPr>
                        <a:t>fijo</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C8553D"/>
                          </a:solidFill>
                          <a:latin typeface="Calibri" pitchFamily="34" charset="0"/>
                          <a:ea typeface="Calibri" pitchFamily="34" charset="-122"/>
                          <a:cs typeface="Calibri" pitchFamily="34" charset="-120"/>
                        </a:rPr>
                        <a:t>fijo</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ninguna</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502920">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Cara superior</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2E7D7A"/>
                          </a:solidFill>
                          <a:latin typeface="Calibri" pitchFamily="34" charset="0"/>
                          <a:ea typeface="Calibri" pitchFamily="34" charset="-122"/>
                          <a:cs typeface="Calibri" pitchFamily="34" charset="-120"/>
                        </a:rPr>
                        <a:t>libre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2E7D7A"/>
                          </a:solidFill>
                          <a:latin typeface="Calibri" pitchFamily="34" charset="0"/>
                          <a:ea typeface="Calibri" pitchFamily="34" charset="-122"/>
                          <a:cs typeface="Calibri" pitchFamily="34" charset="-120"/>
                        </a:rPr>
                        <a:t>libre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2E7D7A"/>
                          </a:solidFill>
                          <a:latin typeface="Calibri" pitchFamily="34" charset="0"/>
                          <a:ea typeface="Calibri" pitchFamily="34" charset="-122"/>
                          <a:cs typeface="Calibri" pitchFamily="34" charset="-120"/>
                        </a:rPr>
                        <a:t>libre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100 N como presión uniforme sobre las caras óseas, sin plato</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502920">
                <a:tc>
                  <a:txBody>
                    <a:bodyPr/>
                    <a:lstStyle/>
                    <a:p>
                      <a:pPr indent="0" marL="0">
                        <a:buNone/>
                      </a:pPr>
                      <a:r>
                        <a:rPr lang="en-US" sz="1400" b="1" dirty="0">
                          <a:solidFill>
                            <a:srgbClr val="000000"/>
                          </a:solidFill>
                          <a:latin typeface="Calibri" pitchFamily="34" charset="0"/>
                          <a:ea typeface="Calibri" pitchFamily="34" charset="-122"/>
                          <a:cs typeface="Calibri" pitchFamily="34" charset="-120"/>
                        </a:rPr>
                        <a:t>Caras laterales</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2E7D7A"/>
                          </a:solidFill>
                          <a:latin typeface="Calibri" pitchFamily="34" charset="0"/>
                          <a:ea typeface="Calibri" pitchFamily="34" charset="-122"/>
                          <a:cs typeface="Calibri" pitchFamily="34" charset="-120"/>
                        </a:rPr>
                        <a:t>libre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2E7D7A"/>
                          </a:solidFill>
                          <a:latin typeface="Calibri" pitchFamily="34" charset="0"/>
                          <a:ea typeface="Calibri" pitchFamily="34" charset="-122"/>
                          <a:cs typeface="Calibri" pitchFamily="34" charset="-120"/>
                        </a:rPr>
                        <a:t>libre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2E7D7A"/>
                          </a:solidFill>
                          <a:latin typeface="Calibri" pitchFamily="34" charset="0"/>
                          <a:ea typeface="Calibri" pitchFamily="34" charset="-122"/>
                          <a:cs typeface="Calibri" pitchFamily="34" charset="-120"/>
                        </a:rPr>
                        <a:t>libre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ninguna</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bl>
          </a:graphicData>
        </a:graphic>
      </p:graphicFrame>
      <p:sp>
        <p:nvSpPr>
          <p:cNvPr id="26" name="Text 23"/>
          <p:cNvSpPr txBox="1"/>
          <p:nvPr/>
        </p:nvSpPr>
        <p:spPr>
          <a:xfrm>
            <a:off x="4937760" y="3657600"/>
            <a:ext cx="6675120" cy="2651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A33"/>
                </a:solidFill>
                <a:latin typeface="Calibri" pitchFamily="34" charset="0"/>
                <a:ea typeface="Calibri" pitchFamily="34" charset="-122"/>
                <a:cs typeface="Calibri" pitchFamily="34" charset="-120"/>
              </a:rPr>
              <a:t>Base empotrada: adherida, con fricción infinita contra el plato. Es la condición del protocolo de Tapia aquí replicado.</a:t>
            </a:r>
            <a:endParaRPr lang="en-US" sz="1400" dirty="0"/>
          </a:p>
          <a:p>
            <a:pPr marL="342900" indent="-342900">
              <a:spcAft>
                <a:spcPts val="500"/>
              </a:spcAft>
              <a:buSzPct val="100000"/>
              <a:buChar char="•"/>
            </a:pPr>
            <a:r>
              <a:rPr lang="en-US" sz="1400" dirty="0">
                <a:solidFill>
                  <a:srgbClr val="1B2A33"/>
                </a:solidFill>
                <a:latin typeface="Calibri" pitchFamily="34" charset="0"/>
                <a:ea typeface="Calibri" pitchFamily="34" charset="-122"/>
                <a:cs typeface="Calibri" pitchFamily="34" charset="-120"/>
              </a:rPr>
              <a:t>Carga: presión uniforme σ·A_bruta/A_ósea sobre las caras óseas de la cima, no un plato rígido. Con un plato la rigidez sube (ver sensibilidad).</a:t>
            </a:r>
            <a:endParaRPr lang="en-US" sz="1400" dirty="0"/>
          </a:p>
          <a:p>
            <a:pPr marL="342900" indent="-342900">
              <a:spcAft>
                <a:spcPts val="500"/>
              </a:spcAft>
              <a:buSzPct val="100000"/>
              <a:buChar char="•"/>
            </a:pPr>
            <a:r>
              <a:rPr lang="en-US" sz="1400" dirty="0">
                <a:solidFill>
                  <a:srgbClr val="1B2A33"/>
                </a:solidFill>
                <a:latin typeface="Calibri" pitchFamily="34" charset="0"/>
                <a:ea typeface="Calibri" pitchFamily="34" charset="-122"/>
                <a:cs typeface="Calibri" pitchFamily="34" charset="-120"/>
              </a:rPr>
              <a:t>Contraste, apoyo deslizante: uz = 0 en la base y solo anclajes contra el movimiento rígido.</a:t>
            </a:r>
            <a:endParaRPr lang="en-US" sz="1400" dirty="0"/>
          </a:p>
          <a:p>
            <a:pPr marL="342900" indent="-342900">
              <a:spcAft>
                <a:spcPts val="500"/>
              </a:spcAft>
              <a:buSzPct val="100000"/>
              <a:buChar char="•"/>
            </a:pPr>
            <a:r>
              <a:rPr lang="en-US" sz="1400" dirty="0">
                <a:solidFill>
                  <a:srgbClr val="1B2A33"/>
                </a:solidFill>
                <a:latin typeface="Calibri" pitchFamily="34" charset="0"/>
                <a:ea typeface="Calibri" pitchFamily="34" charset="-122"/>
                <a:cs typeface="Calibri" pitchFamily="34" charset="-120"/>
              </a:rPr>
              <a:t>Malla de 40³ hexaedros (h = 75 µm); NGSolve con solver directo. La app solo actúa como control del solver. Tapia usa otro elemento y 50 µm.</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Chequeo con un cubo macizo</a:t>
            </a:r>
            <a:endParaRPr lang="en-US" sz="3600" dirty="0"/>
          </a:p>
        </p:txBody>
      </p:sp>
      <p:pic>
        <p:nvPicPr>
          <p:cNvPr id="3" name="figura cubo" descr="/home/user/spinpy/comparativa_motores/tapia_c1_c5/figs/bloque.png">    </p:cNvPr>
          <p:cNvPicPr>
            <a:picLocks noChangeAspect="1"/>
          </p:cNvPicPr>
          <p:nvPr/>
        </p:nvPicPr>
        <p:blipFill>
          <a:blip r:embed="rId1"/>
          <a:stretch>
            <a:fillRect/>
          </a:stretch>
        </p:blipFill>
        <p:spPr>
          <a:xfrm>
            <a:off x="548640" y="1280160"/>
            <a:ext cx="5029200" cy="5084947"/>
          </a:xfrm>
          <a:prstGeom prst="rect">
            <a:avLst/>
          </a:prstGeom>
        </p:spPr>
      </p:pic>
      <p:sp>
        <p:nvSpPr>
          <p:cNvPr id="4" name="caja 0"/>
          <p:cNvSpPr/>
          <p:nvPr/>
        </p:nvSpPr>
        <p:spPr>
          <a:xfrm>
            <a:off x="5943600" y="1325880"/>
            <a:ext cx="5669280" cy="1508760"/>
          </a:xfrm>
          <a:prstGeom prst="roundRect">
            <a:avLst>
              <a:gd name="adj" fmla="val 4848"/>
            </a:avLst>
          </a:prstGeom>
          <a:solidFill>
            <a:srgbClr val="EEF2F3"/>
          </a:solidFill>
          <a:ln w="12700">
            <a:solidFill>
              <a:srgbClr val="EEF2F3"/>
            </a:solidFill>
            <a:prstDash val="solid"/>
          </a:ln>
        </p:spPr>
      </p:sp>
      <p:sp>
        <p:nvSpPr>
          <p:cNvPr id="5" name="Text 2"/>
          <p:cNvSpPr txBox="1"/>
          <p:nvPr/>
        </p:nvSpPr>
        <p:spPr>
          <a:xfrm>
            <a:off x="6172200" y="1435608"/>
            <a:ext cx="5212080" cy="365760"/>
          </a:xfrm>
          <a:prstGeom prst="rect">
            <a:avLst/>
          </a:prstGeom>
          <a:noFill/>
          <a:ln/>
        </p:spPr>
        <p:txBody>
          <a:bodyPr wrap="square" lIns="0" tIns="0" rIns="0" bIns="0" rtlCol="0" anchor="t"/>
          <a:lstStyle/>
          <a:p>
            <a:pPr indent="0" marL="0">
              <a:buNone/>
            </a:pPr>
            <a:r>
              <a:rPr lang="en-US" sz="1800" b="1" dirty="0">
                <a:solidFill>
                  <a:srgbClr val="2E7D7A"/>
                </a:solidFill>
                <a:latin typeface="Calibri" pitchFamily="34" charset="0"/>
                <a:ea typeface="Calibri" pitchFamily="34" charset="-122"/>
                <a:cs typeface="Calibri" pitchFamily="34" charset="-120"/>
              </a:rPr>
              <a:t>Apoyo deslizante: exacto</a:t>
            </a:r>
            <a:endParaRPr lang="en-US" sz="1800" dirty="0"/>
          </a:p>
        </p:txBody>
      </p:sp>
      <p:sp>
        <p:nvSpPr>
          <p:cNvPr id="6" name="Text 3"/>
          <p:cNvSpPr txBox="1"/>
          <p:nvPr/>
        </p:nvSpPr>
        <p:spPr>
          <a:xfrm>
            <a:off x="6172200" y="1856232"/>
            <a:ext cx="5212080" cy="914400"/>
          </a:xfrm>
          <a:prstGeom prst="rect">
            <a:avLst/>
          </a:prstGeom>
          <a:noFill/>
          <a:ln/>
        </p:spPr>
        <p:txBody>
          <a:bodyPr wrap="square" lIns="0" tIns="0" rIns="0" bIns="0" rtlCol="0" anchor="t"/>
          <a:lstStyle/>
          <a:p>
            <a:pPr indent="0" marL="0">
              <a:buNone/>
            </a:pPr>
            <a:r>
              <a:rPr lang="en-US" sz="1400" dirty="0">
                <a:solidFill>
                  <a:srgbClr val="1B2A33"/>
                </a:solidFill>
                <a:latin typeface="Calibri" pitchFamily="34" charset="0"/>
                <a:ea typeface="Calibri" pitchFamily="34" charset="-122"/>
                <a:cs typeface="Calibri" pitchFamily="34" charset="-120"/>
              </a:rPr>
              <a:t>E aparente / E del tejido = 1,000000000002. Von Mises = σ = 11,05 MPa en todo el cubo. Desplazamientos exactos a 10⁻⁹.</a:t>
            </a:r>
            <a:endParaRPr lang="en-US" sz="1400" dirty="0"/>
          </a:p>
        </p:txBody>
      </p:sp>
      <p:sp>
        <p:nvSpPr>
          <p:cNvPr id="7" name="caja 1"/>
          <p:cNvSpPr/>
          <p:nvPr/>
        </p:nvSpPr>
        <p:spPr>
          <a:xfrm>
            <a:off x="5943600" y="2971800"/>
            <a:ext cx="5669280" cy="1508760"/>
          </a:xfrm>
          <a:prstGeom prst="roundRect">
            <a:avLst>
              <a:gd name="adj" fmla="val 4848"/>
            </a:avLst>
          </a:prstGeom>
          <a:solidFill>
            <a:srgbClr val="EEF2F3"/>
          </a:solidFill>
          <a:ln w="12700">
            <a:solidFill>
              <a:srgbClr val="EEF2F3"/>
            </a:solidFill>
            <a:prstDash val="solid"/>
          </a:ln>
        </p:spPr>
      </p:sp>
      <p:sp>
        <p:nvSpPr>
          <p:cNvPr id="8" name="Text 5"/>
          <p:cNvSpPr txBox="1"/>
          <p:nvPr/>
        </p:nvSpPr>
        <p:spPr>
          <a:xfrm>
            <a:off x="6172200" y="3081528"/>
            <a:ext cx="5212080" cy="365760"/>
          </a:xfrm>
          <a:prstGeom prst="rect">
            <a:avLst/>
          </a:prstGeom>
          <a:noFill/>
          <a:ln/>
        </p:spPr>
        <p:txBody>
          <a:bodyPr wrap="square" lIns="0" tIns="0" rIns="0" bIns="0" rtlCol="0" anchor="t"/>
          <a:lstStyle/>
          <a:p>
            <a:pPr indent="0" marL="0">
              <a:buNone/>
            </a:pPr>
            <a:r>
              <a:rPr lang="en-US" sz="1800" b="1" dirty="0">
                <a:solidFill>
                  <a:srgbClr val="C8553D"/>
                </a:solidFill>
                <a:latin typeface="Calibri" pitchFamily="34" charset="0"/>
                <a:ea typeface="Calibri" pitchFamily="34" charset="-122"/>
                <a:cs typeface="Calibri" pitchFamily="34" charset="-120"/>
              </a:rPr>
              <a:t>Base empotrada: no es uniaxial</a:t>
            </a:r>
            <a:endParaRPr lang="en-US" sz="1800" dirty="0"/>
          </a:p>
        </p:txBody>
      </p:sp>
      <p:sp>
        <p:nvSpPr>
          <p:cNvPr id="9" name="Text 6"/>
          <p:cNvSpPr txBox="1"/>
          <p:nvPr/>
        </p:nvSpPr>
        <p:spPr>
          <a:xfrm>
            <a:off x="6172200" y="3502152"/>
            <a:ext cx="5212080" cy="914400"/>
          </a:xfrm>
          <a:prstGeom prst="rect">
            <a:avLst/>
          </a:prstGeom>
          <a:noFill/>
          <a:ln/>
        </p:spPr>
        <p:txBody>
          <a:bodyPr wrap="square" lIns="0" tIns="0" rIns="0" bIns="0" rtlCol="0" anchor="t"/>
          <a:lstStyle/>
          <a:p>
            <a:pPr indent="0" marL="0">
              <a:buNone/>
            </a:pPr>
            <a:r>
              <a:rPr lang="en-US" sz="1400" dirty="0">
                <a:solidFill>
                  <a:srgbClr val="1B2A33"/>
                </a:solidFill>
                <a:latin typeface="Calibri" pitchFamily="34" charset="0"/>
                <a:ea typeface="Calibri" pitchFamily="34" charset="-122"/>
                <a:cs typeface="Calibri" pitchFamily="34" charset="-120"/>
              </a:rPr>
              <a:t>E_app es 3,1 % mayor. Von Mises máximo = 1,76 σ en las esquinas de la base (a 40³; con 16³ era 1,27 σ: crece al refinar). El borde superior se expande 51 % de lo libre.</a:t>
            </a:r>
            <a:endParaRPr lang="en-US" sz="1400" dirty="0"/>
          </a:p>
        </p:txBody>
      </p:sp>
      <p:sp>
        <p:nvSpPr>
          <p:cNvPr id="10" name="caja 2"/>
          <p:cNvSpPr/>
          <p:nvPr/>
        </p:nvSpPr>
        <p:spPr>
          <a:xfrm>
            <a:off x="5943600" y="4617720"/>
            <a:ext cx="5669280" cy="1508760"/>
          </a:xfrm>
          <a:prstGeom prst="roundRect">
            <a:avLst>
              <a:gd name="adj" fmla="val 4848"/>
            </a:avLst>
          </a:prstGeom>
          <a:solidFill>
            <a:srgbClr val="EEF2F3"/>
          </a:solidFill>
          <a:ln w="12700">
            <a:solidFill>
              <a:srgbClr val="EEF2F3"/>
            </a:solidFill>
            <a:prstDash val="solid"/>
          </a:ln>
        </p:spPr>
      </p:sp>
      <p:sp>
        <p:nvSpPr>
          <p:cNvPr id="11" name="Text 8"/>
          <p:cNvSpPr txBox="1"/>
          <p:nvPr/>
        </p:nvSpPr>
        <p:spPr>
          <a:xfrm>
            <a:off x="6172200" y="4727448"/>
            <a:ext cx="5212080" cy="365760"/>
          </a:xfrm>
          <a:prstGeom prst="rect">
            <a:avLst/>
          </a:prstGeom>
          <a:noFill/>
          <a:ln/>
        </p:spPr>
        <p:txBody>
          <a:bodyPr wrap="square" lIns="0" tIns="0" rIns="0" bIns="0" rtlCol="0" anchor="t"/>
          <a:lstStyle/>
          <a:p>
            <a:pPr indent="0" marL="0">
              <a:buNone/>
            </a:pPr>
            <a:r>
              <a:rPr lang="en-US" sz="1800" b="1" dirty="0">
                <a:solidFill>
                  <a:srgbClr val="1F3A44"/>
                </a:solidFill>
                <a:latin typeface="Calibri" pitchFamily="34" charset="0"/>
                <a:ea typeface="Calibri" pitchFamily="34" charset="-122"/>
                <a:cs typeface="Calibri" pitchFamily="34" charset="-120"/>
              </a:rPr>
              <a:t>Lectura</a:t>
            </a:r>
            <a:endParaRPr lang="en-US" sz="1800" dirty="0"/>
          </a:p>
        </p:txBody>
      </p:sp>
      <p:sp>
        <p:nvSpPr>
          <p:cNvPr id="12" name="Text 9"/>
          <p:cNvSpPr txBox="1"/>
          <p:nvPr/>
        </p:nvSpPr>
        <p:spPr>
          <a:xfrm>
            <a:off x="6172200" y="5148072"/>
            <a:ext cx="5212080" cy="914400"/>
          </a:xfrm>
          <a:prstGeom prst="rect">
            <a:avLst/>
          </a:prstGeom>
          <a:noFill/>
          <a:ln/>
        </p:spPr>
        <p:txBody>
          <a:bodyPr wrap="square" lIns="0" tIns="0" rIns="0" bIns="0" rtlCol="0" anchor="t"/>
          <a:lstStyle/>
          <a:p>
            <a:pPr indent="0" marL="0">
              <a:buNone/>
            </a:pPr>
            <a:r>
              <a:rPr lang="en-US" sz="1400" dirty="0">
                <a:solidFill>
                  <a:srgbClr val="1B2A33"/>
                </a:solidFill>
                <a:latin typeface="Calibri" pitchFamily="34" charset="0"/>
                <a:ea typeface="Calibri" pitchFamily="34" charset="-122"/>
                <a:cs typeface="Calibri" pitchFamily="34" charset="-120"/>
              </a:rPr>
              <a:t>La base fija impide que el material se dilate lateralmente: rigidiza y concentra tensión. La cara superior sí tiene x e y libres.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Sanidad de todos los análisis</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7955280"/>
                <a:gridCol w="1280160"/>
                <a:gridCol w="182880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Análisis (solución exacta o equilibrio)</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Pruebas</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Error máx. frente a lo exacto</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r>
              <a:tr h="68580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Compresión lineal con apoyo deslizante: E_app, von Mises, |u|, equilibrio, plato rígido, E corregido, no lineal (SVK), Pistoia; app, NGSolve, scikit-fem; hex8 y TET10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61</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3,4 × 10⁻⁹</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6576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Compresión lineal con base empotrada: equilibrio, ejes fijos</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1,2 × 10⁻⁹</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6576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Acuerdo entre motores con base empotrada (E_app, von Mises, |u|)</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6,5 × 10⁻¹⁰</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6576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Homogeneización periódica: C₁₁, C₁₂, E, G, ν</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8,9 × 10⁻¹⁶</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6576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Compresión en X, Y, Z y convergencia con la malla (app)</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2,3 × 10⁻¹¹</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6576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Prisma de lados distintos 12 × 16 × 24: área, altura y ejes correctos</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1,5 × 10⁻¹¹</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6576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Columnas aisladas (E_app = φ·E del tejido) y malla 24 × 16 × 20 cargada en X, Y y Z; fragmentos flotantes</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6,6 × 10⁻⁹</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bl>
          </a:graphicData>
        </a:graphic>
      </p:graphicFrame>
      <p:sp>
        <p:nvSpPr>
          <p:cNvPr id="4" name="resumen sanidad"/>
          <p:cNvSpPr/>
          <p:nvPr/>
        </p:nvSpPr>
        <p:spPr>
          <a:xfrm>
            <a:off x="548640" y="4846320"/>
            <a:ext cx="5120640" cy="1417320"/>
          </a:xfrm>
          <a:prstGeom prst="roundRect">
            <a:avLst>
              <a:gd name="adj" fmla="val 5161"/>
            </a:avLst>
          </a:prstGeom>
          <a:solidFill>
            <a:srgbClr val="EEF2F3"/>
          </a:solidFill>
          <a:ln w="12700">
            <a:solidFill>
              <a:srgbClr val="EEF2F3"/>
            </a:solidFill>
            <a:prstDash val="solid"/>
          </a:ln>
        </p:spPr>
      </p:sp>
      <p:sp>
        <p:nvSpPr>
          <p:cNvPr id="5" name="Text 2"/>
          <p:cNvSpPr txBox="1"/>
          <p:nvPr/>
        </p:nvSpPr>
        <p:spPr>
          <a:xfrm>
            <a:off x="777240" y="4919472"/>
            <a:ext cx="4663440" cy="685800"/>
          </a:xfrm>
          <a:prstGeom prst="rect">
            <a:avLst/>
          </a:prstGeom>
          <a:noFill/>
          <a:ln/>
        </p:spPr>
        <p:txBody>
          <a:bodyPr wrap="square" lIns="0" tIns="0" rIns="0" bIns="0" rtlCol="0" anchor="ctr"/>
          <a:lstStyle/>
          <a:p>
            <a:pPr indent="0" marL="0">
              <a:buNone/>
            </a:pPr>
            <a:r>
              <a:rPr lang="en-US" sz="4000" b="1" dirty="0">
                <a:solidFill>
                  <a:srgbClr val="2E7D7A"/>
                </a:solidFill>
                <a:latin typeface="Cambria" pitchFamily="34" charset="0"/>
                <a:ea typeface="Cambria" pitchFamily="34" charset="-122"/>
                <a:cs typeface="Cambria" pitchFamily="34" charset="-120"/>
              </a:rPr>
              <a:t>131 de 131</a:t>
            </a:r>
            <a:endParaRPr lang="en-US" sz="4000" dirty="0"/>
          </a:p>
        </p:txBody>
      </p:sp>
      <p:sp>
        <p:nvSpPr>
          <p:cNvPr id="6" name="Text 3"/>
          <p:cNvSpPr txBox="1"/>
          <p:nvPr/>
        </p:nvSpPr>
        <p:spPr>
          <a:xfrm>
            <a:off x="777240" y="5605272"/>
            <a:ext cx="4663440" cy="594360"/>
          </a:xfrm>
          <a:prstGeom prst="rect">
            <a:avLst/>
          </a:prstGeom>
          <a:noFill/>
          <a:ln/>
        </p:spPr>
        <p:txBody>
          <a:bodyPr wrap="square" lIns="0" tIns="0" rIns="0" bIns="0" rtlCol="0" anchor="t"/>
          <a:lstStyle/>
          <a:p>
            <a:pPr indent="0" marL="0">
              <a:buNone/>
            </a:pPr>
            <a:r>
              <a:rPr lang="en-US" sz="1400" dirty="0">
                <a:solidFill>
                  <a:srgbClr val="1B2A33"/>
                </a:solidFill>
                <a:latin typeface="Calibri" pitchFamily="34" charset="0"/>
                <a:ea typeface="Calibri" pitchFamily="34" charset="-122"/>
                <a:cs typeface="Calibri" pitchFamily="34" charset="-120"/>
              </a:rPr>
              <a:t>pruebas con respuesta exacta pasan. Otras 21 son informativas (sin solución cerrada) y se reportan.</a:t>
            </a:r>
            <a:endParaRPr lang="en-US" sz="1400" dirty="0"/>
          </a:p>
        </p:txBody>
      </p:sp>
      <p:sp>
        <p:nvSpPr>
          <p:cNvPr id="7" name="Text 4"/>
          <p:cNvSpPr txBox="1"/>
          <p:nvPr/>
        </p:nvSpPr>
        <p:spPr>
          <a:xfrm>
            <a:off x="5943600" y="4846320"/>
            <a:ext cx="5669280" cy="150876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B2A33"/>
                </a:solidFill>
                <a:latin typeface="Calibri" pitchFamily="34" charset="0"/>
                <a:ea typeface="Calibri" pitchFamily="34" charset="-122"/>
                <a:cs typeface="Calibri" pitchFamily="34" charset="-120"/>
              </a:rPr>
              <a:t>Tolerancias declaradas antes de medir: 10⁻⁸ en lineal, 10⁻⁶ en no lineal.</a:t>
            </a:r>
            <a:endParaRPr lang="en-US" sz="1200" dirty="0"/>
          </a:p>
          <a:p>
            <a:pPr marL="342900" indent="-342900">
              <a:spcAft>
                <a:spcPts val="300"/>
              </a:spcAft>
              <a:buSzPct val="100000"/>
              <a:buChar char="•"/>
            </a:pPr>
            <a:r>
              <a:rPr lang="en-US" sz="1200" dirty="0">
                <a:solidFill>
                  <a:srgbClr val="1B2A33"/>
                </a:solidFill>
                <a:latin typeface="Calibri" pitchFamily="34" charset="0"/>
                <a:ea typeface="Calibri" pitchFamily="34" charset="-122"/>
                <a:cs typeface="Calibri" pitchFamily="34" charset="-120"/>
              </a:rPr>
              <a:t>La primera versión tuvo 2 fallos: eran un defecto de mi prueba (tetraedros agrupados por centroide). Se acotó a hexaedros y queda documentado.</a:t>
            </a:r>
            <a:endParaRPr lang="en-US" sz="1200" dirty="0"/>
          </a:p>
          <a:p>
            <a:pPr marL="342900" indent="-342900">
              <a:spcAft>
                <a:spcPts val="300"/>
              </a:spcAft>
              <a:buSzPct val="100000"/>
              <a:buChar char="•"/>
            </a:pPr>
            <a:r>
              <a:rPr lang="en-US" sz="1200" dirty="0">
                <a:solidFill>
                  <a:srgbClr val="1B2A33"/>
                </a:solidFill>
                <a:latin typeface="Calibri" pitchFamily="34" charset="0"/>
                <a:ea typeface="Calibri" pitchFamily="34" charset="-122"/>
                <a:cs typeface="Calibri" pitchFamily="34" charset="-120"/>
              </a:rPr>
              <a:t>Un cubo es simétrico y no detecta ejes, áreas o alturas confundidos: por eso se añadió un prisma.</a:t>
            </a:r>
            <a:endParaRPr lang="en-US" sz="1200" dirty="0"/>
          </a:p>
          <a:p>
            <a:pPr marL="342900" indent="-342900">
              <a:spcAft>
                <a:spcPts val="300"/>
              </a:spcAft>
              <a:buSzPct val="100000"/>
              <a:buChar char="•"/>
            </a:pPr>
            <a:r>
              <a:rPr lang="en-US" sz="1200" dirty="0">
                <a:solidFill>
                  <a:srgbClr val="1B2A33"/>
                </a:solidFill>
                <a:latin typeface="Calibri" pitchFamily="34" charset="0"/>
                <a:ea typeface="Calibri" pitchFamily="34" charset="-122"/>
                <a:cs typeface="Calibri" pitchFamily="34" charset="-120"/>
              </a:rPr>
              <a:t>No aplican a un cubo: morfometría de superficie y fallo progresivo.</a:t>
            </a:r>
            <a:endParaRPr lang="en-US" sz="1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Candidatos ajustados a cada VOI</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188720"/>
                <a:gridCol w="1828800"/>
                <a:gridCol w="2011680"/>
                <a:gridCol w="2011680"/>
                <a:gridCol w="2011680"/>
                <a:gridCol w="2011680"/>
              </a:tblGrid>
              <a:tr h="47548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VOI</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BV/TV nativo del VOI</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BV/TV spinodoide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BV/TV dual-lattice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Error spinodoide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Error dual-lattice</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r>
              <a:tr h="475488">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C1</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0,365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0,364</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0,365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2,6 × 10⁻³</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1,9 × 10⁻⁴</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475488">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C2</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0,388</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0,386</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0,388</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1,7 × 10⁻³</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5,7 × 10⁻⁴</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475488">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C3</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0,335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0,331</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0,335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2,2 × 10⁻³</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3,9 × 10⁻⁴</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475488">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C4</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0,333</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0,324</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0,333</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1,5 × 10⁻³</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6,4 × 10⁻⁴</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475488">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C5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0,362</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0,365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0,362</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2,7 × 10⁻⁴</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9,2 × 10⁻⁴</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bl>
          </a:graphicData>
        </a:graphic>
      </p:graphicFrame>
      <p:sp>
        <p:nvSpPr>
          <p:cNvPr id="4" name="dato 0"/>
          <p:cNvSpPr/>
          <p:nvPr/>
        </p:nvSpPr>
        <p:spPr>
          <a:xfrm>
            <a:off x="548640" y="4572000"/>
            <a:ext cx="3474720" cy="1600200"/>
          </a:xfrm>
          <a:prstGeom prst="roundRect">
            <a:avLst>
              <a:gd name="adj" fmla="val 4571"/>
            </a:avLst>
          </a:prstGeom>
          <a:solidFill>
            <a:srgbClr val="EEF2F3"/>
          </a:solidFill>
          <a:ln w="12700">
            <a:solidFill>
              <a:srgbClr val="EEF2F3"/>
            </a:solidFill>
            <a:prstDash val="solid"/>
          </a:ln>
        </p:spPr>
      </p:sp>
      <p:sp>
        <p:nvSpPr>
          <p:cNvPr id="5" name="Text 2"/>
          <p:cNvSpPr txBox="1"/>
          <p:nvPr/>
        </p:nvSpPr>
        <p:spPr>
          <a:xfrm>
            <a:off x="777240" y="4663440"/>
            <a:ext cx="3017520" cy="640080"/>
          </a:xfrm>
          <a:prstGeom prst="rect">
            <a:avLst/>
          </a:prstGeom>
          <a:noFill/>
          <a:ln/>
        </p:spPr>
        <p:txBody>
          <a:bodyPr wrap="square" lIns="0" tIns="0" rIns="0" bIns="0" rtlCol="0" anchor="ctr"/>
          <a:lstStyle/>
          <a:p>
            <a:pPr indent="0" marL="0">
              <a:buNone/>
            </a:pPr>
            <a:r>
              <a:rPr lang="en-US" sz="3400" b="1" dirty="0">
                <a:solidFill>
                  <a:srgbClr val="2E7D7A"/>
                </a:solidFill>
                <a:latin typeface="Cambria" pitchFamily="34" charset="0"/>
                <a:ea typeface="Cambria" pitchFamily="34" charset="-122"/>
                <a:cs typeface="Cambria" pitchFamily="34" charset="-120"/>
              </a:rPr>
              <a:t>4 de 5</a:t>
            </a:r>
            <a:endParaRPr lang="en-US" sz="3400" dirty="0"/>
          </a:p>
        </p:txBody>
      </p:sp>
      <p:sp>
        <p:nvSpPr>
          <p:cNvPr id="6" name="Text 3"/>
          <p:cNvSpPr txBox="1"/>
          <p:nvPr/>
        </p:nvSpPr>
        <p:spPr>
          <a:xfrm>
            <a:off x="777240" y="5303520"/>
            <a:ext cx="3017520" cy="822960"/>
          </a:xfrm>
          <a:prstGeom prst="rect">
            <a:avLst/>
          </a:prstGeom>
          <a:noFill/>
          <a:ln/>
        </p:spPr>
        <p:txBody>
          <a:bodyPr wrap="square" lIns="0" tIns="0" rIns="0" bIns="0" rtlCol="0" anchor="t"/>
          <a:lstStyle/>
          <a:p>
            <a:pPr indent="0" marL="0">
              <a:buNone/>
            </a:pPr>
            <a:r>
              <a:rPr lang="en-US" sz="1400" dirty="0">
                <a:solidFill>
                  <a:srgbClr val="1B2A33"/>
                </a:solidFill>
                <a:latin typeface="Calibri" pitchFamily="34" charset="0"/>
                <a:ea typeface="Calibri" pitchFamily="34" charset="-122"/>
                <a:cs typeface="Calibri" pitchFamily="34" charset="-120"/>
              </a:rPr>
              <a:t>VOIs donde el dual-lattice ajusta con menor error morfométrico que el spinodoide</a:t>
            </a:r>
            <a:endParaRPr lang="en-US" sz="1400" dirty="0"/>
          </a:p>
        </p:txBody>
      </p:sp>
      <p:sp>
        <p:nvSpPr>
          <p:cNvPr id="7" name="dato 1"/>
          <p:cNvSpPr/>
          <p:nvPr/>
        </p:nvSpPr>
        <p:spPr>
          <a:xfrm>
            <a:off x="4297680" y="4572000"/>
            <a:ext cx="3474720" cy="1600200"/>
          </a:xfrm>
          <a:prstGeom prst="roundRect">
            <a:avLst>
              <a:gd name="adj" fmla="val 4571"/>
            </a:avLst>
          </a:prstGeom>
          <a:solidFill>
            <a:srgbClr val="EEF2F3"/>
          </a:solidFill>
          <a:ln w="12700">
            <a:solidFill>
              <a:srgbClr val="EEF2F3"/>
            </a:solidFill>
            <a:prstDash val="solid"/>
          </a:ln>
        </p:spPr>
      </p:sp>
      <p:sp>
        <p:nvSpPr>
          <p:cNvPr id="8" name="Text 5"/>
          <p:cNvSpPr txBox="1"/>
          <p:nvPr/>
        </p:nvSpPr>
        <p:spPr>
          <a:xfrm>
            <a:off x="4526280" y="4663440"/>
            <a:ext cx="3017520" cy="640080"/>
          </a:xfrm>
          <a:prstGeom prst="rect">
            <a:avLst/>
          </a:prstGeom>
          <a:noFill/>
          <a:ln/>
        </p:spPr>
        <p:txBody>
          <a:bodyPr wrap="square" lIns="0" tIns="0" rIns="0" bIns="0" rtlCol="0" anchor="ctr"/>
          <a:lstStyle/>
          <a:p>
            <a:pPr indent="0" marL="0">
              <a:buNone/>
            </a:pPr>
            <a:r>
              <a:rPr lang="en-US" sz="3400" b="1" dirty="0">
                <a:solidFill>
                  <a:srgbClr val="2E7D7A"/>
                </a:solidFill>
                <a:latin typeface="Cambria" pitchFamily="34" charset="0"/>
                <a:ea typeface="Cambria" pitchFamily="34" charset="-122"/>
                <a:cs typeface="Cambria" pitchFamily="34" charset="-120"/>
              </a:rPr>
              <a:t>0,87 pp</a:t>
            </a:r>
            <a:endParaRPr lang="en-US" sz="3400" dirty="0"/>
          </a:p>
        </p:txBody>
      </p:sp>
      <p:sp>
        <p:nvSpPr>
          <p:cNvPr id="9" name="Text 6"/>
          <p:cNvSpPr txBox="1"/>
          <p:nvPr/>
        </p:nvSpPr>
        <p:spPr>
          <a:xfrm>
            <a:off x="4526280" y="5303520"/>
            <a:ext cx="3017520" cy="822960"/>
          </a:xfrm>
          <a:prstGeom prst="rect">
            <a:avLst/>
          </a:prstGeom>
          <a:noFill/>
          <a:ln/>
        </p:spPr>
        <p:txBody>
          <a:bodyPr wrap="square" lIns="0" tIns="0" rIns="0" bIns="0" rtlCol="0" anchor="t"/>
          <a:lstStyle/>
          <a:p>
            <a:pPr indent="0" marL="0">
              <a:buNone/>
            </a:pPr>
            <a:r>
              <a:rPr lang="en-US" sz="1400" dirty="0">
                <a:solidFill>
                  <a:srgbClr val="1B2A33"/>
                </a:solidFill>
                <a:latin typeface="Calibri" pitchFamily="34" charset="0"/>
                <a:ea typeface="Calibri" pitchFamily="34" charset="-122"/>
                <a:cs typeface="Calibri" pitchFamily="34" charset="-120"/>
              </a:rPr>
              <a:t>diferencia máxima de BV/TV entre un candidato y su VOI (puntos porcentuales)</a:t>
            </a:r>
            <a:endParaRPr lang="en-US" sz="1400" dirty="0"/>
          </a:p>
        </p:txBody>
      </p:sp>
      <p:sp>
        <p:nvSpPr>
          <p:cNvPr id="10" name="dato 2"/>
          <p:cNvSpPr/>
          <p:nvPr/>
        </p:nvSpPr>
        <p:spPr>
          <a:xfrm>
            <a:off x="8046720" y="4572000"/>
            <a:ext cx="3474720" cy="1600200"/>
          </a:xfrm>
          <a:prstGeom prst="roundRect">
            <a:avLst>
              <a:gd name="adj" fmla="val 4571"/>
            </a:avLst>
          </a:prstGeom>
          <a:solidFill>
            <a:srgbClr val="EEF2F3"/>
          </a:solidFill>
          <a:ln w="12700">
            <a:solidFill>
              <a:srgbClr val="EEF2F3"/>
            </a:solidFill>
            <a:prstDash val="solid"/>
          </a:ln>
        </p:spPr>
      </p:sp>
      <p:sp>
        <p:nvSpPr>
          <p:cNvPr id="11" name="Text 8"/>
          <p:cNvSpPr txBox="1"/>
          <p:nvPr/>
        </p:nvSpPr>
        <p:spPr>
          <a:xfrm>
            <a:off x="8275320" y="4663440"/>
            <a:ext cx="3017520" cy="640080"/>
          </a:xfrm>
          <a:prstGeom prst="rect">
            <a:avLst/>
          </a:prstGeom>
          <a:noFill/>
          <a:ln/>
        </p:spPr>
        <p:txBody>
          <a:bodyPr wrap="square" lIns="0" tIns="0" rIns="0" bIns="0" rtlCol="0" anchor="ctr"/>
          <a:lstStyle/>
          <a:p>
            <a:pPr indent="0" marL="0">
              <a:buNone/>
            </a:pPr>
            <a:r>
              <a:rPr lang="en-US" sz="3400" b="1" dirty="0">
                <a:solidFill>
                  <a:srgbClr val="2E7D7A"/>
                </a:solidFill>
                <a:latin typeface="Cambria" pitchFamily="34" charset="0"/>
                <a:ea typeface="Cambria" pitchFamily="34" charset="-122"/>
                <a:cs typeface="Cambria" pitchFamily="34" charset="-120"/>
              </a:rPr>
              <a:t>1</a:t>
            </a:r>
            <a:endParaRPr lang="en-US" sz="3400" dirty="0"/>
          </a:p>
        </p:txBody>
      </p:sp>
      <p:sp>
        <p:nvSpPr>
          <p:cNvPr id="12" name="Text 9"/>
          <p:cNvSpPr txBox="1"/>
          <p:nvPr/>
        </p:nvSpPr>
        <p:spPr>
          <a:xfrm>
            <a:off x="8275320" y="5303520"/>
            <a:ext cx="3017520" cy="822960"/>
          </a:xfrm>
          <a:prstGeom prst="rect">
            <a:avLst/>
          </a:prstGeom>
          <a:noFill/>
          <a:ln/>
        </p:spPr>
        <p:txBody>
          <a:bodyPr wrap="square" lIns="0" tIns="0" rIns="0" bIns="0" rtlCol="0" anchor="t"/>
          <a:lstStyle/>
          <a:p>
            <a:pPr indent="0" marL="0">
              <a:buNone/>
            </a:pPr>
            <a:r>
              <a:rPr lang="en-US" sz="1400" dirty="0">
                <a:solidFill>
                  <a:srgbClr val="1B2A33"/>
                </a:solidFill>
                <a:latin typeface="Calibri" pitchFamily="34" charset="0"/>
                <a:ea typeface="Calibri" pitchFamily="34" charset="-122"/>
                <a:cs typeface="Calibri" pitchFamily="34" charset="-120"/>
              </a:rPr>
              <a:t>semilla y un ajuste por VOI y familia: sin réplicas</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Deformación total |u|</a:t>
            </a:r>
            <a:endParaRPr lang="en-US" sz="3600" dirty="0"/>
          </a:p>
        </p:txBody>
      </p:sp>
      <p:pic>
        <p:nvPicPr>
          <p:cNvPr id="3" name="mapa" descr="/home/user/spinpy/comparativa_motores/tapia_c1_c5/figs/mapa_u.png">    </p:cNvPr>
          <p:cNvPicPr>
            <a:picLocks noChangeAspect="1"/>
          </p:cNvPicPr>
          <p:nvPr/>
        </p:nvPicPr>
        <p:blipFill>
          <a:blip r:embed="rId1"/>
          <a:stretch>
            <a:fillRect/>
          </a:stretch>
        </p:blipFill>
        <p:spPr>
          <a:xfrm>
            <a:off x="457200" y="1188720"/>
            <a:ext cx="8229600" cy="4848294"/>
          </a:xfrm>
          <a:prstGeom prst="rect">
            <a:avLst/>
          </a:prstGeom>
        </p:spPr>
      </p:pic>
      <p:sp>
        <p:nvSpPr>
          <p:cNvPr id="4" name="lectura 0"/>
          <p:cNvSpPr/>
          <p:nvPr/>
        </p:nvSpPr>
        <p:spPr>
          <a:xfrm>
            <a:off x="8915400" y="1325880"/>
            <a:ext cx="2834640" cy="1463040"/>
          </a:xfrm>
          <a:prstGeom prst="roundRect">
            <a:avLst>
              <a:gd name="adj" fmla="val 5000"/>
            </a:avLst>
          </a:prstGeom>
          <a:solidFill>
            <a:srgbClr val="EEF2F3"/>
          </a:solidFill>
          <a:ln w="12700">
            <a:solidFill>
              <a:srgbClr val="EEF2F3"/>
            </a:solidFill>
            <a:prstDash val="solid"/>
          </a:ln>
        </p:spPr>
      </p:sp>
      <p:sp>
        <p:nvSpPr>
          <p:cNvPr id="5" name="Text 2"/>
          <p:cNvSpPr txBox="1"/>
          <p:nvPr/>
        </p:nvSpPr>
        <p:spPr>
          <a:xfrm>
            <a:off x="9098280" y="1417320"/>
            <a:ext cx="2560320" cy="502920"/>
          </a:xfrm>
          <a:prstGeom prst="rect">
            <a:avLst/>
          </a:prstGeom>
          <a:noFill/>
          <a:ln/>
        </p:spPr>
        <p:txBody>
          <a:bodyPr wrap="square" lIns="0" tIns="0" rIns="0" bIns="0" rtlCol="0" anchor="t"/>
          <a:lstStyle/>
          <a:p>
            <a:pPr indent="0" marL="0">
              <a:buNone/>
            </a:pPr>
            <a:r>
              <a:rPr lang="en-US" sz="2200" b="1" dirty="0">
                <a:solidFill>
                  <a:srgbClr val="C8553D"/>
                </a:solidFill>
                <a:latin typeface="Cambria" pitchFamily="34" charset="0"/>
                <a:ea typeface="Cambria" pitchFamily="34" charset="-122"/>
                <a:cs typeface="Cambria" pitchFamily="34" charset="-120"/>
              </a:rPr>
              <a:t>18 a 42 %</a:t>
            </a:r>
            <a:endParaRPr lang="en-US" sz="2200" dirty="0"/>
          </a:p>
        </p:txBody>
      </p:sp>
      <p:sp>
        <p:nvSpPr>
          <p:cNvPr id="6" name="Text 3"/>
          <p:cNvSpPr txBox="1"/>
          <p:nvPr/>
        </p:nvSpPr>
        <p:spPr>
          <a:xfrm>
            <a:off x="9098280" y="1947672"/>
            <a:ext cx="2560320" cy="82296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de la rigidez del VOI conserva el spinodoide a 40³: se deforma más (ver convergencia)</a:t>
            </a:r>
            <a:endParaRPr lang="en-US" sz="1300" dirty="0"/>
          </a:p>
        </p:txBody>
      </p:sp>
      <p:sp>
        <p:nvSpPr>
          <p:cNvPr id="7" name="lectura 1"/>
          <p:cNvSpPr/>
          <p:nvPr/>
        </p:nvSpPr>
        <p:spPr>
          <a:xfrm>
            <a:off x="8915400" y="2926080"/>
            <a:ext cx="2834640" cy="1463040"/>
          </a:xfrm>
          <a:prstGeom prst="roundRect">
            <a:avLst>
              <a:gd name="adj" fmla="val 5000"/>
            </a:avLst>
          </a:prstGeom>
          <a:solidFill>
            <a:srgbClr val="EEF2F3"/>
          </a:solidFill>
          <a:ln w="12700">
            <a:solidFill>
              <a:srgbClr val="EEF2F3"/>
            </a:solidFill>
            <a:prstDash val="solid"/>
          </a:ln>
        </p:spPr>
      </p:sp>
      <p:sp>
        <p:nvSpPr>
          <p:cNvPr id="8" name="Text 5"/>
          <p:cNvSpPr txBox="1"/>
          <p:nvPr/>
        </p:nvSpPr>
        <p:spPr>
          <a:xfrm>
            <a:off x="9098280" y="3017520"/>
            <a:ext cx="2560320" cy="502920"/>
          </a:xfrm>
          <a:prstGeom prst="rect">
            <a:avLst/>
          </a:prstGeom>
          <a:noFill/>
          <a:ln/>
        </p:spPr>
        <p:txBody>
          <a:bodyPr wrap="square" lIns="0" tIns="0" rIns="0" bIns="0" rtlCol="0" anchor="t"/>
          <a:lstStyle/>
          <a:p>
            <a:pPr indent="0" marL="0">
              <a:buNone/>
            </a:pPr>
            <a:r>
              <a:rPr lang="en-US" sz="2200" b="1" dirty="0">
                <a:solidFill>
                  <a:srgbClr val="2E7D7A"/>
                </a:solidFill>
                <a:latin typeface="Cambria" pitchFamily="34" charset="0"/>
                <a:ea typeface="Cambria" pitchFamily="34" charset="-122"/>
                <a:cs typeface="Cambria" pitchFamily="34" charset="-120"/>
              </a:rPr>
              <a:t>69 a 80 %</a:t>
            </a:r>
            <a:endParaRPr lang="en-US" sz="2200" dirty="0"/>
          </a:p>
        </p:txBody>
      </p:sp>
      <p:sp>
        <p:nvSpPr>
          <p:cNvPr id="9" name="Text 6"/>
          <p:cNvSpPr txBox="1"/>
          <p:nvPr/>
        </p:nvSpPr>
        <p:spPr>
          <a:xfrm>
            <a:off x="9098280" y="3547872"/>
            <a:ext cx="2560320" cy="82296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de la rigidez del VOI tiene el dual-lattice</a:t>
            </a:r>
            <a:endParaRPr lang="en-US" sz="1300" dirty="0"/>
          </a:p>
        </p:txBody>
      </p:sp>
      <p:sp>
        <p:nvSpPr>
          <p:cNvPr id="10" name="lectura 2"/>
          <p:cNvSpPr/>
          <p:nvPr/>
        </p:nvSpPr>
        <p:spPr>
          <a:xfrm>
            <a:off x="8915400" y="4526280"/>
            <a:ext cx="2834640" cy="1463040"/>
          </a:xfrm>
          <a:prstGeom prst="roundRect">
            <a:avLst>
              <a:gd name="adj" fmla="val 5000"/>
            </a:avLst>
          </a:prstGeom>
          <a:solidFill>
            <a:srgbClr val="EEF2F3"/>
          </a:solidFill>
          <a:ln w="12700">
            <a:solidFill>
              <a:srgbClr val="EEF2F3"/>
            </a:solidFill>
            <a:prstDash val="solid"/>
          </a:ln>
        </p:spPr>
      </p:sp>
      <p:sp>
        <p:nvSpPr>
          <p:cNvPr id="11" name="Text 8"/>
          <p:cNvSpPr txBox="1"/>
          <p:nvPr/>
        </p:nvSpPr>
        <p:spPr>
          <a:xfrm>
            <a:off x="9098280" y="4617720"/>
            <a:ext cx="2560320" cy="502920"/>
          </a:xfrm>
          <a:prstGeom prst="rect">
            <a:avLst/>
          </a:prstGeom>
          <a:noFill/>
          <a:ln/>
        </p:spPr>
        <p:txBody>
          <a:bodyPr wrap="square" lIns="0" tIns="0" rIns="0" bIns="0" rtlCol="0" anchor="t"/>
          <a:lstStyle/>
          <a:p>
            <a:pPr indent="0" marL="0">
              <a:buNone/>
            </a:pPr>
            <a:r>
              <a:rPr lang="en-US" sz="2200" b="1" dirty="0">
                <a:solidFill>
                  <a:srgbClr val="1F3A44"/>
                </a:solidFill>
                <a:latin typeface="Cambria" pitchFamily="34" charset="0"/>
                <a:ea typeface="Cambria" pitchFamily="34" charset="-122"/>
                <a:cs typeface="Cambria" pitchFamily="34" charset="-120"/>
              </a:rPr>
              <a:t>En la cima</a:t>
            </a:r>
            <a:endParaRPr lang="en-US" sz="2200" dirty="0"/>
          </a:p>
        </p:txBody>
      </p:sp>
      <p:sp>
        <p:nvSpPr>
          <p:cNvPr id="12" name="Text 9"/>
          <p:cNvSpPr txBox="1"/>
          <p:nvPr/>
        </p:nvSpPr>
        <p:spPr>
          <a:xfrm>
            <a:off x="9098280" y="5148072"/>
            <a:ext cx="2560320" cy="82296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el máximo de |u| cae en la capa superior en 14 de las 15 estructuras</a:t>
            </a:r>
            <a:endParaRPr lang="en-US" sz="1300" dirty="0"/>
          </a:p>
        </p:txBody>
      </p:sp>
      <p:sp>
        <p:nvSpPr>
          <p:cNvPr id="13" name="Text 10"/>
          <p:cNvSpPr txBox="1"/>
          <p:nvPr/>
        </p:nvSpPr>
        <p:spPr>
          <a:xfrm>
            <a:off x="457200" y="6080760"/>
            <a:ext cx="8229600" cy="274320"/>
          </a:xfrm>
          <a:prstGeom prst="rect">
            <a:avLst/>
          </a:prstGeom>
          <a:noFill/>
          <a:ln/>
        </p:spPr>
        <p:txBody>
          <a:bodyPr wrap="square" lIns="0" tIns="0" rIns="0" bIns="0" rtlCol="0" anchor="t"/>
          <a:lstStyle/>
          <a:p>
            <a:pPr indent="0" marL="0">
              <a:buNone/>
            </a:pPr>
            <a:r>
              <a:rPr lang="en-US" sz="1100" dirty="0">
                <a:solidFill>
                  <a:srgbClr val="5B6573"/>
                </a:solidFill>
                <a:latin typeface="Calibri" pitchFamily="34" charset="0"/>
                <a:ea typeface="Calibri" pitchFamily="34" charset="-122"/>
                <a:cs typeface="Calibri" pitchFamily="34" charset="-120"/>
              </a:rPr>
              <a:t>Escala común por columna: de 0 al p99 de la estructura más exigida de cada VOI. Amarillo = zona más deformada o tensionada.</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Tensión de von Mises</a:t>
            </a:r>
            <a:endParaRPr lang="en-US" sz="3600" dirty="0"/>
          </a:p>
        </p:txBody>
      </p:sp>
      <p:pic>
        <p:nvPicPr>
          <p:cNvPr id="3" name="mapa" descr="/home/user/spinpy/comparativa_motores/tapia_c1_c5/figs/mapa_vm.png">    </p:cNvPr>
          <p:cNvPicPr>
            <a:picLocks noChangeAspect="1"/>
          </p:cNvPicPr>
          <p:nvPr/>
        </p:nvPicPr>
        <p:blipFill>
          <a:blip r:embed="rId1"/>
          <a:stretch>
            <a:fillRect/>
          </a:stretch>
        </p:blipFill>
        <p:spPr>
          <a:xfrm>
            <a:off x="457200" y="1188720"/>
            <a:ext cx="8229600" cy="4848294"/>
          </a:xfrm>
          <a:prstGeom prst="rect">
            <a:avLst/>
          </a:prstGeom>
        </p:spPr>
      </p:pic>
      <p:sp>
        <p:nvSpPr>
          <p:cNvPr id="4" name="lectura 0"/>
          <p:cNvSpPr/>
          <p:nvPr/>
        </p:nvSpPr>
        <p:spPr>
          <a:xfrm>
            <a:off x="8915400" y="1325880"/>
            <a:ext cx="2834640" cy="1463040"/>
          </a:xfrm>
          <a:prstGeom prst="roundRect">
            <a:avLst>
              <a:gd name="adj" fmla="val 5000"/>
            </a:avLst>
          </a:prstGeom>
          <a:solidFill>
            <a:srgbClr val="EEF2F3"/>
          </a:solidFill>
          <a:ln w="12700">
            <a:solidFill>
              <a:srgbClr val="EEF2F3"/>
            </a:solidFill>
            <a:prstDash val="solid"/>
          </a:ln>
        </p:spPr>
      </p:sp>
      <p:sp>
        <p:nvSpPr>
          <p:cNvPr id="5" name="Text 2"/>
          <p:cNvSpPr txBox="1"/>
          <p:nvPr/>
        </p:nvSpPr>
        <p:spPr>
          <a:xfrm>
            <a:off x="9098280" y="1417320"/>
            <a:ext cx="2560320" cy="502920"/>
          </a:xfrm>
          <a:prstGeom prst="rect">
            <a:avLst/>
          </a:prstGeom>
          <a:noFill/>
          <a:ln/>
        </p:spPr>
        <p:txBody>
          <a:bodyPr wrap="square" lIns="0" tIns="0" rIns="0" bIns="0" rtlCol="0" anchor="t"/>
          <a:lstStyle/>
          <a:p>
            <a:pPr indent="0" marL="0">
              <a:buNone/>
            </a:pPr>
            <a:r>
              <a:rPr lang="en-US" sz="2200" b="1" dirty="0">
                <a:solidFill>
                  <a:srgbClr val="C8553D"/>
                </a:solidFill>
                <a:latin typeface="Cambria" pitchFamily="34" charset="0"/>
                <a:ea typeface="Cambria" pitchFamily="34" charset="-122"/>
                <a:cs typeface="Cambria" pitchFamily="34" charset="-120"/>
              </a:rPr>
              <a:t>1,8 a 3,1×</a:t>
            </a:r>
            <a:endParaRPr lang="en-US" sz="2200" dirty="0"/>
          </a:p>
        </p:txBody>
      </p:sp>
      <p:sp>
        <p:nvSpPr>
          <p:cNvPr id="6" name="Text 3"/>
          <p:cNvSpPr txBox="1"/>
          <p:nvPr/>
        </p:nvSpPr>
        <p:spPr>
          <a:xfrm>
            <a:off x="9098280" y="1947672"/>
            <a:ext cx="2560320" cy="82296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el p99 del VOI alcanza el spinodoide a 40³; sube al refinar</a:t>
            </a:r>
            <a:endParaRPr lang="en-US" sz="1300" dirty="0"/>
          </a:p>
        </p:txBody>
      </p:sp>
      <p:sp>
        <p:nvSpPr>
          <p:cNvPr id="7" name="lectura 1"/>
          <p:cNvSpPr/>
          <p:nvPr/>
        </p:nvSpPr>
        <p:spPr>
          <a:xfrm>
            <a:off x="8915400" y="2926080"/>
            <a:ext cx="2834640" cy="1463040"/>
          </a:xfrm>
          <a:prstGeom prst="roundRect">
            <a:avLst>
              <a:gd name="adj" fmla="val 5000"/>
            </a:avLst>
          </a:prstGeom>
          <a:solidFill>
            <a:srgbClr val="EEF2F3"/>
          </a:solidFill>
          <a:ln w="12700">
            <a:solidFill>
              <a:srgbClr val="EEF2F3"/>
            </a:solidFill>
            <a:prstDash val="solid"/>
          </a:ln>
        </p:spPr>
      </p:sp>
      <p:sp>
        <p:nvSpPr>
          <p:cNvPr id="8" name="Text 5"/>
          <p:cNvSpPr txBox="1"/>
          <p:nvPr/>
        </p:nvSpPr>
        <p:spPr>
          <a:xfrm>
            <a:off x="9098280" y="3017520"/>
            <a:ext cx="2560320" cy="502920"/>
          </a:xfrm>
          <a:prstGeom prst="rect">
            <a:avLst/>
          </a:prstGeom>
          <a:noFill/>
          <a:ln/>
        </p:spPr>
        <p:txBody>
          <a:bodyPr wrap="square" lIns="0" tIns="0" rIns="0" bIns="0" rtlCol="0" anchor="t"/>
          <a:lstStyle/>
          <a:p>
            <a:pPr indent="0" marL="0">
              <a:buNone/>
            </a:pPr>
            <a:r>
              <a:rPr lang="en-US" sz="2200" b="1" dirty="0">
                <a:solidFill>
                  <a:srgbClr val="2E7D7A"/>
                </a:solidFill>
                <a:latin typeface="Cambria" pitchFamily="34" charset="0"/>
                <a:ea typeface="Cambria" pitchFamily="34" charset="-122"/>
                <a:cs typeface="Cambria" pitchFamily="34" charset="-120"/>
              </a:rPr>
              <a:t>1,2 a 1,4×</a:t>
            </a:r>
            <a:endParaRPr lang="en-US" sz="2200" dirty="0"/>
          </a:p>
        </p:txBody>
      </p:sp>
      <p:sp>
        <p:nvSpPr>
          <p:cNvPr id="9" name="Text 6"/>
          <p:cNvSpPr txBox="1"/>
          <p:nvPr/>
        </p:nvSpPr>
        <p:spPr>
          <a:xfrm>
            <a:off x="9098280" y="3547872"/>
            <a:ext cx="2560320" cy="82296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el p99 del VOI alcanza el dual-lattice</a:t>
            </a:r>
            <a:endParaRPr lang="en-US" sz="1300" dirty="0"/>
          </a:p>
        </p:txBody>
      </p:sp>
      <p:sp>
        <p:nvSpPr>
          <p:cNvPr id="10" name="lectura 2"/>
          <p:cNvSpPr/>
          <p:nvPr/>
        </p:nvSpPr>
        <p:spPr>
          <a:xfrm>
            <a:off x="8915400" y="4526280"/>
            <a:ext cx="2834640" cy="1463040"/>
          </a:xfrm>
          <a:prstGeom prst="roundRect">
            <a:avLst>
              <a:gd name="adj" fmla="val 5000"/>
            </a:avLst>
          </a:prstGeom>
          <a:solidFill>
            <a:srgbClr val="EEF2F3"/>
          </a:solidFill>
          <a:ln w="12700">
            <a:solidFill>
              <a:srgbClr val="EEF2F3"/>
            </a:solidFill>
            <a:prstDash val="solid"/>
          </a:ln>
        </p:spPr>
      </p:sp>
      <p:sp>
        <p:nvSpPr>
          <p:cNvPr id="11" name="Text 8"/>
          <p:cNvSpPr txBox="1"/>
          <p:nvPr/>
        </p:nvSpPr>
        <p:spPr>
          <a:xfrm>
            <a:off x="9098280" y="4617720"/>
            <a:ext cx="2560320" cy="502920"/>
          </a:xfrm>
          <a:prstGeom prst="rect">
            <a:avLst/>
          </a:prstGeom>
          <a:noFill/>
          <a:ln/>
        </p:spPr>
        <p:txBody>
          <a:bodyPr wrap="square" lIns="0" tIns="0" rIns="0" bIns="0" rtlCol="0" anchor="t"/>
          <a:lstStyle/>
          <a:p>
            <a:pPr indent="0" marL="0">
              <a:buNone/>
            </a:pPr>
            <a:r>
              <a:rPr lang="en-US" sz="2200" b="1" dirty="0">
                <a:solidFill>
                  <a:srgbClr val="1F3A44"/>
                </a:solidFill>
                <a:latin typeface="Cambria" pitchFamily="34" charset="0"/>
                <a:ea typeface="Cambria" pitchFamily="34" charset="-122"/>
                <a:cs typeface="Cambria" pitchFamily="34" charset="-120"/>
              </a:rPr>
              <a:t>p99, no máximo</a:t>
            </a:r>
            <a:endParaRPr lang="en-US" sz="2200" dirty="0"/>
          </a:p>
        </p:txBody>
      </p:sp>
      <p:sp>
        <p:nvSpPr>
          <p:cNvPr id="12" name="Text 9"/>
          <p:cNvSpPr txBox="1"/>
          <p:nvPr/>
        </p:nvSpPr>
        <p:spPr>
          <a:xfrm>
            <a:off x="9098280" y="5148072"/>
            <a:ext cx="2560320" cy="82296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el máximo no converge con la malla; el p99 es el valor citable</a:t>
            </a:r>
            <a:endParaRPr lang="en-US" sz="1300" dirty="0"/>
          </a:p>
        </p:txBody>
      </p:sp>
      <p:sp>
        <p:nvSpPr>
          <p:cNvPr id="13" name="Text 10"/>
          <p:cNvSpPr txBox="1"/>
          <p:nvPr/>
        </p:nvSpPr>
        <p:spPr>
          <a:xfrm>
            <a:off x="457200" y="6080760"/>
            <a:ext cx="8229600" cy="274320"/>
          </a:xfrm>
          <a:prstGeom prst="rect">
            <a:avLst/>
          </a:prstGeom>
          <a:noFill/>
          <a:ln/>
        </p:spPr>
        <p:txBody>
          <a:bodyPr wrap="square" lIns="0" tIns="0" rIns="0" bIns="0" rtlCol="0" anchor="t"/>
          <a:lstStyle/>
          <a:p>
            <a:pPr indent="0" marL="0">
              <a:buNone/>
            </a:pPr>
            <a:r>
              <a:rPr lang="en-US" sz="1100" dirty="0">
                <a:solidFill>
                  <a:srgbClr val="5B6573"/>
                </a:solidFill>
                <a:latin typeface="Calibri" pitchFamily="34" charset="0"/>
                <a:ea typeface="Calibri" pitchFamily="34" charset="-122"/>
                <a:cs typeface="Calibri" pitchFamily="34" charset="-120"/>
              </a:rPr>
              <a:t>Escala común por columna: de 0 al p99 de la estructura más exigida de cada VOI. Amarillo = zona más deformada o tensionada.</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Rigidez y tensión por estructura</a:t>
            </a:r>
            <a:endParaRPr lang="en-US" sz="3600" dirty="0"/>
          </a:p>
        </p:txBody>
      </p:sp>
      <p:graphicFrame>
        <p:nvGraphicFramePr>
          <p:cNvPr id="3" name="Chart 0" descr=""/>
          <p:cNvGraphicFramePr/>
          <p:nvPr/>
        </p:nvGraphicFramePr>
        <p:xfrm>
          <a:off x="457200" y="1234440"/>
          <a:ext cx="566928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72200" y="1234440"/>
          <a:ext cx="5669280" cy="41148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532120"/>
            <a:ext cx="11064240" cy="6858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Valores de NGSolve con solver directo, 40³, base adherida, 100 N. La app coincide en E_app hasta 3,4 × 10⁻¹² (relativo). No están convergidos con la malla (diapositiva siguiente).</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Convergencia con la malla</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280160"/>
                <a:gridCol w="1087120"/>
                <a:gridCol w="1087120"/>
                <a:gridCol w="1087120"/>
                <a:gridCol w="1087120"/>
                <a:gridCol w="1087120"/>
                <a:gridCol w="1087120"/>
                <a:gridCol w="1087120"/>
                <a:gridCol w="1087120"/>
                <a:gridCol w="108712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VOI</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gridSpan="3">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Spinodoide / VOI, rigidez [%]</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hMerge="1">
                  <a:tcPr/>
                </a:tc>
                <a:tc hMerge="1">
                  <a:tcPr/>
                </a:tc>
                <a:tc gridSpan="3">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Dual-lattice / VOI, rigidez [%]</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hMerge="1">
                  <a:tcPr/>
                </a:tc>
                <a:tc hMerge="1">
                  <a:tcPr/>
                </a:tc>
                <a:tc gridSpan="3">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Spinodoide / VOI, p99 [×]</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hMerge="1">
                  <a:tcPr/>
                </a:tc>
                <a:tc hMerge="1">
                  <a:tcPr/>
                </a:tc>
              </a:tr>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 por lado</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56</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r>
              <a:tr h="384048">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C1</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73</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C2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76</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C3</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69</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63</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3,3</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C4</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2,9</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384048">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C5</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39</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75</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74</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bl>
          </a:graphicData>
        </a:graphic>
      </p:graphicFrame>
      <p:sp>
        <p:nvSpPr>
          <p:cNvPr id="4" name="conv 0"/>
          <p:cNvSpPr/>
          <p:nvPr/>
        </p:nvSpPr>
        <p:spPr>
          <a:xfrm>
            <a:off x="548640" y="4251960"/>
            <a:ext cx="3474720" cy="1965960"/>
          </a:xfrm>
          <a:prstGeom prst="roundRect">
            <a:avLst>
              <a:gd name="adj" fmla="val 3721"/>
            </a:avLst>
          </a:prstGeom>
          <a:solidFill>
            <a:srgbClr val="EEF2F3"/>
          </a:solidFill>
          <a:ln w="12700">
            <a:solidFill>
              <a:srgbClr val="EEF2F3"/>
            </a:solidFill>
            <a:prstDash val="solid"/>
          </a:ln>
        </p:spPr>
      </p:sp>
      <p:sp>
        <p:nvSpPr>
          <p:cNvPr id="5" name="Text 2"/>
          <p:cNvSpPr txBox="1"/>
          <p:nvPr/>
        </p:nvSpPr>
        <p:spPr>
          <a:xfrm>
            <a:off x="777240" y="4343400"/>
            <a:ext cx="3017520" cy="640080"/>
          </a:xfrm>
          <a:prstGeom prst="rect">
            <a:avLst/>
          </a:prstGeom>
          <a:noFill/>
          <a:ln/>
        </p:spPr>
        <p:txBody>
          <a:bodyPr wrap="square" lIns="0" tIns="0" rIns="0" bIns="0" rtlCol="0" anchor="ctr"/>
          <a:lstStyle/>
          <a:p>
            <a:pPr indent="0" marL="0">
              <a:buNone/>
            </a:pPr>
            <a:r>
              <a:rPr lang="en-US" sz="3200" b="1" dirty="0">
                <a:solidFill>
                  <a:srgbClr val="2E7D7A"/>
                </a:solidFill>
                <a:latin typeface="Cambria" pitchFamily="34" charset="0"/>
                <a:ea typeface="Cambria" pitchFamily="34" charset="-122"/>
                <a:cs typeface="Cambria" pitchFamily="34" charset="-120"/>
              </a:rPr>
              <a:t>2 %</a:t>
            </a:r>
            <a:endParaRPr lang="en-US" sz="3200" dirty="0"/>
          </a:p>
        </p:txBody>
      </p:sp>
      <p:sp>
        <p:nvSpPr>
          <p:cNvPr id="6" name="Text 3"/>
          <p:cNvSpPr txBox="1"/>
          <p:nvPr/>
        </p:nvSpPr>
        <p:spPr>
          <a:xfrm>
            <a:off x="777240" y="5029200"/>
            <a:ext cx="3063240" cy="114300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cambio máximo de E_app del VOI entre 40³ y 64³: converge razonablemente</a:t>
            </a:r>
            <a:endParaRPr lang="en-US" sz="1300" dirty="0"/>
          </a:p>
        </p:txBody>
      </p:sp>
      <p:sp>
        <p:nvSpPr>
          <p:cNvPr id="7" name="conv 1"/>
          <p:cNvSpPr/>
          <p:nvPr/>
        </p:nvSpPr>
        <p:spPr>
          <a:xfrm>
            <a:off x="4297680" y="4251960"/>
            <a:ext cx="3474720" cy="1965960"/>
          </a:xfrm>
          <a:prstGeom prst="roundRect">
            <a:avLst>
              <a:gd name="adj" fmla="val 3721"/>
            </a:avLst>
          </a:prstGeom>
          <a:solidFill>
            <a:srgbClr val="EEF2F3"/>
          </a:solidFill>
          <a:ln w="12700">
            <a:solidFill>
              <a:srgbClr val="EEF2F3"/>
            </a:solidFill>
            <a:prstDash val="solid"/>
          </a:ln>
        </p:spPr>
      </p:sp>
      <p:sp>
        <p:nvSpPr>
          <p:cNvPr id="8" name="Text 5"/>
          <p:cNvSpPr txBox="1"/>
          <p:nvPr/>
        </p:nvSpPr>
        <p:spPr>
          <a:xfrm>
            <a:off x="4526280" y="4343400"/>
            <a:ext cx="3017520" cy="640080"/>
          </a:xfrm>
          <a:prstGeom prst="rect">
            <a:avLst/>
          </a:prstGeom>
          <a:noFill/>
          <a:ln/>
        </p:spPr>
        <p:txBody>
          <a:bodyPr wrap="square" lIns="0" tIns="0" rIns="0" bIns="0" rtlCol="0" anchor="ctr"/>
          <a:lstStyle/>
          <a:p>
            <a:pPr indent="0" marL="0">
              <a:buNone/>
            </a:pPr>
            <a:r>
              <a:rPr lang="en-US" sz="3200" b="1" dirty="0">
                <a:solidFill>
                  <a:srgbClr val="C8553D"/>
                </a:solidFill>
                <a:latin typeface="Cambria" pitchFamily="34" charset="0"/>
                <a:ea typeface="Cambria" pitchFamily="34" charset="-122"/>
                <a:cs typeface="Cambria" pitchFamily="34" charset="-120"/>
              </a:rPr>
              <a:t>28 %</a:t>
            </a:r>
            <a:endParaRPr lang="en-US" sz="3200" dirty="0"/>
          </a:p>
        </p:txBody>
      </p:sp>
      <p:sp>
        <p:nvSpPr>
          <p:cNvPr id="9" name="Text 6"/>
          <p:cNvSpPr txBox="1"/>
          <p:nvPr/>
        </p:nvSpPr>
        <p:spPr>
          <a:xfrm>
            <a:off x="4526280" y="5029200"/>
            <a:ext cx="3063240" cy="114300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cambio máximo en el spinodoide: sus puntales finos siguen resolviéndose, la malla no ha convergido</a:t>
            </a:r>
            <a:endParaRPr lang="en-US" sz="1300" dirty="0"/>
          </a:p>
        </p:txBody>
      </p:sp>
      <p:sp>
        <p:nvSpPr>
          <p:cNvPr id="10" name="conv 2"/>
          <p:cNvSpPr/>
          <p:nvPr/>
        </p:nvSpPr>
        <p:spPr>
          <a:xfrm>
            <a:off x="8046720" y="4251960"/>
            <a:ext cx="3474720" cy="1965960"/>
          </a:xfrm>
          <a:prstGeom prst="roundRect">
            <a:avLst>
              <a:gd name="adj" fmla="val 3721"/>
            </a:avLst>
          </a:prstGeom>
          <a:solidFill>
            <a:srgbClr val="EEF2F3"/>
          </a:solidFill>
          <a:ln w="12700">
            <a:solidFill>
              <a:srgbClr val="EEF2F3"/>
            </a:solidFill>
            <a:prstDash val="solid"/>
          </a:ln>
        </p:spPr>
      </p:sp>
      <p:sp>
        <p:nvSpPr>
          <p:cNvPr id="11" name="Text 8"/>
          <p:cNvSpPr txBox="1"/>
          <p:nvPr/>
        </p:nvSpPr>
        <p:spPr>
          <a:xfrm>
            <a:off x="8275320" y="4343400"/>
            <a:ext cx="3017520" cy="640080"/>
          </a:xfrm>
          <a:prstGeom prst="rect">
            <a:avLst/>
          </a:prstGeom>
          <a:noFill/>
          <a:ln/>
        </p:spPr>
        <p:txBody>
          <a:bodyPr wrap="square" lIns="0" tIns="0" rIns="0" bIns="0" rtlCol="0" anchor="ctr"/>
          <a:lstStyle/>
          <a:p>
            <a:pPr indent="0" marL="0">
              <a:buNone/>
            </a:pPr>
            <a:r>
              <a:rPr lang="en-US" sz="3200" b="1" dirty="0">
                <a:solidFill>
                  <a:srgbClr val="2E7D7A"/>
                </a:solidFill>
                <a:latin typeface="Cambria" pitchFamily="34" charset="0"/>
                <a:ea typeface="Cambria" pitchFamily="34" charset="-122"/>
                <a:cs typeface="Cambria" pitchFamily="34" charset="-120"/>
              </a:rPr>
              <a:t>Orden</a:t>
            </a:r>
            <a:endParaRPr lang="en-US" sz="3200" dirty="0"/>
          </a:p>
        </p:txBody>
      </p:sp>
      <p:sp>
        <p:nvSpPr>
          <p:cNvPr id="12" name="Text 9"/>
          <p:cNvSpPr txBox="1"/>
          <p:nvPr/>
        </p:nvSpPr>
        <p:spPr>
          <a:xfrm>
            <a:off x="8275320" y="5029200"/>
            <a:ext cx="3063240" cy="1143000"/>
          </a:xfrm>
          <a:prstGeom prst="rect">
            <a:avLst/>
          </a:prstGeom>
          <a:noFill/>
          <a:ln/>
        </p:spPr>
        <p:txBody>
          <a:bodyPr wrap="square" lIns="0" tIns="0" rIns="0" bIns="0" rtlCol="0" anchor="t"/>
          <a:lstStyle/>
          <a:p>
            <a:pPr indent="0" marL="0">
              <a:buNone/>
            </a:pPr>
            <a:r>
              <a:rPr lang="en-US" sz="1300" dirty="0">
                <a:solidFill>
                  <a:srgbClr val="1B2A33"/>
                </a:solidFill>
                <a:latin typeface="Calibri" pitchFamily="34" charset="0"/>
                <a:ea typeface="Calibri" pitchFamily="34" charset="-122"/>
                <a:cs typeface="Calibri" pitchFamily="34" charset="-120"/>
              </a:rPr>
              <a:t>VOI &gt; dual-lattice &gt; spinodoide se conserva en cada malla (salvo C5, donde dual y spinodoide quedan cercanos)</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Sensibilidad a la carga superior</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0"/>
                <a:gridCol w="2011680"/>
                <a:gridCol w="2011680"/>
                <a:gridCol w="246888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Protocolo de carga en la cima</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Spinodoide / VOI [%]</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Dual-lattice / VOI [%]</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E_app VOI, cambio frente a presión [%]</a:t>
                      </a:r>
                      <a:endParaRPr lang="en-US" sz="13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solidFill>
                      <a:srgbClr val="1F3A44"/>
                    </a:solidFill>
                  </a:tcPr>
                </a:tc>
              </a:tr>
              <a:tr h="457200">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Presión sobre las caras óseas (el aquí usado)</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18 a 42</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69 a 80</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457200">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Plato rígido (uz uniforme en la cima)</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28 a 66</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77 a 85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+5 a 22</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r h="457200">
                <a:tc>
                  <a:txBody>
                    <a:bodyPr/>
                    <a:lstStyle/>
                    <a:p>
                      <a:pPr algn="l" indent="0" marL="0">
                        <a:buNone/>
                      </a:pPr>
                      <a:r>
                        <a:rPr lang="en-US" sz="1400" b="1" dirty="0">
                          <a:solidFill>
                            <a:srgbClr val="000000"/>
                          </a:solidFill>
                          <a:latin typeface="Calibri" pitchFamily="34" charset="0"/>
                          <a:ea typeface="Calibri" pitchFamily="34" charset="-122"/>
                          <a:cs typeface="Calibri" pitchFamily="34" charset="-120"/>
                        </a:rPr>
                        <a:t>Plato rígido, módulo del núcleo corregido</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28 a 79</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79 a 95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+5 a 25</a:t>
                      </a:r>
                      <a:endParaRPr lang="en-US" sz="1400" dirty="0">
                        <a:latin typeface="Calibri" charset="0"/>
                        <a:ea typeface="Calibri" charset="0"/>
                        <a:cs typeface="Calibri" charset="0"/>
                      </a:endParaRPr>
                    </a:p>
                  </a:txBody>
                  <a:tcPr marL="91440" marR="91440" marT="45720" marB="45720" anchor="ctr">
                    <a:lnL w="12700" cap="flat" cmpd="sng" algn="ctr">
                      <a:solidFill>
                        <a:srgbClr val="CFD6D9"/>
                      </a:solidFill>
                      <a:prstDash val="solid"/>
                      <a:round/>
                      <a:headEnd type="none" w="med" len="med"/>
                      <a:tailEnd type="none" w="med" len="med"/>
                    </a:lnL>
                    <a:lnR w="12700" cap="flat" cmpd="sng" algn="ctr">
                      <a:solidFill>
                        <a:srgbClr val="CFD6D9"/>
                      </a:solidFill>
                      <a:prstDash val="solid"/>
                      <a:round/>
                      <a:headEnd type="none" w="med" len="med"/>
                      <a:tailEnd type="none" w="med" len="med"/>
                    </a:lnR>
                    <a:lnT w="12700" cap="flat" cmpd="sng" algn="ctr">
                      <a:solidFill>
                        <a:srgbClr val="CFD6D9"/>
                      </a:solidFill>
                      <a:prstDash val="solid"/>
                      <a:round/>
                      <a:headEnd type="none" w="med" len="med"/>
                      <a:tailEnd type="none" w="med" len="med"/>
                    </a:lnT>
                    <a:lnB w="12700" cap="flat" cmpd="sng" algn="ctr">
                      <a:solidFill>
                        <a:srgbClr val="CFD6D9"/>
                      </a:solidFill>
                      <a:prstDash val="solid"/>
                      <a:round/>
                      <a:headEnd type="none" w="med" len="med"/>
                      <a:tailEnd type="none" w="med" len="med"/>
                    </a:lnB>
                  </a:tcPr>
                </a:tc>
              </a:tr>
            </a:tbl>
          </a:graphicData>
        </a:graphic>
      </p:graphicFrame>
      <p:sp>
        <p:nvSpPr>
          <p:cNvPr id="4" name="Text 1"/>
          <p:cNvSpPr txBox="1"/>
          <p:nvPr/>
        </p:nvSpPr>
        <p:spPr>
          <a:xfrm>
            <a:off x="548640" y="3520440"/>
            <a:ext cx="110642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2A33"/>
                </a:solidFill>
                <a:latin typeface="Calibri" pitchFamily="34" charset="0"/>
                <a:ea typeface="Calibri" pitchFamily="34" charset="-122"/>
                <a:cs typeface="Calibri" pitchFamily="34" charset="-120"/>
              </a:rPr>
              <a:t>Solo 26 a 42 % de la sección de la cima es hueso: la presión local sobre el hueso vale 26 a 43 veces 11,1 MPa (26,3 a 42,6 MPa).</a:t>
            </a:r>
            <a:endParaRPr lang="en-US" sz="1600" dirty="0"/>
          </a:p>
          <a:p>
            <a:pPr marL="342900" indent="-342900">
              <a:spcAft>
                <a:spcPts val="800"/>
              </a:spcAft>
              <a:buSzPct val="100000"/>
              <a:buChar char="•"/>
            </a:pPr>
            <a:r>
              <a:rPr lang="en-US" sz="1600" dirty="0">
                <a:solidFill>
                  <a:srgbClr val="1B2A33"/>
                </a:solidFill>
                <a:latin typeface="Calibri" pitchFamily="34" charset="0"/>
                <a:ea typeface="Calibri" pitchFamily="34" charset="-122"/>
                <a:cs typeface="Calibri" pitchFamily="34" charset="-120"/>
              </a:rPr>
              <a:t>El resultado depende de cómo se aplique la carga: cambia el nivel absoluto y también la razón entre estructuras.</a:t>
            </a:r>
            <a:endParaRPr lang="en-US" sz="1600" dirty="0"/>
          </a:p>
          <a:p>
            <a:pPr marL="342900" indent="-342900">
              <a:spcAft>
                <a:spcPts val="800"/>
              </a:spcAft>
              <a:buSzPct val="100000"/>
              <a:buChar char="•"/>
            </a:pPr>
            <a:r>
              <a:rPr lang="en-US" sz="1600" dirty="0">
                <a:solidFill>
                  <a:srgbClr val="1B2A33"/>
                </a:solidFill>
                <a:latin typeface="Calibri" pitchFamily="34" charset="0"/>
                <a:ea typeface="Calibri" pitchFamily="34" charset="-122"/>
                <a:cs typeface="Calibri" pitchFamily="34" charset="-120"/>
              </a:rPr>
              <a:t>El orden VOI &gt; dual-lattice &gt; spinodoide se mantiene en los tres esquemas, salvo C5 con el módulo corregido, donde dual-lattice y spinodoide empatan (79 %).</a:t>
            </a:r>
            <a:endParaRPr lang="en-US" sz="1600" dirty="0"/>
          </a:p>
          <a:p>
            <a:pPr marL="342900" indent="-342900">
              <a:spcAft>
                <a:spcPts val="800"/>
              </a:spcAft>
              <a:buSzPct val="100000"/>
              <a:buChar char="•"/>
            </a:pPr>
            <a:r>
              <a:rPr lang="en-US" sz="1600" dirty="0">
                <a:solidFill>
                  <a:srgbClr val="1B2A33"/>
                </a:solidFill>
                <a:latin typeface="Calibri" pitchFamily="34" charset="0"/>
                <a:ea typeface="Calibri" pitchFamily="34" charset="-122"/>
                <a:cs typeface="Calibri" pitchFamily="34" charset="-120"/>
              </a:rPr>
              <a:t>El protocolo original de Tapia et al. (2026) no está replicado al detalle (elemento, malla y contacto), por lo que no se comparan cifras absolutas.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Lectura y límites</a:t>
            </a:r>
            <a:endParaRPr lang="en-US" sz="3600" dirty="0"/>
          </a:p>
        </p:txBody>
      </p:sp>
      <p:sp>
        <p:nvSpPr>
          <p:cNvPr id="3" name="columna Lo que se puede decir"/>
          <p:cNvSpPr/>
          <p:nvPr/>
        </p:nvSpPr>
        <p:spPr>
          <a:xfrm>
            <a:off x="548640" y="1371600"/>
            <a:ext cx="5440680" cy="4206240"/>
          </a:xfrm>
          <a:prstGeom prst="roundRect">
            <a:avLst>
              <a:gd name="adj" fmla="val 1739"/>
            </a:avLst>
          </a:prstGeom>
          <a:solidFill>
            <a:srgbClr val="EEF2F3"/>
          </a:solidFill>
          <a:ln w="12700">
            <a:solidFill>
              <a:srgbClr val="EEF2F3"/>
            </a:solidFill>
            <a:prstDash val="solid"/>
          </a:ln>
        </p:spPr>
      </p:sp>
      <p:sp>
        <p:nvSpPr>
          <p:cNvPr id="4" name="Text 2"/>
          <p:cNvSpPr txBox="1"/>
          <p:nvPr/>
        </p:nvSpPr>
        <p:spPr>
          <a:xfrm>
            <a:off x="822960" y="1508760"/>
            <a:ext cx="4937760" cy="457200"/>
          </a:xfrm>
          <a:prstGeom prst="rect">
            <a:avLst/>
          </a:prstGeom>
          <a:noFill/>
          <a:ln/>
        </p:spPr>
        <p:txBody>
          <a:bodyPr wrap="square" lIns="0" tIns="0" rIns="0" bIns="0" rtlCol="0" anchor="t"/>
          <a:lstStyle/>
          <a:p>
            <a:pPr indent="0" marL="0">
              <a:buNone/>
            </a:pPr>
            <a:r>
              <a:rPr lang="en-US" sz="2200" b="1" dirty="0">
                <a:solidFill>
                  <a:srgbClr val="2E7D7A"/>
                </a:solidFill>
                <a:latin typeface="Calibri" pitchFamily="34" charset="0"/>
                <a:ea typeface="Calibri" pitchFamily="34" charset="-122"/>
                <a:cs typeface="Calibri" pitchFamily="34" charset="-120"/>
              </a:rPr>
              <a:t>Lo que se puede decir</a:t>
            </a:r>
            <a:endParaRPr lang="en-US" sz="2200" dirty="0"/>
          </a:p>
        </p:txBody>
      </p:sp>
      <p:sp>
        <p:nvSpPr>
          <p:cNvPr id="5" name="Text 3"/>
          <p:cNvSpPr txBox="1"/>
          <p:nvPr/>
        </p:nvSpPr>
        <p:spPr>
          <a:xfrm>
            <a:off x="822960" y="2103120"/>
            <a:ext cx="493776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A 40³ y con esta carga, el spinodoide conserva 18 a 42 % de la rigidez del VOI y su p99 de von Mises es 1,8 a 3,1 veces mayor.</a:t>
            </a:r>
            <a:endParaRPr lang="en-US" sz="1600" dirty="0"/>
          </a:p>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El dual-lattice conserva 69 a 80 % y 1,2 a 1,4 veces.</a:t>
            </a:r>
            <a:endParaRPr lang="en-US" sz="1600" dirty="0"/>
          </a:p>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La formulación se verificó con cubo, prisma y columnas macizos: 131 pruebas con respuesta exacta pasan.</a:t>
            </a:r>
            <a:endParaRPr lang="en-US" sz="1600" dirty="0"/>
          </a:p>
        </p:txBody>
      </p:sp>
      <p:sp>
        <p:nvSpPr>
          <p:cNvPr id="6" name="columna Límites"/>
          <p:cNvSpPr/>
          <p:nvPr/>
        </p:nvSpPr>
        <p:spPr>
          <a:xfrm>
            <a:off x="6172200" y="1371600"/>
            <a:ext cx="5440680" cy="4206240"/>
          </a:xfrm>
          <a:prstGeom prst="roundRect">
            <a:avLst>
              <a:gd name="adj" fmla="val 1739"/>
            </a:avLst>
          </a:prstGeom>
          <a:solidFill>
            <a:srgbClr val="EEF2F3"/>
          </a:solidFill>
          <a:ln w="12700">
            <a:solidFill>
              <a:srgbClr val="EEF2F3"/>
            </a:solidFill>
            <a:prstDash val="solid"/>
          </a:ln>
        </p:spPr>
      </p:sp>
      <p:sp>
        <p:nvSpPr>
          <p:cNvPr id="7" name="Text 5"/>
          <p:cNvSpPr txBox="1"/>
          <p:nvPr/>
        </p:nvSpPr>
        <p:spPr>
          <a:xfrm>
            <a:off x="6446520" y="1508760"/>
            <a:ext cx="4937760" cy="457200"/>
          </a:xfrm>
          <a:prstGeom prst="rect">
            <a:avLst/>
          </a:prstGeom>
          <a:noFill/>
          <a:ln/>
        </p:spPr>
        <p:txBody>
          <a:bodyPr wrap="square" lIns="0" tIns="0" rIns="0" bIns="0" rtlCol="0" anchor="t"/>
          <a:lstStyle/>
          <a:p>
            <a:pPr indent="0" marL="0">
              <a:buNone/>
            </a:pPr>
            <a:r>
              <a:rPr lang="en-US" sz="2200" b="1" dirty="0">
                <a:solidFill>
                  <a:srgbClr val="C8553D"/>
                </a:solidFill>
                <a:latin typeface="Calibri" pitchFamily="34" charset="0"/>
                <a:ea typeface="Calibri" pitchFamily="34" charset="-122"/>
                <a:cs typeface="Calibri" pitchFamily="34" charset="-120"/>
              </a:rPr>
              <a:t>Límites</a:t>
            </a:r>
            <a:endParaRPr lang="en-US" sz="2200" dirty="0"/>
          </a:p>
        </p:txBody>
      </p:sp>
      <p:sp>
        <p:nvSpPr>
          <p:cNvPr id="8" name="Text 6"/>
          <p:cNvSpPr txBox="1"/>
          <p:nvPr/>
        </p:nvSpPr>
        <p:spPr>
          <a:xfrm>
            <a:off x="6446520" y="2103120"/>
            <a:ext cx="4937760" cy="33832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Los resultados a 40³ no están convergidos con la malla, sobre todo los spinodoides; las razones dependen de la resolución y de la carga superior.</a:t>
            </a:r>
            <a:endParaRPr lang="en-US" sz="1600" dirty="0"/>
          </a:p>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El p99 supera 126 MPa (0,7 % de deformación crítica de Pistoia con E = 18 GPa) en 6 de las 15 estructuras: la hipótesis lineal es discutible.</a:t>
            </a:r>
            <a:endParaRPr lang="en-US" sz="1600" dirty="0"/>
          </a:p>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Remuestreo desigual (VOI 188→40, candidatos 96→40), una semilla por ajuste y cinco VOIs de un mismo estudio.</a:t>
            </a:r>
            <a:endParaRPr lang="en-US" sz="1600" dirty="0"/>
          </a:p>
          <a:p>
            <a:pPr marL="342900" indent="-342900">
              <a:spcAft>
                <a:spcPts val="1000"/>
              </a:spcAft>
              <a:buSzPct val="100000"/>
              <a:buChar char="•"/>
            </a:pPr>
            <a:r>
              <a:rPr lang="en-US" sz="1600" dirty="0">
                <a:solidFill>
                  <a:srgbClr val="1B2A33"/>
                </a:solidFill>
                <a:latin typeface="Calibri" pitchFamily="34" charset="0"/>
                <a:ea typeface="Calibri" pitchFamily="34" charset="-122"/>
                <a:cs typeface="Calibri" pitchFamily="34" charset="-120"/>
              </a:rPr>
              <a:t>Es simulación: no hay contraste con un ensayo físico de estos huesos.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Conclusiones</a:t>
            </a:r>
            <a:endParaRPr lang="en-US" sz="4000" dirty="0"/>
          </a:p>
        </p:txBody>
      </p:sp>
      <p:sp>
        <p:nvSpPr>
          <p:cNvPr id="3" name="numero 0"/>
          <p:cNvSpPr/>
          <p:nvPr/>
        </p:nvSpPr>
        <p:spPr>
          <a:xfrm>
            <a:off x="731520" y="1737360"/>
            <a:ext cx="731520" cy="731520"/>
          </a:xfrm>
          <a:prstGeom prst="ellipse">
            <a:avLst/>
          </a:prstGeom>
          <a:solidFill>
            <a:srgbClr val="2E7D7A"/>
          </a:solidFill>
          <a:ln w="12700">
            <a:solidFill>
              <a:srgbClr val="2E7D7A"/>
            </a:solidFill>
            <a:prstDash val="solid"/>
          </a:ln>
        </p:spPr>
      </p:sp>
      <p:sp>
        <p:nvSpPr>
          <p:cNvPr id="4" name="Text 2"/>
          <p:cNvSpPr txBox="1"/>
          <p:nvPr/>
        </p:nvSpPr>
        <p:spPr>
          <a:xfrm>
            <a:off x="731520" y="17373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5" name="Text 3"/>
          <p:cNvSpPr txBox="1"/>
          <p:nvPr/>
        </p:nvSpPr>
        <p:spPr>
          <a:xfrm>
            <a:off x="1737360" y="1691640"/>
            <a:ext cx="9692640" cy="10972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La formulación es la esperada: base adherida con los tres ejes fijos, cima libre en x e y y presión sobre las caras óseas. El cubo macizo es exacto con apoyo deslizante y rigidiza 3,1 % con la base adherida.</a:t>
            </a:r>
            <a:endParaRPr lang="en-US" sz="2000" dirty="0"/>
          </a:p>
        </p:txBody>
      </p:sp>
      <p:sp>
        <p:nvSpPr>
          <p:cNvPr id="6" name="numero 1"/>
          <p:cNvSpPr/>
          <p:nvPr/>
        </p:nvSpPr>
        <p:spPr>
          <a:xfrm>
            <a:off x="731520" y="3108960"/>
            <a:ext cx="731520" cy="731520"/>
          </a:xfrm>
          <a:prstGeom prst="ellipse">
            <a:avLst/>
          </a:prstGeom>
          <a:solidFill>
            <a:srgbClr val="2E7D7A"/>
          </a:solidFill>
          <a:ln w="12700">
            <a:solidFill>
              <a:srgbClr val="2E7D7A"/>
            </a:solidFill>
            <a:prstDash val="solid"/>
          </a:ln>
        </p:spPr>
      </p:sp>
      <p:sp>
        <p:nvSpPr>
          <p:cNvPr id="7" name="Text 5"/>
          <p:cNvSpPr txBox="1"/>
          <p:nvPr/>
        </p:nvSpPr>
        <p:spPr>
          <a:xfrm>
            <a:off x="731520" y="31089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8" name="Text 6"/>
          <p:cNvSpPr txBox="1"/>
          <p:nvPr/>
        </p:nvSpPr>
        <p:spPr>
          <a:xfrm>
            <a:off x="1737360" y="3063240"/>
            <a:ext cx="9692640" cy="10972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En estos 5 VOIs, a 40³ y con una semilla, el dual-lattice queda más cerca del VOI que el spinodoide en rigidez y en tensión (69 a 80 % frente a 18 a 42 %). Las magnitudes dependen de la malla y de la carga.</a:t>
            </a:r>
            <a:endParaRPr lang="en-US" sz="2000" dirty="0"/>
          </a:p>
        </p:txBody>
      </p:sp>
      <p:sp>
        <p:nvSpPr>
          <p:cNvPr id="9" name="numero 2"/>
          <p:cNvSpPr/>
          <p:nvPr/>
        </p:nvSpPr>
        <p:spPr>
          <a:xfrm>
            <a:off x="731520" y="4480560"/>
            <a:ext cx="731520" cy="731520"/>
          </a:xfrm>
          <a:prstGeom prst="ellipse">
            <a:avLst/>
          </a:prstGeom>
          <a:solidFill>
            <a:srgbClr val="2E7D7A"/>
          </a:solidFill>
          <a:ln w="12700">
            <a:solidFill>
              <a:srgbClr val="2E7D7A"/>
            </a:solidFill>
            <a:prstDash val="solid"/>
          </a:ln>
        </p:spPr>
      </p:sp>
      <p:sp>
        <p:nvSpPr>
          <p:cNvPr id="10" name="Text 8"/>
          <p:cNvSpPr txBox="1"/>
          <p:nvPr/>
        </p:nvSpPr>
        <p:spPr>
          <a:xfrm>
            <a:off x="731520" y="44805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1" name="Text 9"/>
          <p:cNvSpPr txBox="1"/>
          <p:nvPr/>
        </p:nvSpPr>
        <p:spPr>
          <a:xfrm>
            <a:off x="1737360" y="4434840"/>
            <a:ext cx="9692640" cy="10972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Falta convergencia con la malla y contraste con ensayos mecánicos del mismo hueso. Hasta entonces, son comparaciones relativas.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rgbClr val="1F3A44"/>
                </a:solidFill>
                <a:latin typeface="Cambria" pitchFamily="34" charset="0"/>
                <a:ea typeface="Cambria" pitchFamily="34" charset="-122"/>
                <a:cs typeface="Cambria" pitchFamily="34" charset="-120"/>
              </a:rPr>
              <a:t>Anexo: cifras por estructura</a:t>
            </a:r>
            <a:endParaRPr lang="en-US" sz="3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731520"/>
                <a:gridCol w="1645920"/>
                <a:gridCol w="1005840"/>
                <a:gridCol w="1463040"/>
                <a:gridCol w="1737360"/>
                <a:gridCol w="2103120"/>
                <a:gridCol w="1280160"/>
                <a:gridCol w="1097280"/>
              </a:tblGrid>
              <a:tr h="2743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VOI</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Estructura</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BV/TV</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E_app [MPa]</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von Mises p99 [MPa]</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von Mises máx. (no citable) [MPa]</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 máx. [mm]</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1F3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 p99 [mm]</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1F3A44"/>
                    </a:solidFill>
                  </a:tcPr>
                </a:tc>
              </a:tr>
              <a:tr h="2743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C1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VOI</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0,365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3240,4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88,1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158,6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0,0205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0,0136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Spinodoide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0,363</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1152,5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186,5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726,3</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0,3427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0,0407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Dual-lattice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0,365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2435,4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122,1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346,2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0,0466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0,0222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C2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VOI</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0,387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3219,6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91,2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203,1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0,0341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0,0131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Spinodoide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0,386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1361,4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162,6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874,7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0,1531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0,0386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Dual-lattice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0,387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2571,0</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109,1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509,9</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0,1596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0,0184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C3</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VOI</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0,334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2433,5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114,0</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391,5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0,1381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0,0157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Spinodoide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0,331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439,2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357,5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1304,5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0,7515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0,2522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Dual-lattice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0,335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1669,6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151,1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627,6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0,1536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0,0292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C4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VOI</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0,334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3017,6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94,6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275,4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0,0414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0,0136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Spinodoide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0,324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857,6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231,9</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482,9</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0,1567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0,0581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Dual-lattice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0,334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2392,6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117,3</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270,8</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0,0350</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0,0182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r>
                        <a:rPr lang="en-US" sz="1200" b="1" dirty="0">
                          <a:solidFill>
                            <a:srgbClr val="000000"/>
                          </a:solidFill>
                          <a:latin typeface="Calibri" pitchFamily="34" charset="0"/>
                          <a:ea typeface="Calibri" pitchFamily="34" charset="-122"/>
                          <a:cs typeface="Calibri" pitchFamily="34" charset="-120"/>
                        </a:rPr>
                        <a:t>C5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VOI</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0,363</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3514,8</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82,5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169,6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0,0187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0,0125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EEF2F3"/>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Spinodoide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0,363</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1480,5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179,0</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672,2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0,2752</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0,0356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r h="27432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Dual-lattice</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0,361</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2643,7</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105,5</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488,4</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0,0919</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0,0136</a:t>
                      </a:r>
                      <a:endParaRPr lang="en-US" sz="1200" dirty="0">
                        <a:latin typeface="Calibri" charset="0"/>
                        <a:ea typeface="Calibri" charset="0"/>
                        <a:cs typeface="Calibri" charset="0"/>
                      </a:endParaRPr>
                    </a:p>
                  </a:txBody>
                  <a:tcPr marL="91440" marR="91440" marT="45720" marB="45720" anchor="ctr">
                    <a:lnL w="6350" cap="flat" cmpd="sng" algn="ctr">
                      <a:solidFill>
                        <a:srgbClr val="CFD6D9"/>
                      </a:solidFill>
                      <a:prstDash val="solid"/>
                      <a:round/>
                      <a:headEnd type="none" w="med" len="med"/>
                      <a:tailEnd type="none" w="med" len="med"/>
                    </a:lnL>
                    <a:lnR w="6350" cap="flat" cmpd="sng" algn="ctr">
                      <a:solidFill>
                        <a:srgbClr val="CFD6D9"/>
                      </a:solidFill>
                      <a:prstDash val="solid"/>
                      <a:round/>
                      <a:headEnd type="none" w="med" len="med"/>
                      <a:tailEnd type="none" w="med" len="med"/>
                    </a:lnR>
                    <a:lnT w="6350" cap="flat" cmpd="sng" algn="ctr">
                      <a:solidFill>
                        <a:srgbClr val="CFD6D9"/>
                      </a:solidFill>
                      <a:prstDash val="solid"/>
                      <a:round/>
                      <a:headEnd type="none" w="med" len="med"/>
                      <a:tailEnd type="none" w="med" len="med"/>
                    </a:lnT>
                    <a:lnB w="6350" cap="flat" cmpd="sng" algn="ctr">
                      <a:solidFill>
                        <a:srgbClr val="CFD6D9"/>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Hueso trabecular">
  <a:themeElements>
    <a:clrScheme name="Hueso trabecular">
      <a:dk1>
        <a:srgbClr val="1B2A33"/>
      </a:dk1>
      <a:lt1>
        <a:srgbClr val="FFFFFF"/>
      </a:lt1>
      <a:dk2>
        <a:srgbClr val="1F3A44"/>
      </a:dk2>
      <a:lt2>
        <a:srgbClr val="EEF2F3"/>
      </a:lt2>
      <a:accent1>
        <a:srgbClr val="C8553D"/>
      </a:accent1>
      <a:accent2>
        <a:srgbClr val="2E7D7A"/>
      </a:accent2>
      <a:accent3>
        <a:srgbClr val="E0A030"/>
      </a:accent3>
      <a:accent4>
        <a:srgbClr val="5B6573"/>
      </a:accent4>
      <a:accent5>
        <a:srgbClr val="8FB8B5"/>
      </a:accent5>
      <a:accent6>
        <a:srgbClr val="6B5B95"/>
      </a:accent6>
      <a:hlink>
        <a:srgbClr val="2E7D7A"/>
      </a:hlink>
      <a:folHlink>
        <a:srgbClr val="5B6573"/>
      </a:folHlink>
    </a:clrScheme>
    <a:fontScheme name="Hueso trabecul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Protocolo de Tapia con C1 a C5</dc:title>
  <dc:subject>PptxGenJS Presentation</dc:subject>
  <dc:creator>spinpy</dc:creator>
  <cp:lastModifiedBy>spinpy</cp:lastModifiedBy>
  <cp:revision>1</cp:revision>
  <dcterms:created xsi:type="dcterms:W3CDTF">2026-10-13T16:12:43Z</dcterms:created>
  <dcterms:modified xsi:type="dcterms:W3CDTF">2026-10-13T16:12:43Z</dcterms:modified>
</cp:coreProperties>
</file>