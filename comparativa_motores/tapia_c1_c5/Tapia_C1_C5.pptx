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edc1929-7fbf-3024-0f49-3fc3d7ae1285}">
          <p14:sldIdLst>
            <p14:sldId id="256"/>
          </p14:sldIdLst>
        </p14:section>
        <p14:section name="Experimento y método" id="{5a0486ea-8d3e-0707-7fe6-a7fee25abc25}">
          <p14:sldIdLst>
            <p14:sldId id="257"/>
            <p14:sldId id="258"/>
            <p14:sldId id="259"/>
          </p14:sldIdLst>
        </p14:section>
        <p14:section name="Chequeo con el cubo macizo" id="{096d94b8-9e1c-66f6-012f-8370bc9ef768}">
          <p14:sldIdLst>
            <p14:sldId id="260"/>
            <p14:sldId id="261"/>
          </p14:sldIdLst>
        </p14:section>
        <p14:section name="Resultados" id="{be672b64-f94b-7591-3314-72c846526bbe}">
          <p14:sldIdLst>
            <p14:sldId id="262"/>
            <p14:sldId id="263"/>
            <p14:sldId id="264"/>
            <p14:sldId id="265"/>
          </p14:sldIdLst>
        </p14:section>
        <p14:section name="Cierre" id="{8af1dfa3-0058-68e7-2397-26c03ff42bb7}">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A33"/>
                </a:solidFill>
                <a:latin typeface="+mn-lt"/>
              </a:defRPr>
            </a:pPr>
            <a:r>
              <a:rPr sz="1600" b="0" i="0" u="none" strike="noStrike">
                <a:solidFill>
                  <a:srgbClr val="1B2A33"/>
                </a:solidFill>
                <a:latin typeface="+mn-lt"/>
              </a:rPr>
              <a:t>Módulo aparente E_app [MPa]</a:t>
            </a:r>
          </a:p>
        </c:rich>
      </c:tx>
      <c:layout/>
      <c:overlay val="0"/>
    </c:title>
    <c:autoTitleDeleted val="0"/>
    <c:plotArea>
      <c:layout/>
      <c:barChart>
        <c:barDir val="col"/>
        <c:grouping val="clustered"/>
        <c:varyColors val="0"/>
        <c:ser>
          <c:idx val="0"/>
          <c:order val="0"/>
          <c:tx>
            <c:strRef>
              <c:f>Sheet1!$B$1</c:f>
              <c:strCache>
                <c:ptCount val="1"/>
                <c:pt idx="0">
                  <c:v>VOI</c:v>
                </c:pt>
              </c:strCache>
            </c:strRef>
          </c:tx>
          <c:spPr>
            <a:solidFill>
              <a:srgbClr val="2B2F36"/>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Sheet1!$B$2:$B$6</c:f>
              <c:numCache>
                <c:formatCode>General</c:formatCode>
                <c:ptCount val="5"/>
                <c:pt idx="0">
                  <c:v>3240.4</c:v>
                </c:pt>
                <c:pt idx="1">
                  <c:v>3219.6</c:v>
                </c:pt>
                <c:pt idx="2">
                  <c:v>2433.5</c:v>
                </c:pt>
                <c:pt idx="3">
                  <c:v>3017.6</c:v>
                </c:pt>
                <c:pt idx="4">
                  <c:v>3514.8</c:v>
                </c:pt>
              </c:numCache>
            </c:numRef>
          </c:val>
        </c:ser>
        <c:ser>
          <c:idx val="1"/>
          <c:order val="1"/>
          <c:tx>
            <c:strRef>
              <c:f>Sheet1!$C$1</c:f>
              <c:strCache>
                <c:ptCount val="1"/>
                <c:pt idx="0">
                  <c:v>Spinodoide</c:v>
                </c:pt>
              </c:strCache>
            </c:strRef>
          </c:tx>
          <c:spPr>
            <a:solidFill>
              <a:srgbClr val="C8553D"/>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Sheet1!$C$2:$C$6</c:f>
              <c:numCache>
                <c:formatCode>General</c:formatCode>
                <c:ptCount val="5"/>
                <c:pt idx="0">
                  <c:v>1152.5</c:v>
                </c:pt>
                <c:pt idx="1">
                  <c:v>1361.4</c:v>
                </c:pt>
                <c:pt idx="2">
                  <c:v>439.2</c:v>
                </c:pt>
                <c:pt idx="3">
                  <c:v>857.6</c:v>
                </c:pt>
                <c:pt idx="4">
                  <c:v>1480.5</c:v>
                </c:pt>
              </c:numCache>
            </c:numRef>
          </c:val>
        </c:ser>
        <c:ser>
          <c:idx val="2"/>
          <c:order val="2"/>
          <c:tx>
            <c:strRef>
              <c:f>Sheet1!$D$1</c:f>
              <c:strCache>
                <c:ptCount val="1"/>
                <c:pt idx="0">
                  <c:v>Dual-lattice</c:v>
                </c:pt>
              </c:strCache>
            </c:strRef>
          </c:tx>
          <c:spPr>
            <a:solidFill>
              <a:srgbClr val="2E7D7A"/>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Sheet1!$D$2:$D$6</c:f>
              <c:numCache>
                <c:formatCode>General</c:formatCode>
                <c:ptCount val="5"/>
                <c:pt idx="0">
                  <c:v>2435.4</c:v>
                </c:pt>
                <c:pt idx="1">
                  <c:v>2571</c:v>
                </c:pt>
                <c:pt idx="2">
                  <c:v>1669.6</c:v>
                </c:pt>
                <c:pt idx="3">
                  <c:v>2392.6</c:v>
                </c:pt>
                <c:pt idx="4">
                  <c:v>2643.7</c:v>
                </c:pt>
              </c:numCache>
            </c:numRef>
          </c:val>
        </c:ser>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6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5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A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A33"/>
                </a:solidFill>
                <a:latin typeface="+mn-lt"/>
              </a:defRPr>
            </a:pPr>
            <a:r>
              <a:rPr sz="1600" b="0" i="0" u="none" strike="noStrike">
                <a:solidFill>
                  <a:srgbClr val="1B2A33"/>
                </a:solidFill>
                <a:latin typeface="+mn-lt"/>
              </a:rPr>
              <a:t>Von Mises, percentil 99 [MPa]</a:t>
            </a:r>
          </a:p>
        </c:rich>
      </c:tx>
      <c:layout/>
      <c:overlay val="0"/>
    </c:title>
    <c:autoTitleDeleted val="0"/>
    <c:plotArea>
      <c:layout/>
      <c:barChart>
        <c:barDir val="col"/>
        <c:grouping val="clustered"/>
        <c:varyColors val="0"/>
        <c:ser>
          <c:idx val="0"/>
          <c:order val="0"/>
          <c:tx>
            <c:strRef>
              <c:f>Sheet1!$B$1</c:f>
              <c:strCache>
                <c:ptCount val="1"/>
                <c:pt idx="0">
                  <c:v>VOI</c:v>
                </c:pt>
              </c:strCache>
            </c:strRef>
          </c:tx>
          <c:spPr>
            <a:solidFill>
              <a:srgbClr val="2B2F36"/>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Sheet1!$B$2:$B$6</c:f>
              <c:numCache>
                <c:formatCode>General</c:formatCode>
                <c:ptCount val="5"/>
                <c:pt idx="0">
                  <c:v>88.1</c:v>
                </c:pt>
                <c:pt idx="1">
                  <c:v>91.2</c:v>
                </c:pt>
                <c:pt idx="2">
                  <c:v>114</c:v>
                </c:pt>
                <c:pt idx="3">
                  <c:v>94.6</c:v>
                </c:pt>
                <c:pt idx="4">
                  <c:v>82.5</c:v>
                </c:pt>
              </c:numCache>
            </c:numRef>
          </c:val>
        </c:ser>
        <c:ser>
          <c:idx val="1"/>
          <c:order val="1"/>
          <c:tx>
            <c:strRef>
              <c:f>Sheet1!$C$1</c:f>
              <c:strCache>
                <c:ptCount val="1"/>
                <c:pt idx="0">
                  <c:v>Spinodoide</c:v>
                </c:pt>
              </c:strCache>
            </c:strRef>
          </c:tx>
          <c:spPr>
            <a:solidFill>
              <a:srgbClr val="C8553D"/>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Sheet1!$C$2:$C$6</c:f>
              <c:numCache>
                <c:formatCode>General</c:formatCode>
                <c:ptCount val="5"/>
                <c:pt idx="0">
                  <c:v>186.5</c:v>
                </c:pt>
                <c:pt idx="1">
                  <c:v>162.6</c:v>
                </c:pt>
                <c:pt idx="2">
                  <c:v>357.5</c:v>
                </c:pt>
                <c:pt idx="3">
                  <c:v>231.9</c:v>
                </c:pt>
                <c:pt idx="4">
                  <c:v>179</c:v>
                </c:pt>
              </c:numCache>
            </c:numRef>
          </c:val>
        </c:ser>
        <c:ser>
          <c:idx val="2"/>
          <c:order val="2"/>
          <c:tx>
            <c:strRef>
              <c:f>Sheet1!$D$1</c:f>
              <c:strCache>
                <c:ptCount val="1"/>
                <c:pt idx="0">
                  <c:v>Dual-lattice</c:v>
                </c:pt>
              </c:strCache>
            </c:strRef>
          </c:tx>
          <c:spPr>
            <a:solidFill>
              <a:srgbClr val="2E7D7A"/>
            </a:solidFill>
            <a:effectLst/>
          </c:spPr>
          <c:invertIfNegative val="0"/>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C1</c:v>
                  </c:pt>
                  <c:pt idx="1">
                    <c:v>C2</c:v>
                  </c:pt>
                  <c:pt idx="2">
                    <c:v>C3</c:v>
                  </c:pt>
                  <c:pt idx="3">
                    <c:v>C4</c:v>
                  </c:pt>
                  <c:pt idx="4">
                    <c:v>C5</c:v>
                  </c:pt>
                </c:lvl>
              </c:multiLvlStrCache>
            </c:multiLvlStrRef>
          </c:cat>
          <c:val>
            <c:numRef>
              <c:f>Sheet1!$D$2:$D$6</c:f>
              <c:numCache>
                <c:formatCode>General</c:formatCode>
                <c:ptCount val="5"/>
                <c:pt idx="0">
                  <c:v>122.1</c:v>
                </c:pt>
                <c:pt idx="1">
                  <c:v>109.1</c:v>
                </c:pt>
                <c:pt idx="2">
                  <c:v>151.1</c:v>
                </c:pt>
                <c:pt idx="3">
                  <c:v>117.3</c:v>
                </c:pt>
                <c:pt idx="4">
                  <c:v>105.5</c:v>
                </c:pt>
              </c:numCache>
            </c:numRef>
          </c:val>
        </c:ser>
        <c:dLbls>
          <c:numFmt formatCode="0" sourceLinked="0"/>
          <c:txPr>
            <a:bodyPr/>
            <a:lstStyle/>
            <a:p>
              <a:pPr>
                <a:defRPr b="0" i="0" strike="noStrike" sz="1000" u="none">
                  <a:solidFill>
                    <a:srgbClr val="1B2A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6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5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A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breve del protocolo de ensayo de Tapia et al. (2026) aplicado a cinco VOIs porcinos y a sus candidatos espinodal y dual-lattice. Se muestran la deformación total y la tensión de von Mises. Antes de los resultados se verifica la formulación con un cubo macizo.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VOIs son del conjunto público de Koria, Mengoni y Brockett (2020). Cada candidato se ajusta a su VOI con la función objetivo morfométrica de spinpy. La malla es de hexaedros a 40 elementos por lado, la resolución por omisión de la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campo de von Mises y el de deformación total no se reescalan entre sí: la deformación total acumula todo lo que se movió la probeta y su máximo está siempre en la cara cargada; von Mises localiza los nudos trabeculares. En un estado uniaxial von Mises vale exactamente la tensión axial.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Revisión de la formulación en el código: en el protocolo de Tapia la base queda con los tres ejes fijos. La cara superior no es un plato rígido: recibe fuerzas nodales iguales en menos z y sus ejes x e y quedan libres, igual que las caras laterales. El apoyo deslizante fija solo uz en la base más los anclajes mínimos contra el movimiento de sólido rígido.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Cubo macizo de 3,008 mm con 100 N, E de 18 GPa, malla de 40 elementos por lado y NGSolve con solver directo. Con apoyo deslizante la solución es uniaxial y exacta. Con base empotrada no hay solución cerrada simple: se reportan la rigidización, el máximo de von Mises y la reducción de la expansión lateral. El máximo de von Mises de la base crece al refinar la malla (1,27 σ a 16 elementos por lado, 1,76 σ a 40), por eso no se 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chequeo recorre cada análisis mecánico de la app con un cubo macizo, que tiene solución exacta: compresión lineal, plato rígido, módulo corregido del núcleo, no lineal de Saint Venant-Kirchhoff frente a su solución cerrada, criterio de Pistoia, homogeneización periódica, compresión en los tres ejes y convergencia con la malla. Los motores usados fueron la app, NGSolve y scikit-fem, en hexaedros y TET10. Guion: sanidad_cubo.py.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ajustes usan el modo completo, la resolución de comparación por omisión (96 elementos por lado), semilla 20260720, sin término mecánico ni réplicas. Los de C2 y C4 reproducen los de la campaña anterior. El error es la función objetivo morfométrica de spinpy.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Deformación total |u| en milímetros, mapa 3D de cada una de las 15 estructuras con la misma escala por VOI. La rigidez aparente se toma del desplazamiento medio del techo ponderado por área. Las cifras salen de NGSolve con solver directo; la app coincide a 3×10^-12 en E_app.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Tensión de von Mises en MPa. El máximo de un campo de von Mises no converge con la malla (con el cubo macizo crece al refinar), por eso las tablas citan el percentil 99. Las zonas amarillas son nudos y puntales finos del spinodoide.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base empotrada, 100 N y E de 18 GPa. E_app se calcula con el desplazamiento medio del techo ponderado por área. El p99 de von Mises es sobre los elementos del sólido. C2 y C4 reproducen los valores de la campaña anterior de la comparativa de motores.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resultado son comparaciones relativas entre estructuras bajo una misma condición de carga, no predicciones de resistencia de un espécimen. El caso C3 spinodoide es el más blando y es el que más se aparta de la linealidad.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Próximos pasos: obtener los datos mecánicos del conjunto de Koria et al. si están publicados, o ensayar piezas propias, y repetir el contraste con spinpy-validar-exp con criterios declarados antes de mirar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Cifras de NGSolve con solver directo. El von Mises máximo se da a título informativo: no converge con la malla y no debe citarse.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F3A4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600" b="1" dirty="0">
                <a:solidFill>
                  <a:srgbClr val="1F3A4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5B6573"/>
                </a:solidFill>
                <a:latin typeface="Calibri" pitchFamily="34" charset="0"/>
                <a:ea typeface="Calibri" pitchFamily="34" charset="-122"/>
                <a:cs typeface="Calibri" pitchFamily="34" charset="-120"/>
              </a:rPr>
              <a:t>spinpy V2.2.0 · protocolo de Tapia con C1 a C5</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F3A4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686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828800"/>
            <a:ext cx="1069848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Protocolo de Tapia con C1 a C5</a:t>
            </a:r>
            <a:endParaRPr lang="en-US" sz="4800" dirty="0"/>
          </a:p>
        </p:txBody>
      </p:sp>
      <p:sp>
        <p:nvSpPr>
          <p:cNvPr id="3" name="Text 1"/>
          <p:cNvSpPr txBox="1"/>
          <p:nvPr/>
        </p:nvSpPr>
        <p:spPr>
          <a:xfrm>
            <a:off x="731520" y="3063240"/>
            <a:ext cx="9601200" cy="1005840"/>
          </a:xfrm>
          <a:prstGeom prst="rect">
            <a:avLst/>
          </a:prstGeom>
          <a:noFill/>
          <a:ln/>
        </p:spPr>
        <p:txBody>
          <a:bodyPr wrap="square" lIns="0" tIns="0" rIns="0" bIns="0" rtlCol="0" anchor="t"/>
          <a:lstStyle/>
          <a:p>
            <a:pPr indent="0" marL="0">
              <a:buNone/>
            </a:pPr>
            <a:r>
              <a:rPr lang="en-US" sz="2400" dirty="0">
                <a:solidFill>
                  <a:srgbClr val="CFE3E1"/>
                </a:solidFill>
                <a:latin typeface="Calibri" pitchFamily="34" charset="0"/>
                <a:ea typeface="Calibri" pitchFamily="34" charset="-122"/>
                <a:cs typeface="Calibri" pitchFamily="34" charset="-120"/>
              </a:rPr>
              <a:t>Deformación total y tensión de von Mises en cinco VOIs porcinos, sus spinodoides y sus dual-lattice</a:t>
            </a:r>
            <a:endParaRPr lang="en-US" sz="2400" dirty="0"/>
          </a:p>
        </p:txBody>
      </p:sp>
      <p:sp>
        <p:nvSpPr>
          <p:cNvPr id="4" name="Text 2"/>
          <p:cNvSpPr txBox="1"/>
          <p:nvPr/>
        </p:nvSpPr>
        <p:spPr>
          <a:xfrm>
            <a:off x="731520" y="5943600"/>
            <a:ext cx="10698480" cy="365760"/>
          </a:xfrm>
          <a:prstGeom prst="rect">
            <a:avLst/>
          </a:prstGeom>
          <a:noFill/>
          <a:ln/>
        </p:spPr>
        <p:txBody>
          <a:bodyPr wrap="square" lIns="0" tIns="0" rIns="0" bIns="0" rtlCol="0" anchor="t"/>
          <a:lstStyle/>
          <a:p>
            <a:pPr indent="0" marL="0">
              <a:buNone/>
            </a:pPr>
            <a:r>
              <a:rPr lang="en-US" sz="1400" dirty="0">
                <a:solidFill>
                  <a:srgbClr val="8FB8B5"/>
                </a:solidFill>
                <a:latin typeface="Calibri" pitchFamily="34" charset="0"/>
                <a:ea typeface="Calibri" pitchFamily="34" charset="-122"/>
                <a:cs typeface="Calibri" pitchFamily="34" charset="-120"/>
              </a:rPr>
              <a:t>spinpy V2.2.0  ·  VOIs: Koria, Mengoni y Brockett (2020), CC BY 4.0, doi:10.5518/787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El experimento</a:t>
            </a:r>
            <a:endParaRPr lang="en-US" sz="3600" dirty="0"/>
          </a:p>
        </p:txBody>
      </p:sp>
      <p:sp>
        <p:nvSpPr>
          <p:cNvPr id="3" name="tarjeta 0"/>
          <p:cNvSpPr/>
          <p:nvPr/>
        </p:nvSpPr>
        <p:spPr>
          <a:xfrm>
            <a:off x="548640" y="1417320"/>
            <a:ext cx="3474720" cy="1737360"/>
          </a:xfrm>
          <a:prstGeom prst="roundRect">
            <a:avLst>
              <a:gd name="adj" fmla="val 5263"/>
            </a:avLst>
          </a:prstGeom>
          <a:solidFill>
            <a:srgbClr val="EEF2F3"/>
          </a:solidFill>
          <a:ln w="12700">
            <a:solidFill>
              <a:srgbClr val="EEF2F3"/>
            </a:solidFill>
            <a:prstDash val="solid"/>
          </a:ln>
        </p:spPr>
      </p:sp>
      <p:sp>
        <p:nvSpPr>
          <p:cNvPr id="4" name="Text 2"/>
          <p:cNvSpPr txBox="1"/>
          <p:nvPr/>
        </p:nvSpPr>
        <p:spPr>
          <a:xfrm>
            <a:off x="822960" y="1554480"/>
            <a:ext cx="2926080" cy="868680"/>
          </a:xfrm>
          <a:prstGeom prst="rect">
            <a:avLst/>
          </a:prstGeom>
          <a:noFill/>
          <a:ln/>
        </p:spPr>
        <p:txBody>
          <a:bodyPr wrap="square" lIns="0" tIns="0" rIns="0" bIns="0" rtlCol="0" anchor="ctr"/>
          <a:lstStyle/>
          <a:p>
            <a:pPr indent="0" marL="0">
              <a:buNone/>
            </a:pPr>
            <a:r>
              <a:rPr lang="en-US" sz="4800" b="1" dirty="0">
                <a:solidFill>
                  <a:srgbClr val="2E7D7A"/>
                </a:solidFill>
                <a:latin typeface="Cambria" pitchFamily="34" charset="0"/>
                <a:ea typeface="Cambria" pitchFamily="34" charset="-122"/>
                <a:cs typeface="Cambria" pitchFamily="34" charset="-120"/>
              </a:rPr>
              <a:t>5</a:t>
            </a:r>
            <a:endParaRPr lang="en-US" sz="4800" dirty="0"/>
          </a:p>
        </p:txBody>
      </p:sp>
      <p:sp>
        <p:nvSpPr>
          <p:cNvPr id="5" name="Text 3"/>
          <p:cNvSpPr txBox="1"/>
          <p:nvPr/>
        </p:nvSpPr>
        <p:spPr>
          <a:xfrm>
            <a:off x="822960" y="2423160"/>
            <a:ext cx="3017520" cy="640080"/>
          </a:xfrm>
          <a:prstGeom prst="rect">
            <a:avLst/>
          </a:prstGeom>
          <a:noFill/>
          <a:ln/>
        </p:spPr>
        <p:txBody>
          <a:bodyPr wrap="square" lIns="0" tIns="0" rIns="0" bIns="0" rtlCol="0" anchor="t"/>
          <a:lstStyle/>
          <a:p>
            <a:pPr indent="0" marL="0">
              <a:buNone/>
            </a:pPr>
            <a:r>
              <a:rPr lang="en-US" sz="1600" dirty="0">
                <a:solidFill>
                  <a:srgbClr val="1B2A33"/>
                </a:solidFill>
                <a:latin typeface="Calibri" pitchFamily="34" charset="0"/>
                <a:ea typeface="Calibri" pitchFamily="34" charset="-122"/>
                <a:cs typeface="Calibri" pitchFamily="34" charset="-120"/>
              </a:rPr>
              <a:t>VOIs porcinos</a:t>
            </a:r>
            <a:endParaRPr lang="en-US" sz="1600" dirty="0"/>
          </a:p>
          <a:p>
            <a:pPr indent="0" marL="0">
              <a:buNone/>
            </a:pPr>
            <a:r>
              <a:rPr lang="en-US" sz="1600" dirty="0">
                <a:solidFill>
                  <a:srgbClr val="1B2A33"/>
                </a:solidFill>
                <a:latin typeface="Calibri" pitchFamily="34" charset="0"/>
                <a:ea typeface="Calibri" pitchFamily="34" charset="-122"/>
                <a:cs typeface="Calibri" pitchFamily="34" charset="-120"/>
              </a:rPr>
              <a:t>C1 a C5</a:t>
            </a:r>
            <a:endParaRPr lang="en-US" sz="1600" dirty="0"/>
          </a:p>
        </p:txBody>
      </p:sp>
      <p:sp>
        <p:nvSpPr>
          <p:cNvPr id="6" name="tarjeta 1"/>
          <p:cNvSpPr/>
          <p:nvPr/>
        </p:nvSpPr>
        <p:spPr>
          <a:xfrm>
            <a:off x="4297680" y="1417320"/>
            <a:ext cx="3474720" cy="1737360"/>
          </a:xfrm>
          <a:prstGeom prst="roundRect">
            <a:avLst>
              <a:gd name="adj" fmla="val 5263"/>
            </a:avLst>
          </a:prstGeom>
          <a:solidFill>
            <a:srgbClr val="EEF2F3"/>
          </a:solidFill>
          <a:ln w="12700">
            <a:solidFill>
              <a:srgbClr val="EEF2F3"/>
            </a:solidFill>
            <a:prstDash val="solid"/>
          </a:ln>
        </p:spPr>
      </p:sp>
      <p:sp>
        <p:nvSpPr>
          <p:cNvPr id="7" name="Text 5"/>
          <p:cNvSpPr txBox="1"/>
          <p:nvPr/>
        </p:nvSpPr>
        <p:spPr>
          <a:xfrm>
            <a:off x="4572000" y="1554480"/>
            <a:ext cx="2926080" cy="868680"/>
          </a:xfrm>
          <a:prstGeom prst="rect">
            <a:avLst/>
          </a:prstGeom>
          <a:noFill/>
          <a:ln/>
        </p:spPr>
        <p:txBody>
          <a:bodyPr wrap="square" lIns="0" tIns="0" rIns="0" bIns="0" rtlCol="0" anchor="ctr"/>
          <a:lstStyle/>
          <a:p>
            <a:pPr indent="0" marL="0">
              <a:buNone/>
            </a:pPr>
            <a:r>
              <a:rPr lang="en-US" sz="4800" b="1" dirty="0">
                <a:solidFill>
                  <a:srgbClr val="2E7D7A"/>
                </a:solidFill>
                <a:latin typeface="Cambria" pitchFamily="34" charset="0"/>
                <a:ea typeface="Cambria" pitchFamily="34" charset="-122"/>
                <a:cs typeface="Cambria" pitchFamily="34" charset="-120"/>
              </a:rPr>
              <a:t>15</a:t>
            </a:r>
            <a:endParaRPr lang="en-US" sz="4800" dirty="0"/>
          </a:p>
        </p:txBody>
      </p:sp>
      <p:sp>
        <p:nvSpPr>
          <p:cNvPr id="8" name="Text 6"/>
          <p:cNvSpPr txBox="1"/>
          <p:nvPr/>
        </p:nvSpPr>
        <p:spPr>
          <a:xfrm>
            <a:off x="4572000" y="2423160"/>
            <a:ext cx="3017520" cy="640080"/>
          </a:xfrm>
          <a:prstGeom prst="rect">
            <a:avLst/>
          </a:prstGeom>
          <a:noFill/>
          <a:ln/>
        </p:spPr>
        <p:txBody>
          <a:bodyPr wrap="square" lIns="0" tIns="0" rIns="0" bIns="0" rtlCol="0" anchor="t"/>
          <a:lstStyle/>
          <a:p>
            <a:pPr indent="0" marL="0">
              <a:buNone/>
            </a:pPr>
            <a:r>
              <a:rPr lang="en-US" sz="1600" dirty="0">
                <a:solidFill>
                  <a:srgbClr val="1B2A33"/>
                </a:solidFill>
                <a:latin typeface="Calibri" pitchFamily="34" charset="0"/>
                <a:ea typeface="Calibri" pitchFamily="34" charset="-122"/>
                <a:cs typeface="Calibri" pitchFamily="34" charset="-120"/>
              </a:rPr>
              <a:t>estructuras:</a:t>
            </a:r>
            <a:endParaRPr lang="en-US" sz="1600" dirty="0"/>
          </a:p>
          <a:p>
            <a:pPr indent="0" marL="0">
              <a:buNone/>
            </a:pPr>
            <a:r>
              <a:rPr lang="en-US" sz="1600" dirty="0">
                <a:solidFill>
                  <a:srgbClr val="1B2A33"/>
                </a:solidFill>
                <a:latin typeface="Calibri" pitchFamily="34" charset="0"/>
                <a:ea typeface="Calibri" pitchFamily="34" charset="-122"/>
                <a:cs typeface="Calibri" pitchFamily="34" charset="-120"/>
              </a:rPr>
              <a:t>VOI, spinodoide, dual-lattice</a:t>
            </a:r>
            <a:endParaRPr lang="en-US" sz="1600" dirty="0"/>
          </a:p>
        </p:txBody>
      </p:sp>
      <p:sp>
        <p:nvSpPr>
          <p:cNvPr id="9" name="tarjeta 2"/>
          <p:cNvSpPr/>
          <p:nvPr/>
        </p:nvSpPr>
        <p:spPr>
          <a:xfrm>
            <a:off x="8046720" y="1417320"/>
            <a:ext cx="3474720" cy="1737360"/>
          </a:xfrm>
          <a:prstGeom prst="roundRect">
            <a:avLst>
              <a:gd name="adj" fmla="val 5263"/>
            </a:avLst>
          </a:prstGeom>
          <a:solidFill>
            <a:srgbClr val="EEF2F3"/>
          </a:solidFill>
          <a:ln w="12700">
            <a:solidFill>
              <a:srgbClr val="EEF2F3"/>
            </a:solidFill>
            <a:prstDash val="solid"/>
          </a:ln>
        </p:spPr>
      </p:sp>
      <p:sp>
        <p:nvSpPr>
          <p:cNvPr id="10" name="Text 8"/>
          <p:cNvSpPr txBox="1"/>
          <p:nvPr/>
        </p:nvSpPr>
        <p:spPr>
          <a:xfrm>
            <a:off x="8321040" y="1554480"/>
            <a:ext cx="2926080" cy="868680"/>
          </a:xfrm>
          <a:prstGeom prst="rect">
            <a:avLst/>
          </a:prstGeom>
          <a:noFill/>
          <a:ln/>
        </p:spPr>
        <p:txBody>
          <a:bodyPr wrap="square" lIns="0" tIns="0" rIns="0" bIns="0" rtlCol="0" anchor="ctr"/>
          <a:lstStyle/>
          <a:p>
            <a:pPr indent="0" marL="0">
              <a:buNone/>
            </a:pPr>
            <a:r>
              <a:rPr lang="en-US" sz="4800" b="1" dirty="0">
                <a:solidFill>
                  <a:srgbClr val="C8553D"/>
                </a:solidFill>
                <a:latin typeface="Cambria" pitchFamily="34" charset="0"/>
                <a:ea typeface="Cambria" pitchFamily="34" charset="-122"/>
                <a:cs typeface="Cambria" pitchFamily="34" charset="-120"/>
              </a:rPr>
              <a:t>100 N</a:t>
            </a:r>
            <a:endParaRPr lang="en-US" sz="4800" dirty="0"/>
          </a:p>
        </p:txBody>
      </p:sp>
      <p:sp>
        <p:nvSpPr>
          <p:cNvPr id="11" name="Text 9"/>
          <p:cNvSpPr txBox="1"/>
          <p:nvPr/>
        </p:nvSpPr>
        <p:spPr>
          <a:xfrm>
            <a:off x="8321040" y="2423160"/>
            <a:ext cx="3017520" cy="640080"/>
          </a:xfrm>
          <a:prstGeom prst="rect">
            <a:avLst/>
          </a:prstGeom>
          <a:noFill/>
          <a:ln/>
        </p:spPr>
        <p:txBody>
          <a:bodyPr wrap="square" lIns="0" tIns="0" rIns="0" bIns="0" rtlCol="0" anchor="t"/>
          <a:lstStyle/>
          <a:p>
            <a:pPr indent="0" marL="0">
              <a:buNone/>
            </a:pPr>
            <a:r>
              <a:rPr lang="en-US" sz="1600" dirty="0">
                <a:solidFill>
                  <a:srgbClr val="1B2A33"/>
                </a:solidFill>
                <a:latin typeface="Calibri" pitchFamily="34" charset="0"/>
                <a:ea typeface="Calibri" pitchFamily="34" charset="-122"/>
                <a:cs typeface="Calibri" pitchFamily="34" charset="-120"/>
              </a:rPr>
              <a:t>compresión axial</a:t>
            </a:r>
            <a:endParaRPr lang="en-US" sz="1600" dirty="0"/>
          </a:p>
          <a:p>
            <a:pPr indent="0" marL="0">
              <a:buNone/>
            </a:pPr>
            <a:r>
              <a:rPr lang="en-US" sz="1600" dirty="0">
                <a:solidFill>
                  <a:srgbClr val="1B2A33"/>
                </a:solidFill>
                <a:latin typeface="Calibri" pitchFamily="34" charset="0"/>
                <a:ea typeface="Calibri" pitchFamily="34" charset="-122"/>
                <a:cs typeface="Calibri" pitchFamily="34" charset="-120"/>
              </a:rPr>
              <a:t>sobre 3,0 mm de lado</a:t>
            </a:r>
            <a:endParaRPr lang="en-US" sz="1600" dirty="0"/>
          </a:p>
        </p:txBody>
      </p:sp>
      <p:sp>
        <p:nvSpPr>
          <p:cNvPr id="12" name="num 0"/>
          <p:cNvSpPr/>
          <p:nvPr/>
        </p:nvSpPr>
        <p:spPr>
          <a:xfrm>
            <a:off x="548640" y="3749040"/>
            <a:ext cx="457200" cy="457200"/>
          </a:xfrm>
          <a:prstGeom prst="ellipse">
            <a:avLst/>
          </a:prstGeom>
          <a:solidFill>
            <a:srgbClr val="1F3A44"/>
          </a:solidFill>
          <a:ln w="12700">
            <a:solidFill>
              <a:srgbClr val="1F3A44"/>
            </a:solidFill>
            <a:prstDash val="solid"/>
          </a:ln>
        </p:spPr>
      </p:sp>
      <p:sp>
        <p:nvSpPr>
          <p:cNvPr id="13" name="Text 11"/>
          <p:cNvSpPr txBox="1"/>
          <p:nvPr/>
        </p:nvSpPr>
        <p:spPr>
          <a:xfrm>
            <a:off x="54864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4" name="Text 12"/>
          <p:cNvSpPr txBox="1"/>
          <p:nvPr/>
        </p:nvSpPr>
        <p:spPr>
          <a:xfrm>
            <a:off x="548640" y="4343400"/>
            <a:ext cx="2057400" cy="822960"/>
          </a:xfrm>
          <a:prstGeom prst="rect">
            <a:avLst/>
          </a:prstGeom>
          <a:noFill/>
          <a:ln/>
        </p:spPr>
        <p:txBody>
          <a:bodyPr wrap="square" lIns="0" tIns="0" rIns="0" bIns="0" rtlCol="0" anchor="t"/>
          <a:lstStyle/>
          <a:p>
            <a:pPr indent="0" marL="0">
              <a:buNone/>
            </a:pPr>
            <a:r>
              <a:rPr lang="en-US" sz="1500" dirty="0">
                <a:solidFill>
                  <a:srgbClr val="1B2A33"/>
                </a:solidFill>
                <a:latin typeface="Calibri" pitchFamily="34" charset="0"/>
                <a:ea typeface="Calibri" pitchFamily="34" charset="-122"/>
                <a:cs typeface="Calibri" pitchFamily="34" charset="-120"/>
              </a:rPr>
              <a:t>VOI de micro-CT</a:t>
            </a:r>
            <a:endParaRPr lang="en-US" sz="1500" dirty="0"/>
          </a:p>
          <a:p>
            <a:pPr indent="0" marL="0">
              <a:buNone/>
            </a:pPr>
            <a:r>
              <a:rPr lang="en-US" sz="1500" dirty="0">
                <a:solidFill>
                  <a:srgbClr val="1B2A33"/>
                </a:solidFill>
                <a:latin typeface="Calibri" pitchFamily="34" charset="0"/>
                <a:ea typeface="Calibri" pitchFamily="34" charset="-122"/>
                <a:cs typeface="Calibri" pitchFamily="34" charset="-120"/>
              </a:rPr>
              <a:t>16 µm, cubo de 3,0 mm</a:t>
            </a:r>
            <a:endParaRPr lang="en-US" sz="1500" dirty="0"/>
          </a:p>
        </p:txBody>
      </p:sp>
      <p:sp>
        <p:nvSpPr>
          <p:cNvPr id="15" name="flecha 0"/>
          <p:cNvSpPr/>
          <p:nvPr/>
        </p:nvSpPr>
        <p:spPr>
          <a:xfrm>
            <a:off x="1097280" y="3977640"/>
            <a:ext cx="1371600" cy="0"/>
          </a:xfrm>
          <a:prstGeom prst="line">
            <a:avLst/>
          </a:prstGeom>
          <a:noFill/>
          <a:ln w="19050">
            <a:solidFill>
              <a:srgbClr val="5B6573"/>
            </a:solidFill>
            <a:prstDash val="solid"/>
            <a:tailEnd type="triangle"/>
          </a:ln>
        </p:spPr>
      </p:sp>
      <p:sp>
        <p:nvSpPr>
          <p:cNvPr id="16" name="num 1"/>
          <p:cNvSpPr/>
          <p:nvPr/>
        </p:nvSpPr>
        <p:spPr>
          <a:xfrm>
            <a:off x="2834640" y="3749040"/>
            <a:ext cx="457200" cy="457200"/>
          </a:xfrm>
          <a:prstGeom prst="ellipse">
            <a:avLst/>
          </a:prstGeom>
          <a:solidFill>
            <a:srgbClr val="1F3A44"/>
          </a:solidFill>
          <a:ln w="12700">
            <a:solidFill>
              <a:srgbClr val="1F3A44"/>
            </a:solidFill>
            <a:prstDash val="solid"/>
          </a:ln>
        </p:spPr>
      </p:sp>
      <p:sp>
        <p:nvSpPr>
          <p:cNvPr id="17" name="Text 15"/>
          <p:cNvSpPr txBox="1"/>
          <p:nvPr/>
        </p:nvSpPr>
        <p:spPr>
          <a:xfrm>
            <a:off x="283464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8" name="Text 16"/>
          <p:cNvSpPr txBox="1"/>
          <p:nvPr/>
        </p:nvSpPr>
        <p:spPr>
          <a:xfrm>
            <a:off x="2834640" y="4343400"/>
            <a:ext cx="2057400" cy="822960"/>
          </a:xfrm>
          <a:prstGeom prst="rect">
            <a:avLst/>
          </a:prstGeom>
          <a:noFill/>
          <a:ln/>
        </p:spPr>
        <p:txBody>
          <a:bodyPr wrap="square" lIns="0" tIns="0" rIns="0" bIns="0" rtlCol="0" anchor="t"/>
          <a:lstStyle/>
          <a:p>
            <a:pPr indent="0" marL="0">
              <a:buNone/>
            </a:pPr>
            <a:r>
              <a:rPr lang="en-US" sz="1500" dirty="0">
                <a:solidFill>
                  <a:srgbClr val="1B2A33"/>
                </a:solidFill>
                <a:latin typeface="Calibri" pitchFamily="34" charset="0"/>
                <a:ea typeface="Calibri" pitchFamily="34" charset="-122"/>
                <a:cs typeface="Calibri" pitchFamily="34" charset="-120"/>
              </a:rPr>
              <a:t>Ajuste del spinodoide</a:t>
            </a:r>
            <a:endParaRPr lang="en-US" sz="1500" dirty="0"/>
          </a:p>
          <a:p>
            <a:pPr indent="0" marL="0">
              <a:buNone/>
            </a:pPr>
            <a:r>
              <a:rPr lang="en-US" sz="1500" dirty="0">
                <a:solidFill>
                  <a:srgbClr val="1B2A33"/>
                </a:solidFill>
                <a:latin typeface="Calibri" pitchFamily="34" charset="0"/>
                <a:ea typeface="Calibri" pitchFamily="34" charset="-122"/>
                <a:cs typeface="Calibri" pitchFamily="34" charset="-120"/>
              </a:rPr>
              <a:t>y del dual-lattice</a:t>
            </a:r>
            <a:endParaRPr lang="en-US" sz="1500" dirty="0"/>
          </a:p>
        </p:txBody>
      </p:sp>
      <p:sp>
        <p:nvSpPr>
          <p:cNvPr id="19" name="flecha 1"/>
          <p:cNvSpPr/>
          <p:nvPr/>
        </p:nvSpPr>
        <p:spPr>
          <a:xfrm>
            <a:off x="3383280" y="3977640"/>
            <a:ext cx="1371600" cy="0"/>
          </a:xfrm>
          <a:prstGeom prst="line">
            <a:avLst/>
          </a:prstGeom>
          <a:noFill/>
          <a:ln w="19050">
            <a:solidFill>
              <a:srgbClr val="5B6573"/>
            </a:solidFill>
            <a:prstDash val="solid"/>
            <a:tailEnd type="triangle"/>
          </a:ln>
        </p:spPr>
      </p:sp>
      <p:sp>
        <p:nvSpPr>
          <p:cNvPr id="20" name="num 2"/>
          <p:cNvSpPr/>
          <p:nvPr/>
        </p:nvSpPr>
        <p:spPr>
          <a:xfrm>
            <a:off x="5120640" y="3749040"/>
            <a:ext cx="457200" cy="457200"/>
          </a:xfrm>
          <a:prstGeom prst="ellipse">
            <a:avLst/>
          </a:prstGeom>
          <a:solidFill>
            <a:srgbClr val="1F3A44"/>
          </a:solidFill>
          <a:ln w="12700">
            <a:solidFill>
              <a:srgbClr val="1F3A44"/>
            </a:solidFill>
            <a:prstDash val="solid"/>
          </a:ln>
        </p:spPr>
      </p:sp>
      <p:sp>
        <p:nvSpPr>
          <p:cNvPr id="21" name="Text 19"/>
          <p:cNvSpPr txBox="1"/>
          <p:nvPr/>
        </p:nvSpPr>
        <p:spPr>
          <a:xfrm>
            <a:off x="512064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2" name="Text 20"/>
          <p:cNvSpPr txBox="1"/>
          <p:nvPr/>
        </p:nvSpPr>
        <p:spPr>
          <a:xfrm>
            <a:off x="5120640" y="4343400"/>
            <a:ext cx="2057400" cy="822960"/>
          </a:xfrm>
          <a:prstGeom prst="rect">
            <a:avLst/>
          </a:prstGeom>
          <a:noFill/>
          <a:ln/>
        </p:spPr>
        <p:txBody>
          <a:bodyPr wrap="square" lIns="0" tIns="0" rIns="0" bIns="0" rtlCol="0" anchor="t"/>
          <a:lstStyle/>
          <a:p>
            <a:pPr indent="0" marL="0">
              <a:buNone/>
            </a:pPr>
            <a:r>
              <a:rPr lang="en-US" sz="1500" dirty="0">
                <a:solidFill>
                  <a:srgbClr val="1B2A33"/>
                </a:solidFill>
                <a:latin typeface="Calibri" pitchFamily="34" charset="0"/>
                <a:ea typeface="Calibri" pitchFamily="34" charset="-122"/>
                <a:cs typeface="Calibri" pitchFamily="34" charset="-120"/>
              </a:rPr>
              <a:t>Malla de ladrillos</a:t>
            </a:r>
            <a:endParaRPr lang="en-US" sz="1500" dirty="0"/>
          </a:p>
          <a:p>
            <a:pPr indent="0" marL="0">
              <a:buNone/>
            </a:pPr>
            <a:r>
              <a:rPr lang="en-US" sz="1500" dirty="0">
                <a:solidFill>
                  <a:srgbClr val="1B2A33"/>
                </a:solidFill>
                <a:latin typeface="Calibri" pitchFamily="34" charset="0"/>
                <a:ea typeface="Calibri" pitchFamily="34" charset="-122"/>
                <a:cs typeface="Calibri" pitchFamily="34" charset="-120"/>
              </a:rPr>
              <a:t>40³ elementos</a:t>
            </a:r>
            <a:endParaRPr lang="en-US" sz="1500" dirty="0"/>
          </a:p>
        </p:txBody>
      </p:sp>
      <p:sp>
        <p:nvSpPr>
          <p:cNvPr id="23" name="flecha 2"/>
          <p:cNvSpPr/>
          <p:nvPr/>
        </p:nvSpPr>
        <p:spPr>
          <a:xfrm>
            <a:off x="5669280" y="3977640"/>
            <a:ext cx="1371600" cy="0"/>
          </a:xfrm>
          <a:prstGeom prst="line">
            <a:avLst/>
          </a:prstGeom>
          <a:noFill/>
          <a:ln w="19050">
            <a:solidFill>
              <a:srgbClr val="5B6573"/>
            </a:solidFill>
            <a:prstDash val="solid"/>
            <a:tailEnd type="triangle"/>
          </a:ln>
        </p:spPr>
      </p:sp>
      <p:sp>
        <p:nvSpPr>
          <p:cNvPr id="24" name="num 3"/>
          <p:cNvSpPr/>
          <p:nvPr/>
        </p:nvSpPr>
        <p:spPr>
          <a:xfrm>
            <a:off x="7406640" y="3749040"/>
            <a:ext cx="457200" cy="457200"/>
          </a:xfrm>
          <a:prstGeom prst="ellipse">
            <a:avLst/>
          </a:prstGeom>
          <a:solidFill>
            <a:srgbClr val="1F3A44"/>
          </a:solidFill>
          <a:ln w="12700">
            <a:solidFill>
              <a:srgbClr val="1F3A44"/>
            </a:solidFill>
            <a:prstDash val="solid"/>
          </a:ln>
        </p:spPr>
      </p:sp>
      <p:sp>
        <p:nvSpPr>
          <p:cNvPr id="25" name="Text 23"/>
          <p:cNvSpPr txBox="1"/>
          <p:nvPr/>
        </p:nvSpPr>
        <p:spPr>
          <a:xfrm>
            <a:off x="740664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6" name="Text 24"/>
          <p:cNvSpPr txBox="1"/>
          <p:nvPr/>
        </p:nvSpPr>
        <p:spPr>
          <a:xfrm>
            <a:off x="7406640" y="4343400"/>
            <a:ext cx="2057400" cy="822960"/>
          </a:xfrm>
          <a:prstGeom prst="rect">
            <a:avLst/>
          </a:prstGeom>
          <a:noFill/>
          <a:ln/>
        </p:spPr>
        <p:txBody>
          <a:bodyPr wrap="square" lIns="0" tIns="0" rIns="0" bIns="0" rtlCol="0" anchor="t"/>
          <a:lstStyle/>
          <a:p>
            <a:pPr indent="0" marL="0">
              <a:buNone/>
            </a:pPr>
            <a:r>
              <a:rPr lang="en-US" sz="1500" dirty="0">
                <a:solidFill>
                  <a:srgbClr val="1B2A33"/>
                </a:solidFill>
                <a:latin typeface="Calibri" pitchFamily="34" charset="0"/>
                <a:ea typeface="Calibri" pitchFamily="34" charset="-122"/>
                <a:cs typeface="Calibri" pitchFamily="34" charset="-120"/>
              </a:rPr>
              <a:t>Compresión axial</a:t>
            </a:r>
            <a:endParaRPr lang="en-US" sz="1500" dirty="0"/>
          </a:p>
          <a:p>
            <a:pPr indent="0" marL="0">
              <a:buNone/>
            </a:pPr>
            <a:r>
              <a:rPr lang="en-US" sz="1500" dirty="0">
                <a:solidFill>
                  <a:srgbClr val="1B2A33"/>
                </a:solidFill>
                <a:latin typeface="Calibri" pitchFamily="34" charset="0"/>
                <a:ea typeface="Calibri" pitchFamily="34" charset="-122"/>
                <a:cs typeface="Calibri" pitchFamily="34" charset="-120"/>
              </a:rPr>
              <a:t>base empotrada, 100 N</a:t>
            </a:r>
            <a:endParaRPr lang="en-US" sz="1500" dirty="0"/>
          </a:p>
        </p:txBody>
      </p:sp>
      <p:sp>
        <p:nvSpPr>
          <p:cNvPr id="27" name="flecha 3"/>
          <p:cNvSpPr/>
          <p:nvPr/>
        </p:nvSpPr>
        <p:spPr>
          <a:xfrm>
            <a:off x="7955280" y="3977640"/>
            <a:ext cx="1371600" cy="0"/>
          </a:xfrm>
          <a:prstGeom prst="line">
            <a:avLst/>
          </a:prstGeom>
          <a:noFill/>
          <a:ln w="19050">
            <a:solidFill>
              <a:srgbClr val="5B6573"/>
            </a:solidFill>
            <a:prstDash val="solid"/>
            <a:tailEnd type="triangle"/>
          </a:ln>
        </p:spPr>
      </p:sp>
      <p:sp>
        <p:nvSpPr>
          <p:cNvPr id="28" name="num 4"/>
          <p:cNvSpPr/>
          <p:nvPr/>
        </p:nvSpPr>
        <p:spPr>
          <a:xfrm>
            <a:off x="9692640" y="3749040"/>
            <a:ext cx="457200" cy="457200"/>
          </a:xfrm>
          <a:prstGeom prst="ellipse">
            <a:avLst/>
          </a:prstGeom>
          <a:solidFill>
            <a:srgbClr val="1F3A44"/>
          </a:solidFill>
          <a:ln w="12700">
            <a:solidFill>
              <a:srgbClr val="1F3A44"/>
            </a:solidFill>
            <a:prstDash val="solid"/>
          </a:ln>
        </p:spPr>
      </p:sp>
      <p:sp>
        <p:nvSpPr>
          <p:cNvPr id="29" name="Text 27"/>
          <p:cNvSpPr txBox="1"/>
          <p:nvPr/>
        </p:nvSpPr>
        <p:spPr>
          <a:xfrm>
            <a:off x="969264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0" name="Text 28"/>
          <p:cNvSpPr txBox="1"/>
          <p:nvPr/>
        </p:nvSpPr>
        <p:spPr>
          <a:xfrm>
            <a:off x="9692640" y="4343400"/>
            <a:ext cx="2057400" cy="822960"/>
          </a:xfrm>
          <a:prstGeom prst="rect">
            <a:avLst/>
          </a:prstGeom>
          <a:noFill/>
          <a:ln/>
        </p:spPr>
        <p:txBody>
          <a:bodyPr wrap="square" lIns="0" tIns="0" rIns="0" bIns="0" rtlCol="0" anchor="t"/>
          <a:lstStyle/>
          <a:p>
            <a:pPr indent="0" marL="0">
              <a:buNone/>
            </a:pPr>
            <a:r>
              <a:rPr lang="en-US" sz="1500" dirty="0">
                <a:solidFill>
                  <a:srgbClr val="1B2A33"/>
                </a:solidFill>
                <a:latin typeface="Calibri" pitchFamily="34" charset="0"/>
                <a:ea typeface="Calibri" pitchFamily="34" charset="-122"/>
                <a:cs typeface="Calibri" pitchFamily="34" charset="-120"/>
              </a:rPr>
              <a:t>Campos |u|</a:t>
            </a:r>
            <a:endParaRPr lang="en-US" sz="1500" dirty="0"/>
          </a:p>
          <a:p>
            <a:pPr indent="0" marL="0">
              <a:buNone/>
            </a:pPr>
            <a:r>
              <a:rPr lang="en-US" sz="1500" dirty="0">
                <a:solidFill>
                  <a:srgbClr val="1B2A33"/>
                </a:solidFill>
                <a:latin typeface="Calibri" pitchFamily="34" charset="0"/>
                <a:ea typeface="Calibri" pitchFamily="34" charset="-122"/>
                <a:cs typeface="Calibri" pitchFamily="34" charset="-120"/>
              </a:rPr>
              <a:t>y von Mises</a:t>
            </a:r>
            <a:endParaRPr lang="en-US" sz="1500" dirty="0"/>
          </a:p>
        </p:txBody>
      </p:sp>
      <p:sp>
        <p:nvSpPr>
          <p:cNvPr id="31" name="Text 29"/>
          <p:cNvSpPr txBox="1"/>
          <p:nvPr/>
        </p:nvSpPr>
        <p:spPr>
          <a:xfrm>
            <a:off x="548640" y="5577840"/>
            <a:ext cx="11064240" cy="64008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Se replica el protocolo de ensayo de Tapia et al. (2026), no el estudio: los valores absolutos no son comparables con los publicados. E = 18 GPa, ν = 0,30, elasticidad lineal.</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El objetivo: la ecuación</a:t>
            </a:r>
            <a:endParaRPr lang="en-US" sz="3600" dirty="0"/>
          </a:p>
        </p:txBody>
      </p:sp>
      <p:sp>
        <p:nvSpPr>
          <p:cNvPr id="3" name="Text 1"/>
          <p:cNvSpPr txBox="1"/>
          <p:nvPr/>
        </p:nvSpPr>
        <p:spPr>
          <a:xfrm>
            <a:off x="548640" y="1325880"/>
            <a:ext cx="5852160" cy="457200"/>
          </a:xfrm>
          <a:prstGeom prst="rect">
            <a:avLst/>
          </a:prstGeom>
          <a:noFill/>
          <a:ln/>
        </p:spPr>
        <p:txBody>
          <a:bodyPr wrap="square" lIns="0" tIns="0" rIns="0" bIns="0" rtlCol="0" anchor="t"/>
          <a:lstStyle/>
          <a:p>
            <a:pPr indent="0" marL="0">
              <a:buNone/>
            </a:pPr>
            <a:r>
              <a:rPr lang="en-US" sz="2000" b="1" dirty="0">
                <a:solidFill>
                  <a:srgbClr val="2E7D7A"/>
                </a:solidFill>
                <a:latin typeface="Calibri" pitchFamily="34" charset="0"/>
                <a:ea typeface="Calibri" pitchFamily="34" charset="-122"/>
                <a:cs typeface="Calibri" pitchFamily="34" charset="-120"/>
              </a:rPr>
              <a:t>Resolver el equilibrio elástico del sólido</a:t>
            </a:r>
            <a:endParaRPr lang="en-US" sz="2000" dirty="0"/>
          </a:p>
        </p:txBody>
      </p:sp>
      <p:sp>
        <p:nvSpPr>
          <p:cNvPr id="4" name="ecuacion 0"/>
          <p:cNvSpPr/>
          <p:nvPr/>
        </p:nvSpPr>
        <p:spPr>
          <a:xfrm>
            <a:off x="548640" y="1920240"/>
            <a:ext cx="5943600" cy="896112"/>
          </a:xfrm>
          <a:prstGeom prst="roundRect">
            <a:avLst>
              <a:gd name="adj" fmla="val 8163"/>
            </a:avLst>
          </a:prstGeom>
          <a:solidFill>
            <a:srgbClr val="EEF2F3"/>
          </a:solidFill>
          <a:ln w="12700">
            <a:solidFill>
              <a:srgbClr val="EEF2F3"/>
            </a:solidFill>
            <a:prstDash val="solid"/>
          </a:ln>
        </p:spPr>
      </p:sp>
      <p:sp>
        <p:nvSpPr>
          <p:cNvPr id="5" name="Text 3"/>
          <p:cNvSpPr txBox="1"/>
          <p:nvPr/>
        </p:nvSpPr>
        <p:spPr>
          <a:xfrm>
            <a:off x="777240" y="1993392"/>
            <a:ext cx="5577840" cy="411480"/>
          </a:xfrm>
          <a:prstGeom prst="rect">
            <a:avLst/>
          </a:prstGeom>
          <a:noFill/>
          <a:ln/>
        </p:spPr>
        <p:txBody>
          <a:bodyPr wrap="square" lIns="0" tIns="0" rIns="0" bIns="0" rtlCol="0" anchor="t"/>
          <a:lstStyle/>
          <a:p>
            <a:pPr indent="0" marL="0">
              <a:buNone/>
            </a:pPr>
            <a:r>
              <a:rPr lang="en-US" sz="2200" dirty="0">
                <a:solidFill>
                  <a:srgbClr val="1B2A33"/>
                </a:solidFill>
                <a:latin typeface="Cambria" pitchFamily="34" charset="0"/>
                <a:ea typeface="Cambria" pitchFamily="34" charset="-122"/>
                <a:cs typeface="Cambria" pitchFamily="34" charset="-120"/>
              </a:rPr>
              <a:t>∇ · σ = 0</a:t>
            </a:r>
            <a:endParaRPr lang="en-US" sz="2200" dirty="0"/>
          </a:p>
        </p:txBody>
      </p:sp>
      <p:sp>
        <p:nvSpPr>
          <p:cNvPr id="6" name="Text 4"/>
          <p:cNvSpPr txBox="1"/>
          <p:nvPr/>
        </p:nvSpPr>
        <p:spPr>
          <a:xfrm>
            <a:off x="777240" y="2423160"/>
            <a:ext cx="5577840" cy="3200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equilibrio en el sólido, sin fuerzas de volumen</a:t>
            </a:r>
            <a:endParaRPr lang="en-US" sz="1400" dirty="0"/>
          </a:p>
        </p:txBody>
      </p:sp>
      <p:sp>
        <p:nvSpPr>
          <p:cNvPr id="7" name="ecuacion 1"/>
          <p:cNvSpPr/>
          <p:nvPr/>
        </p:nvSpPr>
        <p:spPr>
          <a:xfrm>
            <a:off x="548640" y="2944368"/>
            <a:ext cx="5943600" cy="896112"/>
          </a:xfrm>
          <a:prstGeom prst="roundRect">
            <a:avLst>
              <a:gd name="adj" fmla="val 8163"/>
            </a:avLst>
          </a:prstGeom>
          <a:solidFill>
            <a:srgbClr val="EEF2F3"/>
          </a:solidFill>
          <a:ln w="12700">
            <a:solidFill>
              <a:srgbClr val="EEF2F3"/>
            </a:solidFill>
            <a:prstDash val="solid"/>
          </a:ln>
        </p:spPr>
      </p:sp>
      <p:sp>
        <p:nvSpPr>
          <p:cNvPr id="8" name="Text 6"/>
          <p:cNvSpPr txBox="1"/>
          <p:nvPr/>
        </p:nvSpPr>
        <p:spPr>
          <a:xfrm>
            <a:off x="777240" y="3017520"/>
            <a:ext cx="5577840" cy="411480"/>
          </a:xfrm>
          <a:prstGeom prst="rect">
            <a:avLst/>
          </a:prstGeom>
          <a:noFill/>
          <a:ln/>
        </p:spPr>
        <p:txBody>
          <a:bodyPr wrap="square" lIns="0" tIns="0" rIns="0" bIns="0" rtlCol="0" anchor="t"/>
          <a:lstStyle/>
          <a:p>
            <a:pPr indent="0" marL="0">
              <a:buNone/>
            </a:pPr>
            <a:r>
              <a:rPr lang="en-US" sz="2200" dirty="0">
                <a:solidFill>
                  <a:srgbClr val="1B2A33"/>
                </a:solidFill>
                <a:latin typeface="Cambria" pitchFamily="34" charset="0"/>
                <a:ea typeface="Cambria" pitchFamily="34" charset="-122"/>
                <a:cs typeface="Cambria" pitchFamily="34" charset="-120"/>
              </a:rPr>
              <a:t>σ = C : ε,   ε = ½ (∇u + ∇u</a:t>
            </a:r>
            <a:pPr indent="0" marL="0">
              <a:buNone/>
            </a:pPr>
            <a:r>
              <a:rPr lang="en-US" sz="2200" baseline="30000" dirty="0">
                <a:solidFill>
                  <a:srgbClr val="1B2A33"/>
                </a:solidFill>
                <a:latin typeface="Cambria" pitchFamily="34" charset="0"/>
                <a:ea typeface="Cambria" pitchFamily="34" charset="-122"/>
                <a:cs typeface="Cambria" pitchFamily="34" charset="-120"/>
              </a:rPr>
              <a:t>T</a:t>
            </a:r>
            <a:pPr indent="0" marL="0">
              <a:buNone/>
            </a:pPr>
            <a:r>
              <a:rPr lang="en-US" sz="2200" dirty="0">
                <a:solidFill>
                  <a:srgbClr val="1B2A33"/>
                </a:solidFill>
                <a:latin typeface="Cambria" pitchFamily="34" charset="0"/>
                <a:ea typeface="Cambria" pitchFamily="34" charset="-122"/>
                <a:cs typeface="Cambria" pitchFamily="34" charset="-120"/>
              </a:rPr>
              <a:t>)</a:t>
            </a:r>
            <a:endParaRPr lang="en-US" sz="2200" dirty="0"/>
          </a:p>
        </p:txBody>
      </p:sp>
      <p:sp>
        <p:nvSpPr>
          <p:cNvPr id="9" name="Text 7"/>
          <p:cNvSpPr txBox="1"/>
          <p:nvPr/>
        </p:nvSpPr>
        <p:spPr>
          <a:xfrm>
            <a:off x="777240" y="3447288"/>
            <a:ext cx="5577840" cy="3200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ley de Hooke isótropa, pequeñas deformaciones</a:t>
            </a:r>
            <a:endParaRPr lang="en-US" sz="1400" dirty="0"/>
          </a:p>
        </p:txBody>
      </p:sp>
      <p:sp>
        <p:nvSpPr>
          <p:cNvPr id="10" name="ecuacion 2"/>
          <p:cNvSpPr/>
          <p:nvPr/>
        </p:nvSpPr>
        <p:spPr>
          <a:xfrm>
            <a:off x="548640" y="3968496"/>
            <a:ext cx="5943600" cy="896112"/>
          </a:xfrm>
          <a:prstGeom prst="roundRect">
            <a:avLst>
              <a:gd name="adj" fmla="val 8163"/>
            </a:avLst>
          </a:prstGeom>
          <a:solidFill>
            <a:srgbClr val="EEF2F3"/>
          </a:solidFill>
          <a:ln w="12700">
            <a:solidFill>
              <a:srgbClr val="EEF2F3"/>
            </a:solidFill>
            <a:prstDash val="solid"/>
          </a:ln>
        </p:spPr>
      </p:sp>
      <p:sp>
        <p:nvSpPr>
          <p:cNvPr id="11" name="Text 9"/>
          <p:cNvSpPr txBox="1"/>
          <p:nvPr/>
        </p:nvSpPr>
        <p:spPr>
          <a:xfrm>
            <a:off x="777240" y="4041648"/>
            <a:ext cx="5577840" cy="411480"/>
          </a:xfrm>
          <a:prstGeom prst="rect">
            <a:avLst/>
          </a:prstGeom>
          <a:noFill/>
          <a:ln/>
        </p:spPr>
        <p:txBody>
          <a:bodyPr wrap="square" lIns="0" tIns="0" rIns="0" bIns="0" rtlCol="0" anchor="t"/>
          <a:lstStyle/>
          <a:p>
            <a:pPr indent="0" marL="0">
              <a:buNone/>
            </a:pPr>
            <a:r>
              <a:rPr lang="en-US" sz="2200" dirty="0">
                <a:solidFill>
                  <a:srgbClr val="1B2A33"/>
                </a:solidFill>
                <a:latin typeface="Cambria" pitchFamily="34" charset="0"/>
                <a:ea typeface="Cambria" pitchFamily="34" charset="-122"/>
                <a:cs typeface="Cambria" pitchFamily="34" charset="-120"/>
              </a:rPr>
              <a:t>E = 18 GPa,   ν = 0,30</a:t>
            </a:r>
            <a:endParaRPr lang="en-US" sz="2200" dirty="0"/>
          </a:p>
        </p:txBody>
      </p:sp>
      <p:sp>
        <p:nvSpPr>
          <p:cNvPr id="12" name="Text 10"/>
          <p:cNvSpPr txBox="1"/>
          <p:nvPr/>
        </p:nvSpPr>
        <p:spPr>
          <a:xfrm>
            <a:off x="777240" y="4471416"/>
            <a:ext cx="5577840" cy="3200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tejido homogéneo e isótropo</a:t>
            </a:r>
            <a:endParaRPr lang="en-US" sz="1400" dirty="0"/>
          </a:p>
        </p:txBody>
      </p:sp>
      <p:sp>
        <p:nvSpPr>
          <p:cNvPr id="13" name="ecuacion 3"/>
          <p:cNvSpPr/>
          <p:nvPr/>
        </p:nvSpPr>
        <p:spPr>
          <a:xfrm>
            <a:off x="548640" y="4992624"/>
            <a:ext cx="5943600" cy="896112"/>
          </a:xfrm>
          <a:prstGeom prst="roundRect">
            <a:avLst>
              <a:gd name="adj" fmla="val 8163"/>
            </a:avLst>
          </a:prstGeom>
          <a:solidFill>
            <a:srgbClr val="EEF2F3"/>
          </a:solidFill>
          <a:ln w="12700">
            <a:solidFill>
              <a:srgbClr val="EEF2F3"/>
            </a:solidFill>
            <a:prstDash val="solid"/>
          </a:ln>
        </p:spPr>
      </p:sp>
      <p:sp>
        <p:nvSpPr>
          <p:cNvPr id="14" name="Text 12"/>
          <p:cNvSpPr txBox="1"/>
          <p:nvPr/>
        </p:nvSpPr>
        <p:spPr>
          <a:xfrm>
            <a:off x="777240" y="5065776"/>
            <a:ext cx="5577840" cy="411480"/>
          </a:xfrm>
          <a:prstGeom prst="rect">
            <a:avLst/>
          </a:prstGeom>
          <a:noFill/>
          <a:ln/>
        </p:spPr>
        <p:txBody>
          <a:bodyPr wrap="square" lIns="0" tIns="0" rIns="0" bIns="0" rtlCol="0" anchor="t"/>
          <a:lstStyle/>
          <a:p>
            <a:pPr indent="0" marL="0">
              <a:buNone/>
            </a:pPr>
            <a:r>
              <a:rPr lang="en-US" sz="2200" dirty="0">
                <a:solidFill>
                  <a:srgbClr val="1B2A33"/>
                </a:solidFill>
                <a:latin typeface="Cambria" pitchFamily="34" charset="0"/>
                <a:ea typeface="Cambria" pitchFamily="34" charset="-122"/>
                <a:cs typeface="Cambria" pitchFamily="34" charset="-120"/>
              </a:rPr>
              <a:t>K u = f</a:t>
            </a:r>
            <a:endParaRPr lang="en-US" sz="2200" dirty="0"/>
          </a:p>
        </p:txBody>
      </p:sp>
      <p:sp>
        <p:nvSpPr>
          <p:cNvPr id="15" name="Text 13"/>
          <p:cNvSpPr txBox="1"/>
          <p:nvPr/>
        </p:nvSpPr>
        <p:spPr>
          <a:xfrm>
            <a:off x="777240" y="5495544"/>
            <a:ext cx="5577840" cy="3200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problema discreto, hexaedros de 8 nodos, solver directo</a:t>
            </a:r>
            <a:endParaRPr lang="en-US" sz="1400" dirty="0"/>
          </a:p>
        </p:txBody>
      </p:sp>
      <p:sp>
        <p:nvSpPr>
          <p:cNvPr id="16" name="Text 14"/>
          <p:cNvSpPr txBox="1"/>
          <p:nvPr/>
        </p:nvSpPr>
        <p:spPr>
          <a:xfrm>
            <a:off x="7040880" y="1325880"/>
            <a:ext cx="4572000" cy="457200"/>
          </a:xfrm>
          <a:prstGeom prst="rect">
            <a:avLst/>
          </a:prstGeom>
          <a:noFill/>
          <a:ln/>
        </p:spPr>
        <p:txBody>
          <a:bodyPr wrap="square" lIns="0" tIns="0" rIns="0" bIns="0" rtlCol="0" anchor="t"/>
          <a:lstStyle/>
          <a:p>
            <a:pPr indent="0" marL="0">
              <a:buNone/>
            </a:pPr>
            <a:r>
              <a:rPr lang="en-US" sz="2000" b="1" dirty="0">
                <a:solidFill>
                  <a:srgbClr val="C8553D"/>
                </a:solidFill>
                <a:latin typeface="Calibri" pitchFamily="34" charset="0"/>
                <a:ea typeface="Calibri" pitchFamily="34" charset="-122"/>
                <a:cs typeface="Calibri" pitchFamily="34" charset="-120"/>
              </a:rPr>
              <a:t>Lo que se obtiene</a:t>
            </a:r>
            <a:endParaRPr lang="en-US" sz="2000" dirty="0"/>
          </a:p>
        </p:txBody>
      </p:sp>
      <p:sp>
        <p:nvSpPr>
          <p:cNvPr id="17" name="salida u"/>
          <p:cNvSpPr/>
          <p:nvPr/>
        </p:nvSpPr>
        <p:spPr>
          <a:xfrm>
            <a:off x="7040880" y="1920240"/>
            <a:ext cx="4572000" cy="1920240"/>
          </a:xfrm>
          <a:prstGeom prst="roundRect">
            <a:avLst>
              <a:gd name="adj" fmla="val 3810"/>
            </a:avLst>
          </a:prstGeom>
          <a:solidFill>
            <a:srgbClr val="FFFFFF"/>
          </a:solidFill>
          <a:ln w="19050">
            <a:solidFill>
              <a:srgbClr val="8FB8B5"/>
            </a:solidFill>
            <a:prstDash val="solid"/>
          </a:ln>
        </p:spPr>
      </p:sp>
      <p:sp>
        <p:nvSpPr>
          <p:cNvPr id="18" name="Text 16"/>
          <p:cNvSpPr txBox="1"/>
          <p:nvPr/>
        </p:nvSpPr>
        <p:spPr>
          <a:xfrm>
            <a:off x="7269480" y="2011680"/>
            <a:ext cx="4114800" cy="365760"/>
          </a:xfrm>
          <a:prstGeom prst="rect">
            <a:avLst/>
          </a:prstGeom>
          <a:noFill/>
          <a:ln/>
        </p:spPr>
        <p:txBody>
          <a:bodyPr wrap="square" lIns="0" tIns="0" rIns="0" bIns="0" rtlCol="0" anchor="t"/>
          <a:lstStyle/>
          <a:p>
            <a:pPr indent="0" marL="0">
              <a:buNone/>
            </a:pPr>
            <a:r>
              <a:rPr lang="en-US" sz="1800" b="1" dirty="0">
                <a:solidFill>
                  <a:srgbClr val="1B2A33"/>
                </a:solidFill>
                <a:latin typeface="Calibri" pitchFamily="34" charset="0"/>
                <a:ea typeface="Calibri" pitchFamily="34" charset="-122"/>
                <a:cs typeface="Calibri" pitchFamily="34" charset="-120"/>
              </a:rPr>
              <a:t>Deformación total</a:t>
            </a:r>
            <a:endParaRPr lang="en-US" sz="1800" dirty="0"/>
          </a:p>
        </p:txBody>
      </p:sp>
      <p:sp>
        <p:nvSpPr>
          <p:cNvPr id="19" name="Text 17"/>
          <p:cNvSpPr txBox="1"/>
          <p:nvPr/>
        </p:nvSpPr>
        <p:spPr>
          <a:xfrm>
            <a:off x="7269480" y="2423160"/>
            <a:ext cx="4114800" cy="457200"/>
          </a:xfrm>
          <a:prstGeom prst="rect">
            <a:avLst/>
          </a:prstGeom>
          <a:noFill/>
          <a:ln/>
        </p:spPr>
        <p:txBody>
          <a:bodyPr wrap="square" lIns="0" tIns="0" rIns="0" bIns="0" rtlCol="0" anchor="t"/>
          <a:lstStyle/>
          <a:p>
            <a:pPr indent="0" marL="0">
              <a:buNone/>
            </a:pPr>
            <a:r>
              <a:rPr lang="en-US" sz="2000" dirty="0">
                <a:solidFill>
                  <a:srgbClr val="1B2A33"/>
                </a:solidFill>
                <a:latin typeface="Cambria" pitchFamily="34" charset="0"/>
                <a:ea typeface="Cambria" pitchFamily="34" charset="-122"/>
                <a:cs typeface="Cambria" pitchFamily="34" charset="-120"/>
              </a:rPr>
              <a:t>|u| = √(ux² + uy² + uz²)</a:t>
            </a:r>
            <a:endParaRPr lang="en-US" sz="2000" dirty="0"/>
          </a:p>
        </p:txBody>
      </p:sp>
      <p:sp>
        <p:nvSpPr>
          <p:cNvPr id="20" name="Text 18"/>
          <p:cNvSpPr txBox="1"/>
          <p:nvPr/>
        </p:nvSpPr>
        <p:spPr>
          <a:xfrm>
            <a:off x="7269480" y="2971800"/>
            <a:ext cx="4114800" cy="7772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Es un desplazamiento, no una deformación unitaria. Mide la rigidez global.</a:t>
            </a:r>
            <a:endParaRPr lang="en-US" sz="1400" dirty="0"/>
          </a:p>
        </p:txBody>
      </p:sp>
      <p:sp>
        <p:nvSpPr>
          <p:cNvPr id="21" name="salida vm"/>
          <p:cNvSpPr/>
          <p:nvPr/>
        </p:nvSpPr>
        <p:spPr>
          <a:xfrm>
            <a:off x="7040880" y="4023360"/>
            <a:ext cx="4572000" cy="1920240"/>
          </a:xfrm>
          <a:prstGeom prst="roundRect">
            <a:avLst>
              <a:gd name="adj" fmla="val 3810"/>
            </a:avLst>
          </a:prstGeom>
          <a:solidFill>
            <a:srgbClr val="FFFFFF"/>
          </a:solidFill>
          <a:ln w="19050">
            <a:solidFill>
              <a:srgbClr val="E8A18F"/>
            </a:solidFill>
            <a:prstDash val="solid"/>
          </a:ln>
        </p:spPr>
      </p:sp>
      <p:sp>
        <p:nvSpPr>
          <p:cNvPr id="22" name="Text 20"/>
          <p:cNvSpPr txBox="1"/>
          <p:nvPr/>
        </p:nvSpPr>
        <p:spPr>
          <a:xfrm>
            <a:off x="7269480" y="4114800"/>
            <a:ext cx="4114800" cy="365760"/>
          </a:xfrm>
          <a:prstGeom prst="rect">
            <a:avLst/>
          </a:prstGeom>
          <a:noFill/>
          <a:ln/>
        </p:spPr>
        <p:txBody>
          <a:bodyPr wrap="square" lIns="0" tIns="0" rIns="0" bIns="0" rtlCol="0" anchor="t"/>
          <a:lstStyle/>
          <a:p>
            <a:pPr indent="0" marL="0">
              <a:buNone/>
            </a:pPr>
            <a:r>
              <a:rPr lang="en-US" sz="1800" b="1" dirty="0">
                <a:solidFill>
                  <a:srgbClr val="1B2A33"/>
                </a:solidFill>
                <a:latin typeface="Calibri" pitchFamily="34" charset="0"/>
                <a:ea typeface="Calibri" pitchFamily="34" charset="-122"/>
                <a:cs typeface="Calibri" pitchFamily="34" charset="-120"/>
              </a:rPr>
              <a:t>Tensión de von Mises</a:t>
            </a:r>
            <a:endParaRPr lang="en-US" sz="1800" dirty="0"/>
          </a:p>
        </p:txBody>
      </p:sp>
      <p:sp>
        <p:nvSpPr>
          <p:cNvPr id="23" name="Text 21"/>
          <p:cNvSpPr txBox="1"/>
          <p:nvPr/>
        </p:nvSpPr>
        <p:spPr>
          <a:xfrm>
            <a:off x="7269480" y="4526280"/>
            <a:ext cx="4297680" cy="457200"/>
          </a:xfrm>
          <a:prstGeom prst="rect">
            <a:avLst/>
          </a:prstGeom>
          <a:noFill/>
          <a:ln/>
        </p:spPr>
        <p:txBody>
          <a:bodyPr wrap="square" lIns="0" tIns="0" rIns="0" bIns="0" rtlCol="0" anchor="t"/>
          <a:lstStyle/>
          <a:p>
            <a:pPr indent="0" marL="0">
              <a:buNone/>
            </a:pPr>
            <a:r>
              <a:rPr lang="en-US" sz="1800" dirty="0">
                <a:solidFill>
                  <a:srgbClr val="1B2A33"/>
                </a:solidFill>
                <a:latin typeface="Cambria" pitchFamily="34" charset="0"/>
                <a:ea typeface="Cambria" pitchFamily="34" charset="-122"/>
                <a:cs typeface="Cambria" pitchFamily="34" charset="-120"/>
              </a:rPr>
              <a:t>σ</a:t>
            </a:r>
            <a:pPr indent="0" marL="0">
              <a:buNone/>
            </a:pPr>
            <a:r>
              <a:rPr lang="en-US" sz="1800" baseline="-40000" dirty="0">
                <a:solidFill>
                  <a:srgbClr val="1B2A33"/>
                </a:solidFill>
                <a:latin typeface="Cambria" pitchFamily="34" charset="0"/>
                <a:ea typeface="Cambria" pitchFamily="34" charset="-122"/>
                <a:cs typeface="Cambria" pitchFamily="34" charset="-120"/>
              </a:rPr>
              <a:t>vm</a:t>
            </a:r>
            <a:pPr indent="0" marL="0">
              <a:buNone/>
            </a:pPr>
            <a:r>
              <a:rPr lang="en-US" sz="1800" dirty="0">
                <a:solidFill>
                  <a:srgbClr val="1B2A33"/>
                </a:solidFill>
                <a:latin typeface="Cambria" pitchFamily="34" charset="0"/>
                <a:ea typeface="Cambria" pitchFamily="34" charset="-122"/>
                <a:cs typeface="Cambria" pitchFamily="34" charset="-120"/>
              </a:rPr>
              <a:t> = √(3/2 · s : s),   s = σ − ⅓ tr(σ) I</a:t>
            </a:r>
            <a:endParaRPr lang="en-US" sz="1800" dirty="0"/>
          </a:p>
        </p:txBody>
      </p:sp>
      <p:sp>
        <p:nvSpPr>
          <p:cNvPr id="24" name="Text 22"/>
          <p:cNvSpPr txBox="1"/>
          <p:nvPr/>
        </p:nvSpPr>
        <p:spPr>
          <a:xfrm>
            <a:off x="7269480" y="5074920"/>
            <a:ext cx="4114800" cy="77724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Solo la parte desviadora. Localiza dónde se concentra la tensión.</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Método: ejes fijos y libres</a:t>
            </a:r>
            <a:endParaRPr lang="en-US" sz="3600" dirty="0"/>
          </a:p>
        </p:txBody>
      </p:sp>
      <p:sp>
        <p:nvSpPr>
          <p:cNvPr id="3" name="cubo"/>
          <p:cNvSpPr/>
          <p:nvPr/>
        </p:nvSpPr>
        <p:spPr>
          <a:xfrm>
            <a:off x="1005840" y="2651760"/>
            <a:ext cx="2560320" cy="2377440"/>
          </a:xfrm>
          <a:prstGeom prst="rect">
            <a:avLst/>
          </a:prstGeom>
          <a:solidFill>
            <a:srgbClr val="EEF2F3"/>
          </a:solidFill>
          <a:ln w="25400">
            <a:solidFill>
              <a:srgbClr val="1F3A44"/>
            </a:solidFill>
            <a:prstDash val="solid"/>
          </a:ln>
        </p:spPr>
      </p:sp>
      <p:sp>
        <p:nvSpPr>
          <p:cNvPr id="4" name="Text 2"/>
          <p:cNvSpPr txBox="1"/>
          <p:nvPr/>
        </p:nvSpPr>
        <p:spPr>
          <a:xfrm>
            <a:off x="1005840" y="3429000"/>
            <a:ext cx="2560320" cy="822960"/>
          </a:xfrm>
          <a:prstGeom prst="rect">
            <a:avLst/>
          </a:prstGeom>
          <a:noFill/>
          <a:ln/>
        </p:spPr>
        <p:txBody>
          <a:bodyPr wrap="square" lIns="0" tIns="0" rIns="0" bIns="0" rtlCol="0" anchor="t"/>
          <a:lstStyle/>
          <a:p>
            <a:pPr algn="ctr" indent="0" marL="0">
              <a:buNone/>
            </a:pPr>
            <a:r>
              <a:rPr lang="en-US" sz="1800" b="1" dirty="0">
                <a:solidFill>
                  <a:srgbClr val="1F3A44"/>
                </a:solidFill>
                <a:latin typeface="Calibri" pitchFamily="34" charset="0"/>
                <a:ea typeface="Calibri" pitchFamily="34" charset="-122"/>
                <a:cs typeface="Calibri" pitchFamily="34" charset="-120"/>
              </a:rPr>
              <a:t>VOI</a:t>
            </a:r>
            <a:endParaRPr lang="en-US" sz="1800" dirty="0"/>
          </a:p>
          <a:p>
            <a:pPr algn="ctr" indent="0" marL="0">
              <a:buNone/>
            </a:pPr>
            <a:r>
              <a:rPr lang="en-US" sz="1800" b="1" dirty="0">
                <a:solidFill>
                  <a:srgbClr val="1F3A44"/>
                </a:solidFill>
                <a:latin typeface="Calibri" pitchFamily="34" charset="0"/>
                <a:ea typeface="Calibri" pitchFamily="34" charset="-122"/>
                <a:cs typeface="Calibri" pitchFamily="34" charset="-120"/>
              </a:rPr>
              <a:t>3,0 mm</a:t>
            </a:r>
            <a:endParaRPr lang="en-US" sz="1800" dirty="0"/>
          </a:p>
        </p:txBody>
      </p:sp>
      <p:sp>
        <p:nvSpPr>
          <p:cNvPr id="5" name="apoyo"/>
          <p:cNvSpPr/>
          <p:nvPr/>
        </p:nvSpPr>
        <p:spPr>
          <a:xfrm>
            <a:off x="731520" y="5029200"/>
            <a:ext cx="3108960" cy="274320"/>
          </a:xfrm>
          <a:prstGeom prst="rect">
            <a:avLst/>
          </a:prstGeom>
          <a:solidFill>
            <a:srgbClr val="5B6573"/>
          </a:solidFill>
          <a:ln w="12700">
            <a:solidFill>
              <a:srgbClr val="5B6573"/>
            </a:solidFill>
            <a:prstDash val="solid"/>
          </a:ln>
        </p:spPr>
      </p:sp>
      <p:sp>
        <p:nvSpPr>
          <p:cNvPr id="6" name="rayado 0"/>
          <p:cNvSpPr/>
          <p:nvPr/>
        </p:nvSpPr>
        <p:spPr>
          <a:xfrm>
            <a:off x="731520" y="5303520"/>
            <a:ext cx="-201168" cy="237744"/>
          </a:xfrm>
          <a:prstGeom prst="line">
            <a:avLst/>
          </a:prstGeom>
          <a:noFill/>
          <a:ln w="19050">
            <a:solidFill>
              <a:srgbClr val="5B6573"/>
            </a:solidFill>
            <a:prstDash val="solid"/>
          </a:ln>
        </p:spPr>
      </p:sp>
      <p:sp>
        <p:nvSpPr>
          <p:cNvPr id="7" name="rayado 1"/>
          <p:cNvSpPr/>
          <p:nvPr/>
        </p:nvSpPr>
        <p:spPr>
          <a:xfrm>
            <a:off x="1097280" y="5303520"/>
            <a:ext cx="-201168" cy="237744"/>
          </a:xfrm>
          <a:prstGeom prst="line">
            <a:avLst/>
          </a:prstGeom>
          <a:noFill/>
          <a:ln w="19050">
            <a:solidFill>
              <a:srgbClr val="5B6573"/>
            </a:solidFill>
            <a:prstDash val="solid"/>
          </a:ln>
        </p:spPr>
      </p:sp>
      <p:sp>
        <p:nvSpPr>
          <p:cNvPr id="8" name="rayado 2"/>
          <p:cNvSpPr/>
          <p:nvPr/>
        </p:nvSpPr>
        <p:spPr>
          <a:xfrm>
            <a:off x="1463040" y="5303520"/>
            <a:ext cx="-201168" cy="237744"/>
          </a:xfrm>
          <a:prstGeom prst="line">
            <a:avLst/>
          </a:prstGeom>
          <a:noFill/>
          <a:ln w="19050">
            <a:solidFill>
              <a:srgbClr val="5B6573"/>
            </a:solidFill>
            <a:prstDash val="solid"/>
          </a:ln>
        </p:spPr>
      </p:sp>
      <p:sp>
        <p:nvSpPr>
          <p:cNvPr id="9" name="rayado 3"/>
          <p:cNvSpPr/>
          <p:nvPr/>
        </p:nvSpPr>
        <p:spPr>
          <a:xfrm>
            <a:off x="1828800" y="5303520"/>
            <a:ext cx="-201168" cy="237744"/>
          </a:xfrm>
          <a:prstGeom prst="line">
            <a:avLst/>
          </a:prstGeom>
          <a:noFill/>
          <a:ln w="19050">
            <a:solidFill>
              <a:srgbClr val="5B6573"/>
            </a:solidFill>
            <a:prstDash val="solid"/>
          </a:ln>
        </p:spPr>
      </p:sp>
      <p:sp>
        <p:nvSpPr>
          <p:cNvPr id="10" name="rayado 4"/>
          <p:cNvSpPr/>
          <p:nvPr/>
        </p:nvSpPr>
        <p:spPr>
          <a:xfrm>
            <a:off x="2194560" y="5303520"/>
            <a:ext cx="-201168" cy="237744"/>
          </a:xfrm>
          <a:prstGeom prst="line">
            <a:avLst/>
          </a:prstGeom>
          <a:noFill/>
          <a:ln w="19050">
            <a:solidFill>
              <a:srgbClr val="5B6573"/>
            </a:solidFill>
            <a:prstDash val="solid"/>
          </a:ln>
        </p:spPr>
      </p:sp>
      <p:sp>
        <p:nvSpPr>
          <p:cNvPr id="11" name="rayado 5"/>
          <p:cNvSpPr/>
          <p:nvPr/>
        </p:nvSpPr>
        <p:spPr>
          <a:xfrm>
            <a:off x="2560320" y="5303520"/>
            <a:ext cx="-201168" cy="237744"/>
          </a:xfrm>
          <a:prstGeom prst="line">
            <a:avLst/>
          </a:prstGeom>
          <a:noFill/>
          <a:ln w="19050">
            <a:solidFill>
              <a:srgbClr val="5B6573"/>
            </a:solidFill>
            <a:prstDash val="solid"/>
          </a:ln>
        </p:spPr>
      </p:sp>
      <p:sp>
        <p:nvSpPr>
          <p:cNvPr id="12" name="rayado 6"/>
          <p:cNvSpPr/>
          <p:nvPr/>
        </p:nvSpPr>
        <p:spPr>
          <a:xfrm>
            <a:off x="2926080" y="5303520"/>
            <a:ext cx="-201168" cy="237744"/>
          </a:xfrm>
          <a:prstGeom prst="line">
            <a:avLst/>
          </a:prstGeom>
          <a:noFill/>
          <a:ln w="19050">
            <a:solidFill>
              <a:srgbClr val="5B6573"/>
            </a:solidFill>
            <a:prstDash val="solid"/>
          </a:ln>
        </p:spPr>
      </p:sp>
      <p:sp>
        <p:nvSpPr>
          <p:cNvPr id="13" name="rayado 7"/>
          <p:cNvSpPr/>
          <p:nvPr/>
        </p:nvSpPr>
        <p:spPr>
          <a:xfrm>
            <a:off x="3291840" y="5303520"/>
            <a:ext cx="-201168" cy="237744"/>
          </a:xfrm>
          <a:prstGeom prst="line">
            <a:avLst/>
          </a:prstGeom>
          <a:noFill/>
          <a:ln w="19050">
            <a:solidFill>
              <a:srgbClr val="5B6573"/>
            </a:solidFill>
            <a:prstDash val="solid"/>
          </a:ln>
        </p:spPr>
      </p:sp>
      <p:sp>
        <p:nvSpPr>
          <p:cNvPr id="14" name="rayado 8"/>
          <p:cNvSpPr/>
          <p:nvPr/>
        </p:nvSpPr>
        <p:spPr>
          <a:xfrm>
            <a:off x="3657600" y="5303520"/>
            <a:ext cx="-201168" cy="237744"/>
          </a:xfrm>
          <a:prstGeom prst="line">
            <a:avLst/>
          </a:prstGeom>
          <a:noFill/>
          <a:ln w="19050">
            <a:solidFill>
              <a:srgbClr val="5B6573"/>
            </a:solidFill>
            <a:prstDash val="solid"/>
          </a:ln>
        </p:spPr>
      </p:sp>
      <p:sp>
        <p:nvSpPr>
          <p:cNvPr id="15" name="Text 13"/>
          <p:cNvSpPr txBox="1"/>
          <p:nvPr/>
        </p:nvSpPr>
        <p:spPr>
          <a:xfrm>
            <a:off x="457200" y="5623560"/>
            <a:ext cx="3657600" cy="365760"/>
          </a:xfrm>
          <a:prstGeom prst="rect">
            <a:avLst/>
          </a:prstGeom>
          <a:noFill/>
          <a:ln/>
        </p:spPr>
        <p:txBody>
          <a:bodyPr wrap="square" lIns="0" tIns="0" rIns="0" bIns="0" rtlCol="0" anchor="t"/>
          <a:lstStyle/>
          <a:p>
            <a:pPr algn="ctr" indent="0" marL="0">
              <a:buNone/>
            </a:pPr>
            <a:r>
              <a:rPr lang="en-US" sz="1400" b="1" dirty="0">
                <a:solidFill>
                  <a:srgbClr val="1B2A33"/>
                </a:solidFill>
                <a:latin typeface="Calibri" pitchFamily="34" charset="0"/>
                <a:ea typeface="Calibri" pitchFamily="34" charset="-122"/>
                <a:cs typeface="Calibri" pitchFamily="34" charset="-120"/>
              </a:rPr>
              <a:t>Base: ux = uy = uz = 0</a:t>
            </a:r>
            <a:endParaRPr lang="en-US" sz="1400" dirty="0"/>
          </a:p>
        </p:txBody>
      </p:sp>
      <p:sp>
        <p:nvSpPr>
          <p:cNvPr id="16" name="carga 0"/>
          <p:cNvSpPr/>
          <p:nvPr/>
        </p:nvSpPr>
        <p:spPr>
          <a:xfrm>
            <a:off x="1280160" y="1874520"/>
            <a:ext cx="0" cy="685800"/>
          </a:xfrm>
          <a:prstGeom prst="line">
            <a:avLst/>
          </a:prstGeom>
          <a:noFill/>
          <a:ln w="31750">
            <a:solidFill>
              <a:srgbClr val="C8553D"/>
            </a:solidFill>
            <a:prstDash val="solid"/>
            <a:tailEnd type="triangle"/>
          </a:ln>
        </p:spPr>
      </p:sp>
      <p:sp>
        <p:nvSpPr>
          <p:cNvPr id="17" name="carga 1"/>
          <p:cNvSpPr/>
          <p:nvPr/>
        </p:nvSpPr>
        <p:spPr>
          <a:xfrm>
            <a:off x="1783080" y="1874520"/>
            <a:ext cx="0" cy="685800"/>
          </a:xfrm>
          <a:prstGeom prst="line">
            <a:avLst/>
          </a:prstGeom>
          <a:noFill/>
          <a:ln w="31750">
            <a:solidFill>
              <a:srgbClr val="C8553D"/>
            </a:solidFill>
            <a:prstDash val="solid"/>
            <a:tailEnd type="triangle"/>
          </a:ln>
        </p:spPr>
      </p:sp>
      <p:sp>
        <p:nvSpPr>
          <p:cNvPr id="18" name="carga 2"/>
          <p:cNvSpPr/>
          <p:nvPr/>
        </p:nvSpPr>
        <p:spPr>
          <a:xfrm>
            <a:off x="2286000" y="1874520"/>
            <a:ext cx="0" cy="685800"/>
          </a:xfrm>
          <a:prstGeom prst="line">
            <a:avLst/>
          </a:prstGeom>
          <a:noFill/>
          <a:ln w="31750">
            <a:solidFill>
              <a:srgbClr val="C8553D"/>
            </a:solidFill>
            <a:prstDash val="solid"/>
            <a:tailEnd type="triangle"/>
          </a:ln>
        </p:spPr>
      </p:sp>
      <p:sp>
        <p:nvSpPr>
          <p:cNvPr id="19" name="carga 3"/>
          <p:cNvSpPr/>
          <p:nvPr/>
        </p:nvSpPr>
        <p:spPr>
          <a:xfrm>
            <a:off x="2788920" y="1874520"/>
            <a:ext cx="0" cy="685800"/>
          </a:xfrm>
          <a:prstGeom prst="line">
            <a:avLst/>
          </a:prstGeom>
          <a:noFill/>
          <a:ln w="31750">
            <a:solidFill>
              <a:srgbClr val="C8553D"/>
            </a:solidFill>
            <a:prstDash val="solid"/>
            <a:tailEnd type="triangle"/>
          </a:ln>
        </p:spPr>
      </p:sp>
      <p:sp>
        <p:nvSpPr>
          <p:cNvPr id="20" name="carga 4"/>
          <p:cNvSpPr/>
          <p:nvPr/>
        </p:nvSpPr>
        <p:spPr>
          <a:xfrm>
            <a:off x="3291840" y="1874520"/>
            <a:ext cx="0" cy="685800"/>
          </a:xfrm>
          <a:prstGeom prst="line">
            <a:avLst/>
          </a:prstGeom>
          <a:noFill/>
          <a:ln w="31750">
            <a:solidFill>
              <a:srgbClr val="C8553D"/>
            </a:solidFill>
            <a:prstDash val="solid"/>
            <a:tailEnd type="triangle"/>
          </a:ln>
        </p:spPr>
      </p:sp>
      <p:sp>
        <p:nvSpPr>
          <p:cNvPr id="21" name="Text 19"/>
          <p:cNvSpPr txBox="1"/>
          <p:nvPr/>
        </p:nvSpPr>
        <p:spPr>
          <a:xfrm>
            <a:off x="457200" y="1417320"/>
            <a:ext cx="3657600" cy="365760"/>
          </a:xfrm>
          <a:prstGeom prst="rect">
            <a:avLst/>
          </a:prstGeom>
          <a:noFill/>
          <a:ln/>
        </p:spPr>
        <p:txBody>
          <a:bodyPr wrap="square" lIns="0" tIns="0" rIns="0" bIns="0" rtlCol="0" anchor="t"/>
          <a:lstStyle/>
          <a:p>
            <a:pPr algn="ctr" indent="0" marL="0">
              <a:buNone/>
            </a:pPr>
            <a:r>
              <a:rPr lang="en-US" sz="1400" b="1" dirty="0">
                <a:solidFill>
                  <a:srgbClr val="C8553D"/>
                </a:solidFill>
                <a:latin typeface="Calibri" pitchFamily="34" charset="0"/>
                <a:ea typeface="Calibri" pitchFamily="34" charset="-122"/>
                <a:cs typeface="Calibri" pitchFamily="34" charset="-120"/>
              </a:rPr>
              <a:t>100 N en −z, cargas nodales iguales</a:t>
            </a:r>
            <a:endParaRPr lang="en-US" sz="1400" dirty="0"/>
          </a:p>
        </p:txBody>
      </p:sp>
      <p:sp>
        <p:nvSpPr>
          <p:cNvPr id="22" name="libre izq"/>
          <p:cNvSpPr/>
          <p:nvPr/>
        </p:nvSpPr>
        <p:spPr>
          <a:xfrm>
            <a:off x="228600" y="2743200"/>
            <a:ext cx="640080" cy="0"/>
          </a:xfrm>
          <a:prstGeom prst="line">
            <a:avLst/>
          </a:prstGeom>
          <a:noFill/>
          <a:ln w="25400">
            <a:solidFill>
              <a:srgbClr val="2E7D7A"/>
            </a:solidFill>
            <a:prstDash val="solid"/>
            <a:headEnd type="triangle"/>
            <a:tailEnd type="triangle"/>
          </a:ln>
        </p:spPr>
      </p:sp>
      <p:sp>
        <p:nvSpPr>
          <p:cNvPr id="23" name="libre der"/>
          <p:cNvSpPr/>
          <p:nvPr/>
        </p:nvSpPr>
        <p:spPr>
          <a:xfrm>
            <a:off x="3703320" y="2743200"/>
            <a:ext cx="640080" cy="0"/>
          </a:xfrm>
          <a:prstGeom prst="line">
            <a:avLst/>
          </a:prstGeom>
          <a:noFill/>
          <a:ln w="25400">
            <a:solidFill>
              <a:srgbClr val="2E7D7A"/>
            </a:solidFill>
            <a:prstDash val="solid"/>
            <a:headEnd type="triangle"/>
            <a:tailEnd type="triangle"/>
          </a:ln>
        </p:spPr>
      </p:sp>
      <p:sp>
        <p:nvSpPr>
          <p:cNvPr id="24" name="Text 22"/>
          <p:cNvSpPr txBox="1"/>
          <p:nvPr/>
        </p:nvSpPr>
        <p:spPr>
          <a:xfrm>
            <a:off x="3703320" y="2834640"/>
            <a:ext cx="1371600" cy="274320"/>
          </a:xfrm>
          <a:prstGeom prst="rect">
            <a:avLst/>
          </a:prstGeom>
          <a:noFill/>
          <a:ln/>
        </p:spPr>
        <p:txBody>
          <a:bodyPr wrap="square" lIns="0" tIns="0" rIns="0" bIns="0" rtlCol="0" anchor="t"/>
          <a:lstStyle/>
          <a:p>
            <a:pPr indent="0" marL="0">
              <a:buNone/>
            </a:pPr>
            <a:r>
              <a:rPr lang="en-US" sz="1200" b="1" dirty="0">
                <a:solidFill>
                  <a:srgbClr val="2E7D7A"/>
                </a:solidFill>
                <a:latin typeface="Calibri" pitchFamily="34" charset="0"/>
                <a:ea typeface="Calibri" pitchFamily="34" charset="-122"/>
                <a:cs typeface="Calibri" pitchFamily="34" charset="-120"/>
              </a:rPr>
              <a:t>x, y libres</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937760" y="1463040"/>
          <a:ext cx="6675120" cy="914400"/>
        </p:xfrm>
        <a:graphic>
          <a:graphicData uri="http://schemas.openxmlformats.org/drawingml/2006/table">
            <a:tbl>
              <a:tblPr/>
              <a:tblGrid>
                <a:gridCol w="1737360"/>
                <a:gridCol w="731520"/>
                <a:gridCol w="731520"/>
                <a:gridCol w="731520"/>
                <a:gridCol w="2743200"/>
              </a:tblGrid>
              <a:tr h="50292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Superficie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ux</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uy</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uz</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Carga</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r>
              <a:tr h="50292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Base (z = 0)</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C8553D"/>
                          </a:solidFill>
                          <a:latin typeface="Calibri" pitchFamily="34" charset="0"/>
                          <a:ea typeface="Calibri" pitchFamily="34" charset="-122"/>
                          <a:cs typeface="Calibri" pitchFamily="34" charset="-120"/>
                        </a:rPr>
                        <a:t>fijo</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C8553D"/>
                          </a:solidFill>
                          <a:latin typeface="Calibri" pitchFamily="34" charset="0"/>
                          <a:ea typeface="Calibri" pitchFamily="34" charset="-122"/>
                          <a:cs typeface="Calibri" pitchFamily="34" charset="-120"/>
                        </a:rPr>
                        <a:t>fijo</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C8553D"/>
                          </a:solidFill>
                          <a:latin typeface="Calibri" pitchFamily="34" charset="0"/>
                          <a:ea typeface="Calibri" pitchFamily="34" charset="-122"/>
                          <a:cs typeface="Calibri" pitchFamily="34" charset="-120"/>
                        </a:rPr>
                        <a:t>fijo</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ninguna</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50292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Cara superior</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100 N repartidos, sin plato rígido</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50292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Caras laterales</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2E7D7A"/>
                          </a:solidFill>
                          <a:latin typeface="Calibri" pitchFamily="34" charset="0"/>
                          <a:ea typeface="Calibri" pitchFamily="34" charset="-122"/>
                          <a:cs typeface="Calibri" pitchFamily="34" charset="-120"/>
                        </a:rPr>
                        <a:t>libre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ninguna</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bl>
          </a:graphicData>
        </a:graphic>
      </p:graphicFrame>
      <p:sp>
        <p:nvSpPr>
          <p:cNvPr id="26" name="Text 23"/>
          <p:cNvSpPr txBox="1"/>
          <p:nvPr/>
        </p:nvSpPr>
        <p:spPr>
          <a:xfrm>
            <a:off x="4937760" y="3749040"/>
            <a:ext cx="6675120" cy="22860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A33"/>
                </a:solidFill>
                <a:latin typeface="Calibri" pitchFamily="34" charset="0"/>
                <a:ea typeface="Calibri" pitchFamily="34" charset="-122"/>
                <a:cs typeface="Calibri" pitchFamily="34" charset="-120"/>
              </a:rPr>
              <a:t>Base empotrada: es la condición del protocolo de Tapia y reproduce la fricción con los platos.</a:t>
            </a:r>
            <a:endParaRPr lang="en-US" sz="1600" dirty="0"/>
          </a:p>
          <a:p>
            <a:pPr marL="342900" indent="-342900">
              <a:spcAft>
                <a:spcPts val="800"/>
              </a:spcAft>
              <a:buSzPct val="100000"/>
              <a:buChar char="•"/>
            </a:pPr>
            <a:r>
              <a:rPr lang="en-US" sz="1600" dirty="0">
                <a:solidFill>
                  <a:srgbClr val="1B2A33"/>
                </a:solidFill>
                <a:latin typeface="Calibri" pitchFamily="34" charset="0"/>
                <a:ea typeface="Calibri" pitchFamily="34" charset="-122"/>
                <a:cs typeface="Calibri" pitchFamily="34" charset="-120"/>
              </a:rPr>
              <a:t>Contraste, apoyo deslizante (el de la app): uz = 0 en la base y solo lo mínimo contra el movimiento rígido.</a:t>
            </a:r>
            <a:endParaRPr lang="en-US" sz="1600" dirty="0"/>
          </a:p>
          <a:p>
            <a:pPr marL="342900" indent="-342900">
              <a:spcAft>
                <a:spcPts val="800"/>
              </a:spcAft>
              <a:buSzPct val="100000"/>
              <a:buChar char="•"/>
            </a:pPr>
            <a:r>
              <a:rPr lang="en-US" sz="1600" dirty="0">
                <a:solidFill>
                  <a:srgbClr val="1B2A33"/>
                </a:solidFill>
                <a:latin typeface="Calibri" pitchFamily="34" charset="0"/>
                <a:ea typeface="Calibri" pitchFamily="34" charset="-122"/>
                <a:cs typeface="Calibri" pitchFamily="34" charset="-120"/>
              </a:rPr>
              <a:t>Malla de 40³ hexaedros; NGSolve con solver directo y la app como control independiente.</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Chequeo con un cubo macizo</a:t>
            </a:r>
            <a:endParaRPr lang="en-US" sz="3600" dirty="0"/>
          </a:p>
        </p:txBody>
      </p:sp>
      <p:pic>
        <p:nvPicPr>
          <p:cNvPr id="3" name="figura cubo" descr="/home/user/spinpy/comparativa_motores/tapia_c1_c5/figs/bloque.png">    </p:cNvPr>
          <p:cNvPicPr>
            <a:picLocks noChangeAspect="1"/>
          </p:cNvPicPr>
          <p:nvPr/>
        </p:nvPicPr>
        <p:blipFill>
          <a:blip r:embed="rId1"/>
          <a:stretch>
            <a:fillRect/>
          </a:stretch>
        </p:blipFill>
        <p:spPr>
          <a:xfrm>
            <a:off x="548640" y="1280160"/>
            <a:ext cx="5029200" cy="5084947"/>
          </a:xfrm>
          <a:prstGeom prst="rect">
            <a:avLst/>
          </a:prstGeom>
        </p:spPr>
      </p:pic>
      <p:sp>
        <p:nvSpPr>
          <p:cNvPr id="4" name="caja 0"/>
          <p:cNvSpPr/>
          <p:nvPr/>
        </p:nvSpPr>
        <p:spPr>
          <a:xfrm>
            <a:off x="5943600" y="1325880"/>
            <a:ext cx="5669280" cy="1508760"/>
          </a:xfrm>
          <a:prstGeom prst="roundRect">
            <a:avLst>
              <a:gd name="adj" fmla="val 4848"/>
            </a:avLst>
          </a:prstGeom>
          <a:solidFill>
            <a:srgbClr val="EEF2F3"/>
          </a:solidFill>
          <a:ln w="12700">
            <a:solidFill>
              <a:srgbClr val="EEF2F3"/>
            </a:solidFill>
            <a:prstDash val="solid"/>
          </a:ln>
        </p:spPr>
      </p:sp>
      <p:sp>
        <p:nvSpPr>
          <p:cNvPr id="5" name="Text 2"/>
          <p:cNvSpPr txBox="1"/>
          <p:nvPr/>
        </p:nvSpPr>
        <p:spPr>
          <a:xfrm>
            <a:off x="6172200" y="1435608"/>
            <a:ext cx="5212080" cy="365760"/>
          </a:xfrm>
          <a:prstGeom prst="rect">
            <a:avLst/>
          </a:prstGeom>
          <a:noFill/>
          <a:ln/>
        </p:spPr>
        <p:txBody>
          <a:bodyPr wrap="square" lIns="0" tIns="0" rIns="0" bIns="0" rtlCol="0" anchor="t"/>
          <a:lstStyle/>
          <a:p>
            <a:pPr indent="0" marL="0">
              <a:buNone/>
            </a:pPr>
            <a:r>
              <a:rPr lang="en-US" sz="1800" b="1" dirty="0">
                <a:solidFill>
                  <a:srgbClr val="2E7D7A"/>
                </a:solidFill>
                <a:latin typeface="Calibri" pitchFamily="34" charset="0"/>
                <a:ea typeface="Calibri" pitchFamily="34" charset="-122"/>
                <a:cs typeface="Calibri" pitchFamily="34" charset="-120"/>
              </a:rPr>
              <a:t>Apoyo deslizante: exacto</a:t>
            </a:r>
            <a:endParaRPr lang="en-US" sz="1800" dirty="0"/>
          </a:p>
        </p:txBody>
      </p:sp>
      <p:sp>
        <p:nvSpPr>
          <p:cNvPr id="6" name="Text 3"/>
          <p:cNvSpPr txBox="1"/>
          <p:nvPr/>
        </p:nvSpPr>
        <p:spPr>
          <a:xfrm>
            <a:off x="6172200" y="1856232"/>
            <a:ext cx="5212080" cy="91440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E aparente / E del tejido = 1,000000000002. Von Mises = σ = 11,05 MPa en todo el cubo. Desplazamientos exactos a 10⁻⁹.</a:t>
            </a:r>
            <a:endParaRPr lang="en-US" sz="1400" dirty="0"/>
          </a:p>
        </p:txBody>
      </p:sp>
      <p:sp>
        <p:nvSpPr>
          <p:cNvPr id="7" name="caja 1"/>
          <p:cNvSpPr/>
          <p:nvPr/>
        </p:nvSpPr>
        <p:spPr>
          <a:xfrm>
            <a:off x="5943600" y="2971800"/>
            <a:ext cx="5669280" cy="1508760"/>
          </a:xfrm>
          <a:prstGeom prst="roundRect">
            <a:avLst>
              <a:gd name="adj" fmla="val 4848"/>
            </a:avLst>
          </a:prstGeom>
          <a:solidFill>
            <a:srgbClr val="EEF2F3"/>
          </a:solidFill>
          <a:ln w="12700">
            <a:solidFill>
              <a:srgbClr val="EEF2F3"/>
            </a:solidFill>
            <a:prstDash val="solid"/>
          </a:ln>
        </p:spPr>
      </p:sp>
      <p:sp>
        <p:nvSpPr>
          <p:cNvPr id="8" name="Text 5"/>
          <p:cNvSpPr txBox="1"/>
          <p:nvPr/>
        </p:nvSpPr>
        <p:spPr>
          <a:xfrm>
            <a:off x="6172200" y="3081528"/>
            <a:ext cx="5212080" cy="365760"/>
          </a:xfrm>
          <a:prstGeom prst="rect">
            <a:avLst/>
          </a:prstGeom>
          <a:noFill/>
          <a:ln/>
        </p:spPr>
        <p:txBody>
          <a:bodyPr wrap="square" lIns="0" tIns="0" rIns="0" bIns="0" rtlCol="0" anchor="t"/>
          <a:lstStyle/>
          <a:p>
            <a:pPr indent="0" marL="0">
              <a:buNone/>
            </a:pPr>
            <a:r>
              <a:rPr lang="en-US" sz="1800" b="1" dirty="0">
                <a:solidFill>
                  <a:srgbClr val="C8553D"/>
                </a:solidFill>
                <a:latin typeface="Calibri" pitchFamily="34" charset="0"/>
                <a:ea typeface="Calibri" pitchFamily="34" charset="-122"/>
                <a:cs typeface="Calibri" pitchFamily="34" charset="-120"/>
              </a:rPr>
              <a:t>Base empotrada: no es uniaxial</a:t>
            </a:r>
            <a:endParaRPr lang="en-US" sz="1800" dirty="0"/>
          </a:p>
        </p:txBody>
      </p:sp>
      <p:sp>
        <p:nvSpPr>
          <p:cNvPr id="9" name="Text 6"/>
          <p:cNvSpPr txBox="1"/>
          <p:nvPr/>
        </p:nvSpPr>
        <p:spPr>
          <a:xfrm>
            <a:off x="6172200" y="3502152"/>
            <a:ext cx="5212080" cy="91440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E_app es 3,1 % mayor. Von Mises máximo = 1,76 σ en las esquinas de la base. El borde superior se expande 51 % de lo libre.</a:t>
            </a:r>
            <a:endParaRPr lang="en-US" sz="1400" dirty="0"/>
          </a:p>
        </p:txBody>
      </p:sp>
      <p:sp>
        <p:nvSpPr>
          <p:cNvPr id="10" name="caja 2"/>
          <p:cNvSpPr/>
          <p:nvPr/>
        </p:nvSpPr>
        <p:spPr>
          <a:xfrm>
            <a:off x="5943600" y="4617720"/>
            <a:ext cx="5669280" cy="1508760"/>
          </a:xfrm>
          <a:prstGeom prst="roundRect">
            <a:avLst>
              <a:gd name="adj" fmla="val 4848"/>
            </a:avLst>
          </a:prstGeom>
          <a:solidFill>
            <a:srgbClr val="EEF2F3"/>
          </a:solidFill>
          <a:ln w="12700">
            <a:solidFill>
              <a:srgbClr val="EEF2F3"/>
            </a:solidFill>
            <a:prstDash val="solid"/>
          </a:ln>
        </p:spPr>
      </p:sp>
      <p:sp>
        <p:nvSpPr>
          <p:cNvPr id="11" name="Text 8"/>
          <p:cNvSpPr txBox="1"/>
          <p:nvPr/>
        </p:nvSpPr>
        <p:spPr>
          <a:xfrm>
            <a:off x="6172200" y="4727448"/>
            <a:ext cx="5212080" cy="365760"/>
          </a:xfrm>
          <a:prstGeom prst="rect">
            <a:avLst/>
          </a:prstGeom>
          <a:noFill/>
          <a:ln/>
        </p:spPr>
        <p:txBody>
          <a:bodyPr wrap="square" lIns="0" tIns="0" rIns="0" bIns="0" rtlCol="0" anchor="t"/>
          <a:lstStyle/>
          <a:p>
            <a:pPr indent="0" marL="0">
              <a:buNone/>
            </a:pPr>
            <a:r>
              <a:rPr lang="en-US" sz="1800" b="1" dirty="0">
                <a:solidFill>
                  <a:srgbClr val="1F3A44"/>
                </a:solidFill>
                <a:latin typeface="Calibri" pitchFamily="34" charset="0"/>
                <a:ea typeface="Calibri" pitchFamily="34" charset="-122"/>
                <a:cs typeface="Calibri" pitchFamily="34" charset="-120"/>
              </a:rPr>
              <a:t>Lectura</a:t>
            </a:r>
            <a:endParaRPr lang="en-US" sz="1800" dirty="0"/>
          </a:p>
        </p:txBody>
      </p:sp>
      <p:sp>
        <p:nvSpPr>
          <p:cNvPr id="12" name="Text 9"/>
          <p:cNvSpPr txBox="1"/>
          <p:nvPr/>
        </p:nvSpPr>
        <p:spPr>
          <a:xfrm>
            <a:off x="6172200" y="5148072"/>
            <a:ext cx="5212080" cy="91440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La base fija impide que el material se dilate lateralmente: rigidiza y concentra tensión. La cara superior sí tiene x e y libres.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Sanidad de todos los análisis</a:t>
            </a:r>
            <a:endParaRPr lang="en-US" sz="3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8138160"/>
                <a:gridCol w="1371600"/>
                <a:gridCol w="1554480"/>
              </a:tblGrid>
              <a:tr h="38404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Análisis, comparado con la solución exacta del cubo</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Pruebas</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Error máx.</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r>
              <a:tr h="73152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Compresión lineal con apoyo deslizante: E_app, von Mises, |u|, equilibrio, plato rígido, E corregido, no lineal (SVK), Pistoia; app, NGSolve, scikit-fem; hex8 y TET10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3,4 × 10⁻⁹</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1148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Compresión lineal con base empotrada: equilibrio, ejes fijos</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1,2 × 10⁻⁹</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1148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Acuerdo entre motores con base empotrada (E_app, von Mises, |u|)</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6,5 × 10⁻¹⁰</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1148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Homogeneización periódica: C₁₁, C₁₂, E, G, ν</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8,9 × 10⁻¹⁶</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1148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Compresión en X, Y, Z y convergencia con la malla (app)</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2,3 × 10⁻¹¹</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11480">
                <a:tc>
                  <a:txBody>
                    <a:bodyPr/>
                    <a:lstStyle/>
                    <a:p>
                      <a:pPr algn="l" indent="0" marL="0">
                        <a:buNone/>
                      </a:pPr>
                      <a:r>
                        <a:rPr lang="en-US" sz="1300" dirty="0">
                          <a:solidFill>
                            <a:srgbClr val="000000"/>
                          </a:solidFill>
                          <a:latin typeface="Calibri" pitchFamily="34" charset="0"/>
                          <a:ea typeface="Calibri" pitchFamily="34" charset="-122"/>
                          <a:cs typeface="Calibri" pitchFamily="34" charset="-120"/>
                        </a:rPr>
                        <a:t>Prisma de lados distintos 12 × 16 × 24: área, altura y ejes correctos</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300" dirty="0">
                          <a:solidFill>
                            <a:srgbClr val="000000"/>
                          </a:solidFill>
                          <a:latin typeface="Calibri" pitchFamily="34" charset="0"/>
                          <a:ea typeface="Calibri" pitchFamily="34" charset="-122"/>
                          <a:cs typeface="Calibri" pitchFamily="34" charset="-120"/>
                        </a:rPr>
                        <a:t>1,5 × 10⁻¹¹</a:t>
                      </a:r>
                      <a:endParaRPr lang="en-US" sz="13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bl>
          </a:graphicData>
        </a:graphic>
      </p:graphicFrame>
      <p:sp>
        <p:nvSpPr>
          <p:cNvPr id="4" name="resumen sanidad"/>
          <p:cNvSpPr/>
          <p:nvPr/>
        </p:nvSpPr>
        <p:spPr>
          <a:xfrm>
            <a:off x="548640" y="4800600"/>
            <a:ext cx="5120640" cy="1417320"/>
          </a:xfrm>
          <a:prstGeom prst="roundRect">
            <a:avLst>
              <a:gd name="adj" fmla="val 5161"/>
            </a:avLst>
          </a:prstGeom>
          <a:solidFill>
            <a:srgbClr val="EEF2F3"/>
          </a:solidFill>
          <a:ln w="12700">
            <a:solidFill>
              <a:srgbClr val="EEF2F3"/>
            </a:solidFill>
            <a:prstDash val="solid"/>
          </a:ln>
        </p:spPr>
      </p:sp>
      <p:sp>
        <p:nvSpPr>
          <p:cNvPr id="5" name="Text 2"/>
          <p:cNvSpPr txBox="1"/>
          <p:nvPr/>
        </p:nvSpPr>
        <p:spPr>
          <a:xfrm>
            <a:off x="777240" y="4892040"/>
            <a:ext cx="4663440" cy="685800"/>
          </a:xfrm>
          <a:prstGeom prst="rect">
            <a:avLst/>
          </a:prstGeom>
          <a:noFill/>
          <a:ln/>
        </p:spPr>
        <p:txBody>
          <a:bodyPr wrap="square" lIns="0" tIns="0" rIns="0" bIns="0" rtlCol="0" anchor="ctr"/>
          <a:lstStyle/>
          <a:p>
            <a:pPr indent="0" marL="0">
              <a:buNone/>
            </a:pPr>
            <a:r>
              <a:rPr lang="en-US" sz="4000" b="1" dirty="0">
                <a:solidFill>
                  <a:srgbClr val="2E7D7A"/>
                </a:solidFill>
                <a:latin typeface="Cambria" pitchFamily="34" charset="0"/>
                <a:ea typeface="Cambria" pitchFamily="34" charset="-122"/>
                <a:cs typeface="Cambria" pitchFamily="34" charset="-120"/>
              </a:rPr>
              <a:t>114 de 114</a:t>
            </a:r>
            <a:endParaRPr lang="en-US" sz="4000" dirty="0"/>
          </a:p>
        </p:txBody>
      </p:sp>
      <p:sp>
        <p:nvSpPr>
          <p:cNvPr id="6" name="Text 3"/>
          <p:cNvSpPr txBox="1"/>
          <p:nvPr/>
        </p:nvSpPr>
        <p:spPr>
          <a:xfrm>
            <a:off x="777240" y="5577840"/>
            <a:ext cx="4663440" cy="59436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pruebas con respuesta exacta pasan. Otras 21 son informativas (sin solución cerrada) y se reportan.</a:t>
            </a:r>
            <a:endParaRPr lang="en-US" sz="1400" dirty="0"/>
          </a:p>
        </p:txBody>
      </p:sp>
      <p:sp>
        <p:nvSpPr>
          <p:cNvPr id="7" name="Text 4"/>
          <p:cNvSpPr txBox="1"/>
          <p:nvPr/>
        </p:nvSpPr>
        <p:spPr>
          <a:xfrm>
            <a:off x="5943600" y="4754880"/>
            <a:ext cx="566928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B2A33"/>
                </a:solidFill>
                <a:latin typeface="Calibri" pitchFamily="34" charset="0"/>
                <a:ea typeface="Calibri" pitchFamily="34" charset="-122"/>
                <a:cs typeface="Calibri" pitchFamily="34" charset="-120"/>
              </a:rPr>
              <a:t>Tolerancias declaradas antes de medir: 10⁻⁸ en lineal, 10⁻⁶ en no lineal.</a:t>
            </a:r>
            <a:endParaRPr lang="en-US" sz="1200" dirty="0"/>
          </a:p>
          <a:p>
            <a:pPr marL="342900" indent="-342900">
              <a:spcAft>
                <a:spcPts val="400"/>
              </a:spcAft>
              <a:buSzPct val="100000"/>
              <a:buChar char="•"/>
            </a:pPr>
            <a:r>
              <a:rPr lang="en-US" sz="1200" dirty="0">
                <a:solidFill>
                  <a:srgbClr val="1B2A33"/>
                </a:solidFill>
                <a:latin typeface="Calibri" pitchFamily="34" charset="0"/>
                <a:ea typeface="Calibri" pitchFamily="34" charset="-122"/>
                <a:cs typeface="Calibri" pitchFamily="34" charset="-120"/>
              </a:rPr>
              <a:t>La primera versión tuvo 2 fallos: eran un defecto de mi prueba (tetraedros agrupados por centroide). Se acotó a hexaedros y queda documentado.</a:t>
            </a:r>
            <a:endParaRPr lang="en-US" sz="1200" dirty="0"/>
          </a:p>
          <a:p>
            <a:pPr marL="342900" indent="-342900">
              <a:spcAft>
                <a:spcPts val="400"/>
              </a:spcAft>
              <a:buSzPct val="100000"/>
              <a:buChar char="•"/>
            </a:pPr>
            <a:r>
              <a:rPr lang="en-US" sz="1200" dirty="0">
                <a:solidFill>
                  <a:srgbClr val="1B2A33"/>
                </a:solidFill>
                <a:latin typeface="Calibri" pitchFamily="34" charset="0"/>
                <a:ea typeface="Calibri" pitchFamily="34" charset="-122"/>
                <a:cs typeface="Calibri" pitchFamily="34" charset="-120"/>
              </a:rPr>
              <a:t>Un cubo es simétrico y no detecta ejes, áreas o alturas confundidos: por eso se añadió un prisma.</a:t>
            </a:r>
            <a:endParaRPr lang="en-US" sz="1200" dirty="0"/>
          </a:p>
          <a:p>
            <a:pPr marL="342900" indent="-342900">
              <a:spcAft>
                <a:spcPts val="400"/>
              </a:spcAft>
              <a:buSzPct val="100000"/>
              <a:buChar char="•"/>
            </a:pPr>
            <a:r>
              <a:rPr lang="en-US" sz="1200" dirty="0">
                <a:solidFill>
                  <a:srgbClr val="1B2A33"/>
                </a:solidFill>
                <a:latin typeface="Calibri" pitchFamily="34" charset="0"/>
                <a:ea typeface="Calibri" pitchFamily="34" charset="-122"/>
                <a:cs typeface="Calibri" pitchFamily="34" charset="-120"/>
              </a:rPr>
              <a:t>No aplican a un cubo: morfometría de superficie y fallo progresivo.</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Candidatos ajustados a cada VOI</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188720"/>
                <a:gridCol w="1828800"/>
                <a:gridCol w="2011680"/>
                <a:gridCol w="2011680"/>
                <a:gridCol w="2011680"/>
                <a:gridCol w="2011680"/>
              </a:tblGrid>
              <a:tr h="47548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VOI</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BV/TV del VOI</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BV/TV spinodoide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BV/TV dual-lattice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Error spinodoide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Error dual-lattice</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solidFill>
                      <a:srgbClr val="1F3A44"/>
                    </a:solidFill>
                  </a:tcPr>
                </a:tc>
              </a:tr>
              <a:tr h="475488">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C1</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0,364</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2,6 × 10⁻³</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1,9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75488">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C2</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0,388</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0,386</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0,388</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1,7 × 10⁻³</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5,7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75488">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C3</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0,335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0,331</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0,335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2,2 × 10⁻³</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3,9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75488">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C4</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0,333</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0,324</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0,333</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1,5 × 10⁻³</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6,4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r h="475488">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C5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0,362</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0,365</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0,362</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b="1" dirty="0">
                          <a:solidFill>
                            <a:srgbClr val="000000"/>
                          </a:solidFill>
                          <a:latin typeface="Calibri" pitchFamily="34" charset="0"/>
                          <a:ea typeface="Calibri" pitchFamily="34" charset="-122"/>
                          <a:cs typeface="Calibri" pitchFamily="34" charset="-120"/>
                        </a:rPr>
                        <a:t>2,7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c>
                  <a:txBody>
                    <a:bodyPr/>
                    <a:lstStyle/>
                    <a:p>
                      <a:pPr algn="ctr" indent="0" marL="0">
                        <a:buNone/>
                      </a:pPr>
                      <a:r>
                        <a:rPr lang="en-US" sz="1400" dirty="0">
                          <a:solidFill>
                            <a:srgbClr val="000000"/>
                          </a:solidFill>
                          <a:latin typeface="Calibri" pitchFamily="34" charset="0"/>
                          <a:ea typeface="Calibri" pitchFamily="34" charset="-122"/>
                          <a:cs typeface="Calibri" pitchFamily="34" charset="-120"/>
                        </a:rPr>
                        <a:t>9,2 × 10⁻⁴</a:t>
                      </a:r>
                      <a:endParaRPr lang="en-US" sz="1400" dirty="0">
                        <a:latin typeface="Calibri" charset="0"/>
                        <a:ea typeface="Calibri" charset="0"/>
                        <a:cs typeface="Calibri" charset="0"/>
                      </a:endParaRPr>
                    </a:p>
                  </a:txBody>
                  <a:tcPr marL="91440" marR="91440" marT="45720" marB="45720" anchor="ctr">
                    <a:lnL w="12700" cap="flat" cmpd="sng" algn="ctr">
                      <a:solidFill>
                        <a:srgbClr val="CFD6D9"/>
                      </a:solidFill>
                      <a:prstDash val="solid"/>
                      <a:round/>
                      <a:headEnd type="none" w="med" len="med"/>
                      <a:tailEnd type="none" w="med" len="med"/>
                    </a:lnL>
                    <a:lnR w="12700" cap="flat" cmpd="sng" algn="ctr">
                      <a:solidFill>
                        <a:srgbClr val="CFD6D9"/>
                      </a:solidFill>
                      <a:prstDash val="solid"/>
                      <a:round/>
                      <a:headEnd type="none" w="med" len="med"/>
                      <a:tailEnd type="none" w="med" len="med"/>
                    </a:lnR>
                    <a:lnT w="12700" cap="flat" cmpd="sng" algn="ctr">
                      <a:solidFill>
                        <a:srgbClr val="CFD6D9"/>
                      </a:solidFill>
                      <a:prstDash val="solid"/>
                      <a:round/>
                      <a:headEnd type="none" w="med" len="med"/>
                      <a:tailEnd type="none" w="med" len="med"/>
                    </a:lnT>
                    <a:lnB w="12700" cap="flat" cmpd="sng" algn="ctr">
                      <a:solidFill>
                        <a:srgbClr val="CFD6D9"/>
                      </a:solidFill>
                      <a:prstDash val="solid"/>
                      <a:round/>
                      <a:headEnd type="none" w="med" len="med"/>
                      <a:tailEnd type="none" w="med" len="med"/>
                    </a:lnB>
                  </a:tcPr>
                </a:tc>
              </a:tr>
            </a:tbl>
          </a:graphicData>
        </a:graphic>
      </p:graphicFrame>
      <p:sp>
        <p:nvSpPr>
          <p:cNvPr id="4" name="dato 0"/>
          <p:cNvSpPr/>
          <p:nvPr/>
        </p:nvSpPr>
        <p:spPr>
          <a:xfrm>
            <a:off x="548640" y="4572000"/>
            <a:ext cx="3474720" cy="1600200"/>
          </a:xfrm>
          <a:prstGeom prst="roundRect">
            <a:avLst>
              <a:gd name="adj" fmla="val 4571"/>
            </a:avLst>
          </a:prstGeom>
          <a:solidFill>
            <a:srgbClr val="EEF2F3"/>
          </a:solidFill>
          <a:ln w="12700">
            <a:solidFill>
              <a:srgbClr val="EEF2F3"/>
            </a:solidFill>
            <a:prstDash val="solid"/>
          </a:ln>
        </p:spPr>
      </p:sp>
      <p:sp>
        <p:nvSpPr>
          <p:cNvPr id="5" name="Text 2"/>
          <p:cNvSpPr txBox="1"/>
          <p:nvPr/>
        </p:nvSpPr>
        <p:spPr>
          <a:xfrm>
            <a:off x="777240" y="4663440"/>
            <a:ext cx="3017520" cy="640080"/>
          </a:xfrm>
          <a:prstGeom prst="rect">
            <a:avLst/>
          </a:prstGeom>
          <a:noFill/>
          <a:ln/>
        </p:spPr>
        <p:txBody>
          <a:bodyPr wrap="square" lIns="0" tIns="0" rIns="0" bIns="0" rtlCol="0" anchor="ctr"/>
          <a:lstStyle/>
          <a:p>
            <a:pPr indent="0" marL="0">
              <a:buNone/>
            </a:pPr>
            <a:r>
              <a:rPr lang="en-US" sz="3400" b="1" dirty="0">
                <a:solidFill>
                  <a:srgbClr val="2E7D7A"/>
                </a:solidFill>
                <a:latin typeface="Cambria" pitchFamily="34" charset="0"/>
                <a:ea typeface="Cambria" pitchFamily="34" charset="-122"/>
                <a:cs typeface="Cambria" pitchFamily="34" charset="-120"/>
              </a:rPr>
              <a:t>4 de 5</a:t>
            </a:r>
            <a:endParaRPr lang="en-US" sz="3400" dirty="0"/>
          </a:p>
        </p:txBody>
      </p:sp>
      <p:sp>
        <p:nvSpPr>
          <p:cNvPr id="6" name="Text 3"/>
          <p:cNvSpPr txBox="1"/>
          <p:nvPr/>
        </p:nvSpPr>
        <p:spPr>
          <a:xfrm>
            <a:off x="777240" y="5303520"/>
            <a:ext cx="3017520" cy="82296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VOIs donde el dual-lattice ajusta con menor error morfométrico que el spinodoide</a:t>
            </a:r>
            <a:endParaRPr lang="en-US" sz="1400" dirty="0"/>
          </a:p>
        </p:txBody>
      </p:sp>
      <p:sp>
        <p:nvSpPr>
          <p:cNvPr id="7" name="dato 1"/>
          <p:cNvSpPr/>
          <p:nvPr/>
        </p:nvSpPr>
        <p:spPr>
          <a:xfrm>
            <a:off x="4297680" y="4572000"/>
            <a:ext cx="3474720" cy="1600200"/>
          </a:xfrm>
          <a:prstGeom prst="roundRect">
            <a:avLst>
              <a:gd name="adj" fmla="val 4571"/>
            </a:avLst>
          </a:prstGeom>
          <a:solidFill>
            <a:srgbClr val="EEF2F3"/>
          </a:solidFill>
          <a:ln w="12700">
            <a:solidFill>
              <a:srgbClr val="EEF2F3"/>
            </a:solidFill>
            <a:prstDash val="solid"/>
          </a:ln>
        </p:spPr>
      </p:sp>
      <p:sp>
        <p:nvSpPr>
          <p:cNvPr id="8" name="Text 5"/>
          <p:cNvSpPr txBox="1"/>
          <p:nvPr/>
        </p:nvSpPr>
        <p:spPr>
          <a:xfrm>
            <a:off x="4526280" y="4663440"/>
            <a:ext cx="3017520" cy="640080"/>
          </a:xfrm>
          <a:prstGeom prst="rect">
            <a:avLst/>
          </a:prstGeom>
          <a:noFill/>
          <a:ln/>
        </p:spPr>
        <p:txBody>
          <a:bodyPr wrap="square" lIns="0" tIns="0" rIns="0" bIns="0" rtlCol="0" anchor="ctr"/>
          <a:lstStyle/>
          <a:p>
            <a:pPr indent="0" marL="0">
              <a:buNone/>
            </a:pPr>
            <a:r>
              <a:rPr lang="en-US" sz="3400" b="1" dirty="0">
                <a:solidFill>
                  <a:srgbClr val="2E7D7A"/>
                </a:solidFill>
                <a:latin typeface="Cambria" pitchFamily="34" charset="0"/>
                <a:ea typeface="Cambria" pitchFamily="34" charset="-122"/>
                <a:cs typeface="Cambria" pitchFamily="34" charset="-120"/>
              </a:rPr>
              <a:t>&lt; 1 %</a:t>
            </a:r>
            <a:endParaRPr lang="en-US" sz="3400" dirty="0"/>
          </a:p>
        </p:txBody>
      </p:sp>
      <p:sp>
        <p:nvSpPr>
          <p:cNvPr id="9" name="Text 6"/>
          <p:cNvSpPr txBox="1"/>
          <p:nvPr/>
        </p:nvSpPr>
        <p:spPr>
          <a:xfrm>
            <a:off x="4526280" y="5303520"/>
            <a:ext cx="3017520" cy="82296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diferencia de BV/TV entre cada candidato y su VOI</a:t>
            </a:r>
            <a:endParaRPr lang="en-US" sz="1400" dirty="0"/>
          </a:p>
        </p:txBody>
      </p:sp>
      <p:sp>
        <p:nvSpPr>
          <p:cNvPr id="10" name="dato 2"/>
          <p:cNvSpPr/>
          <p:nvPr/>
        </p:nvSpPr>
        <p:spPr>
          <a:xfrm>
            <a:off x="8046720" y="4572000"/>
            <a:ext cx="3474720" cy="1600200"/>
          </a:xfrm>
          <a:prstGeom prst="roundRect">
            <a:avLst>
              <a:gd name="adj" fmla="val 4571"/>
            </a:avLst>
          </a:prstGeom>
          <a:solidFill>
            <a:srgbClr val="EEF2F3"/>
          </a:solidFill>
          <a:ln w="12700">
            <a:solidFill>
              <a:srgbClr val="EEF2F3"/>
            </a:solidFill>
            <a:prstDash val="solid"/>
          </a:ln>
        </p:spPr>
      </p:sp>
      <p:sp>
        <p:nvSpPr>
          <p:cNvPr id="11" name="Text 8"/>
          <p:cNvSpPr txBox="1"/>
          <p:nvPr/>
        </p:nvSpPr>
        <p:spPr>
          <a:xfrm>
            <a:off x="8275320" y="4663440"/>
            <a:ext cx="3017520" cy="640080"/>
          </a:xfrm>
          <a:prstGeom prst="rect">
            <a:avLst/>
          </a:prstGeom>
          <a:noFill/>
          <a:ln/>
        </p:spPr>
        <p:txBody>
          <a:bodyPr wrap="square" lIns="0" tIns="0" rIns="0" bIns="0" rtlCol="0" anchor="ctr"/>
          <a:lstStyle/>
          <a:p>
            <a:pPr indent="0" marL="0">
              <a:buNone/>
            </a:pPr>
            <a:r>
              <a:rPr lang="en-US" sz="3400" b="1" dirty="0">
                <a:solidFill>
                  <a:srgbClr val="2E7D7A"/>
                </a:solidFill>
                <a:latin typeface="Cambria" pitchFamily="34" charset="0"/>
                <a:ea typeface="Cambria" pitchFamily="34" charset="-122"/>
                <a:cs typeface="Cambria" pitchFamily="34" charset="-120"/>
              </a:rPr>
              <a:t>1</a:t>
            </a:r>
            <a:endParaRPr lang="en-US" sz="3400" dirty="0"/>
          </a:p>
        </p:txBody>
      </p:sp>
      <p:sp>
        <p:nvSpPr>
          <p:cNvPr id="12" name="Text 9"/>
          <p:cNvSpPr txBox="1"/>
          <p:nvPr/>
        </p:nvSpPr>
        <p:spPr>
          <a:xfrm>
            <a:off x="8275320" y="5303520"/>
            <a:ext cx="3017520" cy="822960"/>
          </a:xfrm>
          <a:prstGeom prst="rect">
            <a:avLst/>
          </a:prstGeom>
          <a:noFill/>
          <a:ln/>
        </p:spPr>
        <p:txBody>
          <a:bodyPr wrap="square" lIns="0" tIns="0" rIns="0" bIns="0" rtlCol="0" anchor="t"/>
          <a:lstStyle/>
          <a:p>
            <a:pPr indent="0" marL="0">
              <a:buNone/>
            </a:pPr>
            <a:r>
              <a:rPr lang="en-US" sz="1400" dirty="0">
                <a:solidFill>
                  <a:srgbClr val="1B2A33"/>
                </a:solidFill>
                <a:latin typeface="Calibri" pitchFamily="34" charset="0"/>
                <a:ea typeface="Calibri" pitchFamily="34" charset="-122"/>
                <a:cs typeface="Calibri" pitchFamily="34" charset="-120"/>
              </a:rPr>
              <a:t>semilla y un ajuste por VOI y familia: sin réplicas</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Deformación total |u|</a:t>
            </a:r>
            <a:endParaRPr lang="en-US" sz="3600" dirty="0"/>
          </a:p>
        </p:txBody>
      </p:sp>
      <p:pic>
        <p:nvPicPr>
          <p:cNvPr id="3" name="mapa" descr="/home/user/spinpy/comparativa_motores/tapia_c1_c5/figs/mapa_u.png">    </p:cNvPr>
          <p:cNvPicPr>
            <a:picLocks noChangeAspect="1"/>
          </p:cNvPicPr>
          <p:nvPr/>
        </p:nvPicPr>
        <p:blipFill>
          <a:blip r:embed="rId1"/>
          <a:stretch>
            <a:fillRect/>
          </a:stretch>
        </p:blipFill>
        <p:spPr>
          <a:xfrm>
            <a:off x="457200" y="1188720"/>
            <a:ext cx="8229600" cy="4848294"/>
          </a:xfrm>
          <a:prstGeom prst="rect">
            <a:avLst/>
          </a:prstGeom>
        </p:spPr>
      </p:pic>
      <p:sp>
        <p:nvSpPr>
          <p:cNvPr id="4" name="lectura 0"/>
          <p:cNvSpPr/>
          <p:nvPr/>
        </p:nvSpPr>
        <p:spPr>
          <a:xfrm>
            <a:off x="8915400" y="1325880"/>
            <a:ext cx="2834640" cy="1463040"/>
          </a:xfrm>
          <a:prstGeom prst="roundRect">
            <a:avLst>
              <a:gd name="adj" fmla="val 5000"/>
            </a:avLst>
          </a:prstGeom>
          <a:solidFill>
            <a:srgbClr val="EEF2F3"/>
          </a:solidFill>
          <a:ln w="12700">
            <a:solidFill>
              <a:srgbClr val="EEF2F3"/>
            </a:solidFill>
            <a:prstDash val="solid"/>
          </a:ln>
        </p:spPr>
      </p:sp>
      <p:sp>
        <p:nvSpPr>
          <p:cNvPr id="5" name="Text 2"/>
          <p:cNvSpPr txBox="1"/>
          <p:nvPr/>
        </p:nvSpPr>
        <p:spPr>
          <a:xfrm>
            <a:off x="9098280" y="1417320"/>
            <a:ext cx="2560320" cy="502920"/>
          </a:xfrm>
          <a:prstGeom prst="rect">
            <a:avLst/>
          </a:prstGeom>
          <a:noFill/>
          <a:ln/>
        </p:spPr>
        <p:txBody>
          <a:bodyPr wrap="square" lIns="0" tIns="0" rIns="0" bIns="0" rtlCol="0" anchor="t"/>
          <a:lstStyle/>
          <a:p>
            <a:pPr indent="0" marL="0">
              <a:buNone/>
            </a:pPr>
            <a:r>
              <a:rPr lang="en-US" sz="2200" b="1" dirty="0">
                <a:solidFill>
                  <a:srgbClr val="C8553D"/>
                </a:solidFill>
                <a:latin typeface="Cambria" pitchFamily="34" charset="0"/>
                <a:ea typeface="Cambria" pitchFamily="34" charset="-122"/>
                <a:cs typeface="Cambria" pitchFamily="34" charset="-120"/>
              </a:rPr>
              <a:t>18 a 42 %</a:t>
            </a:r>
            <a:endParaRPr lang="en-US" sz="2200" dirty="0"/>
          </a:p>
        </p:txBody>
      </p:sp>
      <p:sp>
        <p:nvSpPr>
          <p:cNvPr id="6" name="Text 3"/>
          <p:cNvSpPr txBox="1"/>
          <p:nvPr/>
        </p:nvSpPr>
        <p:spPr>
          <a:xfrm>
            <a:off x="9098280" y="19476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de la rigidez del VOI tiene el spinodoide: se deforma mucho más</a:t>
            </a:r>
            <a:endParaRPr lang="en-US" sz="1300" dirty="0"/>
          </a:p>
        </p:txBody>
      </p:sp>
      <p:sp>
        <p:nvSpPr>
          <p:cNvPr id="7" name="lectura 1"/>
          <p:cNvSpPr/>
          <p:nvPr/>
        </p:nvSpPr>
        <p:spPr>
          <a:xfrm>
            <a:off x="8915400" y="2926080"/>
            <a:ext cx="2834640" cy="1463040"/>
          </a:xfrm>
          <a:prstGeom prst="roundRect">
            <a:avLst>
              <a:gd name="adj" fmla="val 5000"/>
            </a:avLst>
          </a:prstGeom>
          <a:solidFill>
            <a:srgbClr val="EEF2F3"/>
          </a:solidFill>
          <a:ln w="12700">
            <a:solidFill>
              <a:srgbClr val="EEF2F3"/>
            </a:solidFill>
            <a:prstDash val="solid"/>
          </a:ln>
        </p:spPr>
      </p:sp>
      <p:sp>
        <p:nvSpPr>
          <p:cNvPr id="8" name="Text 5"/>
          <p:cNvSpPr txBox="1"/>
          <p:nvPr/>
        </p:nvSpPr>
        <p:spPr>
          <a:xfrm>
            <a:off x="9098280" y="3017520"/>
            <a:ext cx="2560320" cy="502920"/>
          </a:xfrm>
          <a:prstGeom prst="rect">
            <a:avLst/>
          </a:prstGeom>
          <a:noFill/>
          <a:ln/>
        </p:spPr>
        <p:txBody>
          <a:bodyPr wrap="square" lIns="0" tIns="0" rIns="0" bIns="0" rtlCol="0" anchor="t"/>
          <a:lstStyle/>
          <a:p>
            <a:pPr indent="0" marL="0">
              <a:buNone/>
            </a:pPr>
            <a:r>
              <a:rPr lang="en-US" sz="2200" b="1" dirty="0">
                <a:solidFill>
                  <a:srgbClr val="2E7D7A"/>
                </a:solidFill>
                <a:latin typeface="Cambria" pitchFamily="34" charset="0"/>
                <a:ea typeface="Cambria" pitchFamily="34" charset="-122"/>
                <a:cs typeface="Cambria" pitchFamily="34" charset="-120"/>
              </a:rPr>
              <a:t>69 a 80 %</a:t>
            </a:r>
            <a:endParaRPr lang="en-US" sz="2200" dirty="0"/>
          </a:p>
        </p:txBody>
      </p:sp>
      <p:sp>
        <p:nvSpPr>
          <p:cNvPr id="9" name="Text 6"/>
          <p:cNvSpPr txBox="1"/>
          <p:nvPr/>
        </p:nvSpPr>
        <p:spPr>
          <a:xfrm>
            <a:off x="9098280" y="35478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de la rigidez del VOI tiene el dual-lattice</a:t>
            </a:r>
            <a:endParaRPr lang="en-US" sz="1300" dirty="0"/>
          </a:p>
        </p:txBody>
      </p:sp>
      <p:sp>
        <p:nvSpPr>
          <p:cNvPr id="10" name="lectura 2"/>
          <p:cNvSpPr/>
          <p:nvPr/>
        </p:nvSpPr>
        <p:spPr>
          <a:xfrm>
            <a:off x="8915400" y="4526280"/>
            <a:ext cx="2834640" cy="1463040"/>
          </a:xfrm>
          <a:prstGeom prst="roundRect">
            <a:avLst>
              <a:gd name="adj" fmla="val 5000"/>
            </a:avLst>
          </a:prstGeom>
          <a:solidFill>
            <a:srgbClr val="EEF2F3"/>
          </a:solidFill>
          <a:ln w="12700">
            <a:solidFill>
              <a:srgbClr val="EEF2F3"/>
            </a:solidFill>
            <a:prstDash val="solid"/>
          </a:ln>
        </p:spPr>
      </p:sp>
      <p:sp>
        <p:nvSpPr>
          <p:cNvPr id="11" name="Text 8"/>
          <p:cNvSpPr txBox="1"/>
          <p:nvPr/>
        </p:nvSpPr>
        <p:spPr>
          <a:xfrm>
            <a:off x="9098280" y="4617720"/>
            <a:ext cx="2560320" cy="502920"/>
          </a:xfrm>
          <a:prstGeom prst="rect">
            <a:avLst/>
          </a:prstGeom>
          <a:noFill/>
          <a:ln/>
        </p:spPr>
        <p:txBody>
          <a:bodyPr wrap="square" lIns="0" tIns="0" rIns="0" bIns="0" rtlCol="0" anchor="t"/>
          <a:lstStyle/>
          <a:p>
            <a:pPr indent="0" marL="0">
              <a:buNone/>
            </a:pPr>
            <a:r>
              <a:rPr lang="en-US" sz="2200" b="1" dirty="0">
                <a:solidFill>
                  <a:srgbClr val="1F3A44"/>
                </a:solidFill>
                <a:latin typeface="Cambria" pitchFamily="34" charset="0"/>
                <a:ea typeface="Cambria" pitchFamily="34" charset="-122"/>
                <a:cs typeface="Cambria" pitchFamily="34" charset="-120"/>
              </a:rPr>
              <a:t>En la cima</a:t>
            </a:r>
            <a:endParaRPr lang="en-US" sz="2200" dirty="0"/>
          </a:p>
        </p:txBody>
      </p:sp>
      <p:sp>
        <p:nvSpPr>
          <p:cNvPr id="12" name="Text 9"/>
          <p:cNvSpPr txBox="1"/>
          <p:nvPr/>
        </p:nvSpPr>
        <p:spPr>
          <a:xfrm>
            <a:off x="9098280" y="51480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el máximo de |u| cae en la capa superior en 14 de las 15 estructuras</a:t>
            </a:r>
            <a:endParaRPr lang="en-US" sz="1300" dirty="0"/>
          </a:p>
        </p:txBody>
      </p:sp>
      <p:sp>
        <p:nvSpPr>
          <p:cNvPr id="13" name="Text 10"/>
          <p:cNvSpPr txBox="1"/>
          <p:nvPr/>
        </p:nvSpPr>
        <p:spPr>
          <a:xfrm>
            <a:off x="457200" y="6080760"/>
            <a:ext cx="8229600" cy="274320"/>
          </a:xfrm>
          <a:prstGeom prst="rect">
            <a:avLst/>
          </a:prstGeom>
          <a:noFill/>
          <a:ln/>
        </p:spPr>
        <p:txBody>
          <a:bodyPr wrap="square" lIns="0" tIns="0" rIns="0" bIns="0" rtlCol="0" anchor="t"/>
          <a:lstStyle/>
          <a:p>
            <a:pPr indent="0" marL="0">
              <a:buNone/>
            </a:pPr>
            <a:r>
              <a:rPr lang="en-US" sz="1100" dirty="0">
                <a:solidFill>
                  <a:srgbClr val="5B6573"/>
                </a:solidFill>
                <a:latin typeface="Calibri" pitchFamily="34" charset="0"/>
                <a:ea typeface="Calibri" pitchFamily="34" charset="-122"/>
                <a:cs typeface="Calibri" pitchFamily="34" charset="-120"/>
              </a:rPr>
              <a:t>Escala común por columna: de 0 al p99 de la estructura más tensionada de cada VOI.</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Tensión de von Mises</a:t>
            </a:r>
            <a:endParaRPr lang="en-US" sz="3600" dirty="0"/>
          </a:p>
        </p:txBody>
      </p:sp>
      <p:pic>
        <p:nvPicPr>
          <p:cNvPr id="3" name="mapa" descr="/home/user/spinpy/comparativa_motores/tapia_c1_c5/figs/mapa_vm.png">    </p:cNvPr>
          <p:cNvPicPr>
            <a:picLocks noChangeAspect="1"/>
          </p:cNvPicPr>
          <p:nvPr/>
        </p:nvPicPr>
        <p:blipFill>
          <a:blip r:embed="rId1"/>
          <a:stretch>
            <a:fillRect/>
          </a:stretch>
        </p:blipFill>
        <p:spPr>
          <a:xfrm>
            <a:off x="457200" y="1188720"/>
            <a:ext cx="8229600" cy="4848294"/>
          </a:xfrm>
          <a:prstGeom prst="rect">
            <a:avLst/>
          </a:prstGeom>
        </p:spPr>
      </p:pic>
      <p:sp>
        <p:nvSpPr>
          <p:cNvPr id="4" name="lectura 0"/>
          <p:cNvSpPr/>
          <p:nvPr/>
        </p:nvSpPr>
        <p:spPr>
          <a:xfrm>
            <a:off x="8915400" y="1325880"/>
            <a:ext cx="2834640" cy="1463040"/>
          </a:xfrm>
          <a:prstGeom prst="roundRect">
            <a:avLst>
              <a:gd name="adj" fmla="val 5000"/>
            </a:avLst>
          </a:prstGeom>
          <a:solidFill>
            <a:srgbClr val="EEF2F3"/>
          </a:solidFill>
          <a:ln w="12700">
            <a:solidFill>
              <a:srgbClr val="EEF2F3"/>
            </a:solidFill>
            <a:prstDash val="solid"/>
          </a:ln>
        </p:spPr>
      </p:sp>
      <p:sp>
        <p:nvSpPr>
          <p:cNvPr id="5" name="Text 2"/>
          <p:cNvSpPr txBox="1"/>
          <p:nvPr/>
        </p:nvSpPr>
        <p:spPr>
          <a:xfrm>
            <a:off x="9098280" y="1417320"/>
            <a:ext cx="2560320" cy="502920"/>
          </a:xfrm>
          <a:prstGeom prst="rect">
            <a:avLst/>
          </a:prstGeom>
          <a:noFill/>
          <a:ln/>
        </p:spPr>
        <p:txBody>
          <a:bodyPr wrap="square" lIns="0" tIns="0" rIns="0" bIns="0" rtlCol="0" anchor="t"/>
          <a:lstStyle/>
          <a:p>
            <a:pPr indent="0" marL="0">
              <a:buNone/>
            </a:pPr>
            <a:r>
              <a:rPr lang="en-US" sz="2200" b="1" dirty="0">
                <a:solidFill>
                  <a:srgbClr val="C8553D"/>
                </a:solidFill>
                <a:latin typeface="Cambria" pitchFamily="34" charset="0"/>
                <a:ea typeface="Cambria" pitchFamily="34" charset="-122"/>
                <a:cs typeface="Cambria" pitchFamily="34" charset="-120"/>
              </a:rPr>
              <a:t>1,8 a 3,1×</a:t>
            </a:r>
            <a:endParaRPr lang="en-US" sz="2200" dirty="0"/>
          </a:p>
        </p:txBody>
      </p:sp>
      <p:sp>
        <p:nvSpPr>
          <p:cNvPr id="6" name="Text 3"/>
          <p:cNvSpPr txBox="1"/>
          <p:nvPr/>
        </p:nvSpPr>
        <p:spPr>
          <a:xfrm>
            <a:off x="9098280" y="19476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el p99 de von Mises del VOI alcanza el spinodoide</a:t>
            </a:r>
            <a:endParaRPr lang="en-US" sz="1300" dirty="0"/>
          </a:p>
        </p:txBody>
      </p:sp>
      <p:sp>
        <p:nvSpPr>
          <p:cNvPr id="7" name="lectura 1"/>
          <p:cNvSpPr/>
          <p:nvPr/>
        </p:nvSpPr>
        <p:spPr>
          <a:xfrm>
            <a:off x="8915400" y="2926080"/>
            <a:ext cx="2834640" cy="1463040"/>
          </a:xfrm>
          <a:prstGeom prst="roundRect">
            <a:avLst>
              <a:gd name="adj" fmla="val 5000"/>
            </a:avLst>
          </a:prstGeom>
          <a:solidFill>
            <a:srgbClr val="EEF2F3"/>
          </a:solidFill>
          <a:ln w="12700">
            <a:solidFill>
              <a:srgbClr val="EEF2F3"/>
            </a:solidFill>
            <a:prstDash val="solid"/>
          </a:ln>
        </p:spPr>
      </p:sp>
      <p:sp>
        <p:nvSpPr>
          <p:cNvPr id="8" name="Text 5"/>
          <p:cNvSpPr txBox="1"/>
          <p:nvPr/>
        </p:nvSpPr>
        <p:spPr>
          <a:xfrm>
            <a:off x="9098280" y="3017520"/>
            <a:ext cx="2560320" cy="502920"/>
          </a:xfrm>
          <a:prstGeom prst="rect">
            <a:avLst/>
          </a:prstGeom>
          <a:noFill/>
          <a:ln/>
        </p:spPr>
        <p:txBody>
          <a:bodyPr wrap="square" lIns="0" tIns="0" rIns="0" bIns="0" rtlCol="0" anchor="t"/>
          <a:lstStyle/>
          <a:p>
            <a:pPr indent="0" marL="0">
              <a:buNone/>
            </a:pPr>
            <a:r>
              <a:rPr lang="en-US" sz="2200" b="1" dirty="0">
                <a:solidFill>
                  <a:srgbClr val="2E7D7A"/>
                </a:solidFill>
                <a:latin typeface="Cambria" pitchFamily="34" charset="0"/>
                <a:ea typeface="Cambria" pitchFamily="34" charset="-122"/>
                <a:cs typeface="Cambria" pitchFamily="34" charset="-120"/>
              </a:rPr>
              <a:t>1,2 a 1,4×</a:t>
            </a:r>
            <a:endParaRPr lang="en-US" sz="2200" dirty="0"/>
          </a:p>
        </p:txBody>
      </p:sp>
      <p:sp>
        <p:nvSpPr>
          <p:cNvPr id="9" name="Text 6"/>
          <p:cNvSpPr txBox="1"/>
          <p:nvPr/>
        </p:nvSpPr>
        <p:spPr>
          <a:xfrm>
            <a:off x="9098280" y="35478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el p99 del VOI alcanza el dual-lattice</a:t>
            </a:r>
            <a:endParaRPr lang="en-US" sz="1300" dirty="0"/>
          </a:p>
        </p:txBody>
      </p:sp>
      <p:sp>
        <p:nvSpPr>
          <p:cNvPr id="10" name="lectura 2"/>
          <p:cNvSpPr/>
          <p:nvPr/>
        </p:nvSpPr>
        <p:spPr>
          <a:xfrm>
            <a:off x="8915400" y="4526280"/>
            <a:ext cx="2834640" cy="1463040"/>
          </a:xfrm>
          <a:prstGeom prst="roundRect">
            <a:avLst>
              <a:gd name="adj" fmla="val 5000"/>
            </a:avLst>
          </a:prstGeom>
          <a:solidFill>
            <a:srgbClr val="EEF2F3"/>
          </a:solidFill>
          <a:ln w="12700">
            <a:solidFill>
              <a:srgbClr val="EEF2F3"/>
            </a:solidFill>
            <a:prstDash val="solid"/>
          </a:ln>
        </p:spPr>
      </p:sp>
      <p:sp>
        <p:nvSpPr>
          <p:cNvPr id="11" name="Text 8"/>
          <p:cNvSpPr txBox="1"/>
          <p:nvPr/>
        </p:nvSpPr>
        <p:spPr>
          <a:xfrm>
            <a:off x="9098280" y="4617720"/>
            <a:ext cx="2560320" cy="502920"/>
          </a:xfrm>
          <a:prstGeom prst="rect">
            <a:avLst/>
          </a:prstGeom>
          <a:noFill/>
          <a:ln/>
        </p:spPr>
        <p:txBody>
          <a:bodyPr wrap="square" lIns="0" tIns="0" rIns="0" bIns="0" rtlCol="0" anchor="t"/>
          <a:lstStyle/>
          <a:p>
            <a:pPr indent="0" marL="0">
              <a:buNone/>
            </a:pPr>
            <a:r>
              <a:rPr lang="en-US" sz="2200" b="1" dirty="0">
                <a:solidFill>
                  <a:srgbClr val="1F3A44"/>
                </a:solidFill>
                <a:latin typeface="Cambria" pitchFamily="34" charset="0"/>
                <a:ea typeface="Cambria" pitchFamily="34" charset="-122"/>
                <a:cs typeface="Cambria" pitchFamily="34" charset="-120"/>
              </a:rPr>
              <a:t>p99, no máximo</a:t>
            </a:r>
            <a:endParaRPr lang="en-US" sz="2200" dirty="0"/>
          </a:p>
        </p:txBody>
      </p:sp>
      <p:sp>
        <p:nvSpPr>
          <p:cNvPr id="12" name="Text 9"/>
          <p:cNvSpPr txBox="1"/>
          <p:nvPr/>
        </p:nvSpPr>
        <p:spPr>
          <a:xfrm>
            <a:off x="9098280" y="5148072"/>
            <a:ext cx="2560320" cy="822960"/>
          </a:xfrm>
          <a:prstGeom prst="rect">
            <a:avLst/>
          </a:prstGeom>
          <a:noFill/>
          <a:ln/>
        </p:spPr>
        <p:txBody>
          <a:bodyPr wrap="square" lIns="0" tIns="0" rIns="0" bIns="0" rtlCol="0" anchor="t"/>
          <a:lstStyle/>
          <a:p>
            <a:pPr indent="0" marL="0">
              <a:buNone/>
            </a:pPr>
            <a:r>
              <a:rPr lang="en-US" sz="1300" dirty="0">
                <a:solidFill>
                  <a:srgbClr val="1B2A33"/>
                </a:solidFill>
                <a:latin typeface="Calibri" pitchFamily="34" charset="0"/>
                <a:ea typeface="Calibri" pitchFamily="34" charset="-122"/>
                <a:cs typeface="Calibri" pitchFamily="34" charset="-120"/>
              </a:rPr>
              <a:t>el máximo no converge con la malla; el p99 es el valor citable</a:t>
            </a:r>
            <a:endParaRPr lang="en-US" sz="1300" dirty="0"/>
          </a:p>
        </p:txBody>
      </p:sp>
      <p:sp>
        <p:nvSpPr>
          <p:cNvPr id="13" name="Text 10"/>
          <p:cNvSpPr txBox="1"/>
          <p:nvPr/>
        </p:nvSpPr>
        <p:spPr>
          <a:xfrm>
            <a:off x="457200" y="6080760"/>
            <a:ext cx="8229600" cy="274320"/>
          </a:xfrm>
          <a:prstGeom prst="rect">
            <a:avLst/>
          </a:prstGeom>
          <a:noFill/>
          <a:ln/>
        </p:spPr>
        <p:txBody>
          <a:bodyPr wrap="square" lIns="0" tIns="0" rIns="0" bIns="0" rtlCol="0" anchor="t"/>
          <a:lstStyle/>
          <a:p>
            <a:pPr indent="0" marL="0">
              <a:buNone/>
            </a:pPr>
            <a:r>
              <a:rPr lang="en-US" sz="1100" dirty="0">
                <a:solidFill>
                  <a:srgbClr val="5B6573"/>
                </a:solidFill>
                <a:latin typeface="Calibri" pitchFamily="34" charset="0"/>
                <a:ea typeface="Calibri" pitchFamily="34" charset="-122"/>
                <a:cs typeface="Calibri" pitchFamily="34" charset="-120"/>
              </a:rPr>
              <a:t>Escala común por columna: de 0 al p99 de la estructura más tensionada de cada VOI.</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Rigidez y tensión por estructura</a:t>
            </a:r>
            <a:endParaRPr lang="en-US" sz="3600" dirty="0"/>
          </a:p>
        </p:txBody>
      </p:sp>
      <p:graphicFrame>
        <p:nvGraphicFramePr>
          <p:cNvPr id="3" name="Chart 0" descr=""/>
          <p:cNvGraphicFramePr/>
          <p:nvPr/>
        </p:nvGraphicFramePr>
        <p:xfrm>
          <a:off x="457200" y="1234440"/>
          <a:ext cx="566928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172200" y="1234440"/>
          <a:ext cx="566928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532120"/>
            <a:ext cx="11064240" cy="685800"/>
          </a:xfrm>
          <a:prstGeom prst="rect">
            <a:avLst/>
          </a:prstGeom>
          <a:noFill/>
          <a:ln/>
        </p:spPr>
        <p:txBody>
          <a:bodyPr wrap="square" lIns="0" tIns="0" rIns="0" bIns="0" rtlCol="0" anchor="t"/>
          <a:lstStyle/>
          <a:p>
            <a:pPr indent="0" marL="0">
              <a:buNone/>
            </a:pPr>
            <a:r>
              <a:rPr lang="en-US" sz="1400" dirty="0">
                <a:solidFill>
                  <a:srgbClr val="5B6573"/>
                </a:solidFill>
                <a:latin typeface="Calibri" pitchFamily="34" charset="0"/>
                <a:ea typeface="Calibri" pitchFamily="34" charset="-122"/>
                <a:cs typeface="Calibri" pitchFamily="34" charset="-120"/>
              </a:rPr>
              <a:t>Valores de NGSolve con solver directo, 40³, base empotrada, 100 N. La app da lo mismo hasta 10⁻¹¹. Las cifras completas, con |u| máxima y von Mises máximo, están en el anexo.</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Lectura y límites</a:t>
            </a:r>
            <a:endParaRPr lang="en-US" sz="3600" dirty="0"/>
          </a:p>
        </p:txBody>
      </p:sp>
      <p:sp>
        <p:nvSpPr>
          <p:cNvPr id="3" name="columna Lo que se puede decir"/>
          <p:cNvSpPr/>
          <p:nvPr/>
        </p:nvSpPr>
        <p:spPr>
          <a:xfrm>
            <a:off x="548640" y="1371600"/>
            <a:ext cx="5440680" cy="4206240"/>
          </a:xfrm>
          <a:prstGeom prst="roundRect">
            <a:avLst>
              <a:gd name="adj" fmla="val 1739"/>
            </a:avLst>
          </a:prstGeom>
          <a:solidFill>
            <a:srgbClr val="EEF2F3"/>
          </a:solidFill>
          <a:ln w="12700">
            <a:solidFill>
              <a:srgbClr val="EEF2F3"/>
            </a:solidFill>
            <a:prstDash val="solid"/>
          </a:ln>
        </p:spPr>
      </p:sp>
      <p:sp>
        <p:nvSpPr>
          <p:cNvPr id="4" name="Text 2"/>
          <p:cNvSpPr txBox="1"/>
          <p:nvPr/>
        </p:nvSpPr>
        <p:spPr>
          <a:xfrm>
            <a:off x="822960" y="1508760"/>
            <a:ext cx="4937760" cy="457200"/>
          </a:xfrm>
          <a:prstGeom prst="rect">
            <a:avLst/>
          </a:prstGeom>
          <a:noFill/>
          <a:ln/>
        </p:spPr>
        <p:txBody>
          <a:bodyPr wrap="square" lIns="0" tIns="0" rIns="0" bIns="0" rtlCol="0" anchor="t"/>
          <a:lstStyle/>
          <a:p>
            <a:pPr indent="0" marL="0">
              <a:buNone/>
            </a:pPr>
            <a:r>
              <a:rPr lang="en-US" sz="2200" b="1" dirty="0">
                <a:solidFill>
                  <a:srgbClr val="2E7D7A"/>
                </a:solidFill>
                <a:latin typeface="Calibri" pitchFamily="34" charset="0"/>
                <a:ea typeface="Calibri" pitchFamily="34" charset="-122"/>
                <a:cs typeface="Calibri" pitchFamily="34" charset="-120"/>
              </a:rPr>
              <a:t>Lo que se puede decir</a:t>
            </a:r>
            <a:endParaRPr lang="en-US" sz="2200" dirty="0"/>
          </a:p>
        </p:txBody>
      </p:sp>
      <p:sp>
        <p:nvSpPr>
          <p:cNvPr id="5" name="Text 3"/>
          <p:cNvSpPr txBox="1"/>
          <p:nvPr/>
        </p:nvSpPr>
        <p:spPr>
          <a:xfrm>
            <a:off x="822960" y="2103120"/>
            <a:ext cx="4937760" cy="39319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1B2A33"/>
                </a:solidFill>
                <a:latin typeface="Calibri" pitchFamily="34" charset="0"/>
                <a:ea typeface="Calibri" pitchFamily="34" charset="-122"/>
                <a:cs typeface="Calibri" pitchFamily="34" charset="-120"/>
              </a:rPr>
              <a:t>Bajo la misma carga, el spinodoide conserva 18 a 42 % de la rigidez del VOI y su p99 de von Mises es 1,8 a 3,1 veces mayor.</a:t>
            </a:r>
            <a:endParaRPr lang="en-US" sz="1800" dirty="0"/>
          </a:p>
          <a:p>
            <a:pPr marL="342900" indent="-342900">
              <a:spcAft>
                <a:spcPts val="1200"/>
              </a:spcAft>
              <a:buSzPct val="100000"/>
              <a:buChar char="•"/>
            </a:pPr>
            <a:r>
              <a:rPr lang="en-US" sz="1800" dirty="0">
                <a:solidFill>
                  <a:srgbClr val="1B2A33"/>
                </a:solidFill>
                <a:latin typeface="Calibri" pitchFamily="34" charset="0"/>
                <a:ea typeface="Calibri" pitchFamily="34" charset="-122"/>
                <a:cs typeface="Calibri" pitchFamily="34" charset="-120"/>
              </a:rPr>
              <a:t>El dual-lattice conserva 69 a 80 % y 1,2 a 1,4 veces.</a:t>
            </a:r>
            <a:endParaRPr lang="en-US" sz="1800" dirty="0"/>
          </a:p>
          <a:p>
            <a:pPr marL="342900" indent="-342900">
              <a:spcAft>
                <a:spcPts val="1200"/>
              </a:spcAft>
              <a:buSzPct val="100000"/>
              <a:buChar char="•"/>
            </a:pPr>
            <a:r>
              <a:rPr lang="en-US" sz="1800" dirty="0">
                <a:solidFill>
                  <a:srgbClr val="1B2A33"/>
                </a:solidFill>
                <a:latin typeface="Calibri" pitchFamily="34" charset="0"/>
                <a:ea typeface="Calibri" pitchFamily="34" charset="-122"/>
                <a:cs typeface="Calibri" pitchFamily="34" charset="-120"/>
              </a:rPr>
              <a:t>La formulación se verificó con un cubo y un prisma macizos: 114 pruebas con respuesta exacta pasan.</a:t>
            </a:r>
            <a:endParaRPr lang="en-US" sz="1800" dirty="0"/>
          </a:p>
        </p:txBody>
      </p:sp>
      <p:sp>
        <p:nvSpPr>
          <p:cNvPr id="6" name="columna Límites"/>
          <p:cNvSpPr/>
          <p:nvPr/>
        </p:nvSpPr>
        <p:spPr>
          <a:xfrm>
            <a:off x="6172200" y="1371600"/>
            <a:ext cx="5440680" cy="4206240"/>
          </a:xfrm>
          <a:prstGeom prst="roundRect">
            <a:avLst>
              <a:gd name="adj" fmla="val 1739"/>
            </a:avLst>
          </a:prstGeom>
          <a:solidFill>
            <a:srgbClr val="EEF2F3"/>
          </a:solidFill>
          <a:ln w="12700">
            <a:solidFill>
              <a:srgbClr val="EEF2F3"/>
            </a:solidFill>
            <a:prstDash val="solid"/>
          </a:ln>
        </p:spPr>
      </p:sp>
      <p:sp>
        <p:nvSpPr>
          <p:cNvPr id="7" name="Text 5"/>
          <p:cNvSpPr txBox="1"/>
          <p:nvPr/>
        </p:nvSpPr>
        <p:spPr>
          <a:xfrm>
            <a:off x="6446520" y="1508760"/>
            <a:ext cx="4937760" cy="457200"/>
          </a:xfrm>
          <a:prstGeom prst="rect">
            <a:avLst/>
          </a:prstGeom>
          <a:noFill/>
          <a:ln/>
        </p:spPr>
        <p:txBody>
          <a:bodyPr wrap="square" lIns="0" tIns="0" rIns="0" bIns="0" rtlCol="0" anchor="t"/>
          <a:lstStyle/>
          <a:p>
            <a:pPr indent="0" marL="0">
              <a:buNone/>
            </a:pPr>
            <a:r>
              <a:rPr lang="en-US" sz="2200" b="1" dirty="0">
                <a:solidFill>
                  <a:srgbClr val="C8553D"/>
                </a:solidFill>
                <a:latin typeface="Calibri" pitchFamily="34" charset="0"/>
                <a:ea typeface="Calibri" pitchFamily="34" charset="-122"/>
                <a:cs typeface="Calibri" pitchFamily="34" charset="-120"/>
              </a:rPr>
              <a:t>Límites</a:t>
            </a:r>
            <a:endParaRPr lang="en-US" sz="2200" dirty="0"/>
          </a:p>
        </p:txBody>
      </p:sp>
      <p:sp>
        <p:nvSpPr>
          <p:cNvPr id="8" name="Text 6"/>
          <p:cNvSpPr txBox="1"/>
          <p:nvPr/>
        </p:nvSpPr>
        <p:spPr>
          <a:xfrm>
            <a:off x="6446520" y="2103120"/>
            <a:ext cx="4937760" cy="39319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1B2A33"/>
                </a:solidFill>
                <a:latin typeface="Calibri" pitchFamily="34" charset="0"/>
                <a:ea typeface="Calibri" pitchFamily="34" charset="-122"/>
                <a:cs typeface="Calibri" pitchFamily="34" charset="-120"/>
              </a:rPr>
              <a:t>La base empotrada rigidiza (3,1 % en el cubo) y su von Mises máximo no converge: se cita el p99.</a:t>
            </a:r>
            <a:endParaRPr lang="en-US" sz="1800" dirty="0"/>
          </a:p>
          <a:p>
            <a:pPr marL="342900" indent="-342900">
              <a:spcAft>
                <a:spcPts val="1200"/>
              </a:spcAft>
              <a:buSzPct val="100000"/>
              <a:buChar char="•"/>
            </a:pPr>
            <a:r>
              <a:rPr lang="en-US" sz="1800" dirty="0">
                <a:solidFill>
                  <a:srgbClr val="1B2A33"/>
                </a:solidFill>
                <a:latin typeface="Calibri" pitchFamily="34" charset="0"/>
                <a:ea typeface="Calibri" pitchFamily="34" charset="-122"/>
                <a:cs typeface="Calibri" pitchFamily="34" charset="-120"/>
              </a:rPr>
              <a:t>En C3 spinodoide |u| llega a 0,75 mm (25 % del lado): la hipótesis de pequeñas deformaciones no vale.</a:t>
            </a:r>
            <a:endParaRPr lang="en-US" sz="1800" dirty="0"/>
          </a:p>
          <a:p>
            <a:pPr marL="342900" indent="-342900">
              <a:spcAft>
                <a:spcPts val="1200"/>
              </a:spcAft>
              <a:buSzPct val="100000"/>
              <a:buChar char="•"/>
            </a:pPr>
            <a:r>
              <a:rPr lang="en-US" sz="1800" dirty="0">
                <a:solidFill>
                  <a:srgbClr val="1B2A33"/>
                </a:solidFill>
                <a:latin typeface="Calibri" pitchFamily="34" charset="0"/>
                <a:ea typeface="Calibri" pitchFamily="34" charset="-122"/>
                <a:cs typeface="Calibri" pitchFamily="34" charset="-120"/>
              </a:rPr>
              <a:t>Una semilla por ajuste y cinco VOIs de un mismo estudio.</a:t>
            </a:r>
            <a:endParaRPr lang="en-US" sz="1800" dirty="0"/>
          </a:p>
          <a:p>
            <a:pPr marL="342900" indent="-342900">
              <a:spcAft>
                <a:spcPts val="1200"/>
              </a:spcAft>
              <a:buSzPct val="100000"/>
              <a:buChar char="•"/>
            </a:pPr>
            <a:r>
              <a:rPr lang="en-US" sz="1800" dirty="0">
                <a:solidFill>
                  <a:srgbClr val="1B2A33"/>
                </a:solidFill>
                <a:latin typeface="Calibri" pitchFamily="34" charset="0"/>
                <a:ea typeface="Calibri" pitchFamily="34" charset="-122"/>
                <a:cs typeface="Calibri" pitchFamily="34" charset="-120"/>
              </a:rPr>
              <a:t>Son resultados de simulación: no hay contraste con un ensayo físico de estos huesos.</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Conclusiones</a:t>
            </a:r>
            <a:endParaRPr lang="en-US" sz="4000" dirty="0"/>
          </a:p>
        </p:txBody>
      </p:sp>
      <p:sp>
        <p:nvSpPr>
          <p:cNvPr id="3" name="numero 0"/>
          <p:cNvSpPr/>
          <p:nvPr/>
        </p:nvSpPr>
        <p:spPr>
          <a:xfrm>
            <a:off x="731520" y="1737360"/>
            <a:ext cx="731520" cy="731520"/>
          </a:xfrm>
          <a:prstGeom prst="ellipse">
            <a:avLst/>
          </a:prstGeom>
          <a:solidFill>
            <a:srgbClr val="2E7D7A"/>
          </a:solidFill>
          <a:ln w="12700">
            <a:solidFill>
              <a:srgbClr val="2E7D7A"/>
            </a:solidFill>
            <a:prstDash val="solid"/>
          </a:ln>
        </p:spPr>
      </p:sp>
      <p:sp>
        <p:nvSpPr>
          <p:cNvPr id="4" name="Text 2"/>
          <p:cNvSpPr txBox="1"/>
          <p:nvPr/>
        </p:nvSpPr>
        <p:spPr>
          <a:xfrm>
            <a:off x="731520" y="173736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737360" y="1691640"/>
            <a:ext cx="9692640" cy="109728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La formulación es la esperada: base empotrada con los tres ejes fijos y cima libre en x e y. Con el cubo macizo es exacta con apoyo deslizante y rigidiza 3,1 % con la base empotrada.</a:t>
            </a:r>
            <a:endParaRPr lang="en-US" sz="2000" dirty="0"/>
          </a:p>
        </p:txBody>
      </p:sp>
      <p:sp>
        <p:nvSpPr>
          <p:cNvPr id="6" name="numero 1"/>
          <p:cNvSpPr/>
          <p:nvPr/>
        </p:nvSpPr>
        <p:spPr>
          <a:xfrm>
            <a:off x="731520" y="3108960"/>
            <a:ext cx="731520" cy="731520"/>
          </a:xfrm>
          <a:prstGeom prst="ellipse">
            <a:avLst/>
          </a:prstGeom>
          <a:solidFill>
            <a:srgbClr val="2E7D7A"/>
          </a:solidFill>
          <a:ln w="12700">
            <a:solidFill>
              <a:srgbClr val="2E7D7A"/>
            </a:solidFill>
            <a:prstDash val="solid"/>
          </a:ln>
        </p:spPr>
      </p:sp>
      <p:sp>
        <p:nvSpPr>
          <p:cNvPr id="7" name="Text 5"/>
          <p:cNvSpPr txBox="1"/>
          <p:nvPr/>
        </p:nvSpPr>
        <p:spPr>
          <a:xfrm>
            <a:off x="731520" y="310896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8" name="Text 6"/>
          <p:cNvSpPr txBox="1"/>
          <p:nvPr/>
        </p:nvSpPr>
        <p:spPr>
          <a:xfrm>
            <a:off x="1737360" y="3063240"/>
            <a:ext cx="9692640" cy="109728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El dual-lattice se acerca más al VOI que el spinodoide en rigidez y en tensión, aunque queda 20 a 31 % más blando.</a:t>
            </a:r>
            <a:endParaRPr lang="en-US" sz="2000" dirty="0"/>
          </a:p>
        </p:txBody>
      </p:sp>
      <p:sp>
        <p:nvSpPr>
          <p:cNvPr id="9" name="numero 2"/>
          <p:cNvSpPr/>
          <p:nvPr/>
        </p:nvSpPr>
        <p:spPr>
          <a:xfrm>
            <a:off x="731520" y="4480560"/>
            <a:ext cx="731520" cy="731520"/>
          </a:xfrm>
          <a:prstGeom prst="ellipse">
            <a:avLst/>
          </a:prstGeom>
          <a:solidFill>
            <a:srgbClr val="2E7D7A"/>
          </a:solidFill>
          <a:ln w="12700">
            <a:solidFill>
              <a:srgbClr val="2E7D7A"/>
            </a:solidFill>
            <a:prstDash val="solid"/>
          </a:ln>
        </p:spPr>
      </p:sp>
      <p:sp>
        <p:nvSpPr>
          <p:cNvPr id="10" name="Text 8"/>
          <p:cNvSpPr txBox="1"/>
          <p:nvPr/>
        </p:nvSpPr>
        <p:spPr>
          <a:xfrm>
            <a:off x="731520" y="448056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1" name="Text 9"/>
          <p:cNvSpPr txBox="1"/>
          <p:nvPr/>
        </p:nvSpPr>
        <p:spPr>
          <a:xfrm>
            <a:off x="1737360" y="4434840"/>
            <a:ext cx="9692640" cy="109728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Falta el contraste con ensayos mecánicos del mismo hueso. Hasta entonces, son comparaciones relativas.</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600" b="1" dirty="0">
                <a:solidFill>
                  <a:srgbClr val="1F3A44"/>
                </a:solidFill>
                <a:latin typeface="Cambria" pitchFamily="34" charset="0"/>
                <a:ea typeface="Cambria" pitchFamily="34" charset="-122"/>
                <a:cs typeface="Cambria" pitchFamily="34" charset="-120"/>
              </a:rPr>
              <a:t>Anexo: cifras por estructura</a:t>
            </a:r>
            <a:endParaRPr lang="en-US" sz="3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822960"/>
                <a:gridCol w="1828800"/>
                <a:gridCol w="1188720"/>
                <a:gridCol w="1737360"/>
                <a:gridCol w="1920240"/>
                <a:gridCol w="1920240"/>
                <a:gridCol w="1645920"/>
              </a:tblGrid>
              <a:tr h="27432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Estructura</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BV/TV</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E_app [MPa]</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von Mises p99 [MPa]</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von Mises máx. [MPa]</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|u| máx. [mm]</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1F3A44"/>
                    </a:solidFill>
                  </a:tcPr>
                </a:tc>
              </a:tr>
              <a:tr h="27432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3240,4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158,6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0,0205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Spinodoide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1152,5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186,5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726,3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0,3427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Dual-lattice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2435,4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122,1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346,2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0,0466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0,387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3219,6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91,2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203,1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0,0341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Spinodoide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0,386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1361,4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162,6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874,7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0,1531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Dual-lattice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0,387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2571,0</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109,1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509,9</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0,1596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0,334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2433,5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114,0</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391,5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0,1381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Spinodoide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0,331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439,2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357,5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1304,5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0,7515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Dual-lattice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0,335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1669,6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151,1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627,6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0,1536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0,334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3017,6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94,6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275,4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0,0414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Spinodoide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0,324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857,6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231,9</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482,9</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0,1567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Dual-lattice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0,334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2392,6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117,3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270,8</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0,0350</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VOI</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3514,8</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82,5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169,6</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0,0187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EEF2F3"/>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Spinodoide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0,363</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1480,5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179,0</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672,2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0,2752</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r h="27432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Calibri" pitchFamily="34" charset="0"/>
                          <a:ea typeface="Calibri" pitchFamily="34" charset="-122"/>
                          <a:cs typeface="Calibri" pitchFamily="34" charset="-120"/>
                        </a:rPr>
                        <a:t>Dual-lattice</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0,361</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2643,7</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105,5</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488,4</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0,0919</a:t>
                      </a:r>
                      <a:endParaRPr lang="en-US" sz="1200" dirty="0">
                        <a:latin typeface="Calibri" charset="0"/>
                        <a:ea typeface="Calibri" charset="0"/>
                        <a:cs typeface="Calibri" charset="0"/>
                      </a:endParaRPr>
                    </a:p>
                  </a:txBody>
                  <a:tcPr marL="91440" marR="91440" marT="45720" marB="45720" anchor="ctr">
                    <a:lnL w="6350" cap="flat" cmpd="sng" algn="ctr">
                      <a:solidFill>
                        <a:srgbClr val="CFD6D9"/>
                      </a:solidFill>
                      <a:prstDash val="solid"/>
                      <a:round/>
                      <a:headEnd type="none" w="med" len="med"/>
                      <a:tailEnd type="none" w="med" len="med"/>
                    </a:lnL>
                    <a:lnR w="6350" cap="flat" cmpd="sng" algn="ctr">
                      <a:solidFill>
                        <a:srgbClr val="CFD6D9"/>
                      </a:solidFill>
                      <a:prstDash val="solid"/>
                      <a:round/>
                      <a:headEnd type="none" w="med" len="med"/>
                      <a:tailEnd type="none" w="med" len="med"/>
                    </a:lnR>
                    <a:lnT w="6350" cap="flat" cmpd="sng" algn="ctr">
                      <a:solidFill>
                        <a:srgbClr val="CFD6D9"/>
                      </a:solidFill>
                      <a:prstDash val="solid"/>
                      <a:round/>
                      <a:headEnd type="none" w="med" len="med"/>
                      <a:tailEnd type="none" w="med" len="med"/>
                    </a:lnT>
                    <a:lnB w="6350" cap="flat" cmpd="sng" algn="ctr">
                      <a:solidFill>
                        <a:srgbClr val="CFD6D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57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Hueso trabecular">
  <a:themeElements>
    <a:clrScheme name="Hueso trabecular">
      <a:dk1>
        <a:srgbClr val="1B2A33"/>
      </a:dk1>
      <a:lt1>
        <a:srgbClr val="FFFFFF"/>
      </a:lt1>
      <a:dk2>
        <a:srgbClr val="1F3A44"/>
      </a:dk2>
      <a:lt2>
        <a:srgbClr val="EEF2F3"/>
      </a:lt2>
      <a:accent1>
        <a:srgbClr val="C8553D"/>
      </a:accent1>
      <a:accent2>
        <a:srgbClr val="2E7D7A"/>
      </a:accent2>
      <a:accent3>
        <a:srgbClr val="E0A030"/>
      </a:accent3>
      <a:accent4>
        <a:srgbClr val="5B6573"/>
      </a:accent4>
      <a:accent5>
        <a:srgbClr val="8FB8B5"/>
      </a:accent5>
      <a:accent6>
        <a:srgbClr val="6B5B95"/>
      </a:accent6>
      <a:hlink>
        <a:srgbClr val="2E7D7A"/>
      </a:hlink>
      <a:folHlink>
        <a:srgbClr val="5B6573"/>
      </a:folHlink>
    </a:clrScheme>
    <a:fontScheme name="Hueso trabecul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Protocolo de Tapia con C1 a C5</dc:title>
  <dc:subject>PptxGenJS Presentation</dc:subject>
  <dc:creator>spinpy</dc:creator>
  <cp:lastModifiedBy>spinpy</cp:lastModifiedBy>
  <cp:revision>1</cp:revision>
  <dcterms:created xsi:type="dcterms:W3CDTF">2026-10-13T15:12:59Z</dcterms:created>
  <dcterms:modified xsi:type="dcterms:W3CDTF">2026-10-13T15:12:59Z</dcterms:modified>
</cp:coreProperties>
</file>